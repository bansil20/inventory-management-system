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5" r:id="rId40"/>
    <p:sldId id="296" r:id="rId41"/>
    <p:sldId id="297" r:id="rId42"/>
    <p:sldId id="294"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6D8EF-6097-F7F2-9FB2-944255ED3F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0AAF8AD-0B0B-A91D-42D3-810202FE2A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06D0D8C-BDDF-8771-5CE7-5A69DF1815C6}"/>
              </a:ext>
            </a:extLst>
          </p:cNvPr>
          <p:cNvSpPr>
            <a:spLocks noGrp="1"/>
          </p:cNvSpPr>
          <p:nvPr>
            <p:ph type="dt" sz="half" idx="10"/>
          </p:nvPr>
        </p:nvSpPr>
        <p:spPr/>
        <p:txBody>
          <a:bodyPr/>
          <a:lstStyle/>
          <a:p>
            <a:fld id="{7BE6C21D-7FF2-4E24-8D08-7827F6CA3064}" type="datetimeFigureOut">
              <a:rPr lang="en-IN" smtClean="0"/>
              <a:t>06-04-2024</a:t>
            </a:fld>
            <a:endParaRPr lang="en-IN"/>
          </a:p>
        </p:txBody>
      </p:sp>
      <p:sp>
        <p:nvSpPr>
          <p:cNvPr id="5" name="Footer Placeholder 4">
            <a:extLst>
              <a:ext uri="{FF2B5EF4-FFF2-40B4-BE49-F238E27FC236}">
                <a16:creationId xmlns:a16="http://schemas.microsoft.com/office/drawing/2014/main" id="{98F582C7-DB43-01D7-9A8B-160776D99B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2F7927-887C-E2C9-BEA3-7C4AF9AA6F6C}"/>
              </a:ext>
            </a:extLst>
          </p:cNvPr>
          <p:cNvSpPr>
            <a:spLocks noGrp="1"/>
          </p:cNvSpPr>
          <p:nvPr>
            <p:ph type="sldNum" sz="quarter" idx="12"/>
          </p:nvPr>
        </p:nvSpPr>
        <p:spPr/>
        <p:txBody>
          <a:bodyPr/>
          <a:lstStyle/>
          <a:p>
            <a:fld id="{6909547A-AE48-4387-BEBC-55A357FF0DC4}" type="slidenum">
              <a:rPr lang="en-IN" smtClean="0"/>
              <a:t>‹#›</a:t>
            </a:fld>
            <a:endParaRPr lang="en-IN"/>
          </a:p>
        </p:txBody>
      </p:sp>
    </p:spTree>
    <p:extLst>
      <p:ext uri="{BB962C8B-B14F-4D97-AF65-F5344CB8AC3E}">
        <p14:creationId xmlns:p14="http://schemas.microsoft.com/office/powerpoint/2010/main" val="3858376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E40C2-F09F-52EB-9EDC-7376EB56E0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426B36-ED08-CF8C-DAAD-9974FDDE24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E3BEF9-0A51-05BD-8983-96FA4C388ADA}"/>
              </a:ext>
            </a:extLst>
          </p:cNvPr>
          <p:cNvSpPr>
            <a:spLocks noGrp="1"/>
          </p:cNvSpPr>
          <p:nvPr>
            <p:ph type="dt" sz="half" idx="10"/>
          </p:nvPr>
        </p:nvSpPr>
        <p:spPr/>
        <p:txBody>
          <a:bodyPr/>
          <a:lstStyle/>
          <a:p>
            <a:fld id="{7BE6C21D-7FF2-4E24-8D08-7827F6CA3064}" type="datetimeFigureOut">
              <a:rPr lang="en-IN" smtClean="0"/>
              <a:t>06-04-2024</a:t>
            </a:fld>
            <a:endParaRPr lang="en-IN"/>
          </a:p>
        </p:txBody>
      </p:sp>
      <p:sp>
        <p:nvSpPr>
          <p:cNvPr id="5" name="Footer Placeholder 4">
            <a:extLst>
              <a:ext uri="{FF2B5EF4-FFF2-40B4-BE49-F238E27FC236}">
                <a16:creationId xmlns:a16="http://schemas.microsoft.com/office/drawing/2014/main" id="{3D2570E3-500E-757E-2EF9-5F2E6F99DB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DCFD2C-7E28-97F7-1271-07381F6B42B7}"/>
              </a:ext>
            </a:extLst>
          </p:cNvPr>
          <p:cNvSpPr>
            <a:spLocks noGrp="1"/>
          </p:cNvSpPr>
          <p:nvPr>
            <p:ph type="sldNum" sz="quarter" idx="12"/>
          </p:nvPr>
        </p:nvSpPr>
        <p:spPr/>
        <p:txBody>
          <a:bodyPr/>
          <a:lstStyle/>
          <a:p>
            <a:fld id="{6909547A-AE48-4387-BEBC-55A357FF0DC4}" type="slidenum">
              <a:rPr lang="en-IN" smtClean="0"/>
              <a:t>‹#›</a:t>
            </a:fld>
            <a:endParaRPr lang="en-IN"/>
          </a:p>
        </p:txBody>
      </p:sp>
    </p:spTree>
    <p:extLst>
      <p:ext uri="{BB962C8B-B14F-4D97-AF65-F5344CB8AC3E}">
        <p14:creationId xmlns:p14="http://schemas.microsoft.com/office/powerpoint/2010/main" val="126105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5D5FD-1238-3027-92EA-01DF6ED265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5C98AF2-A8B5-C636-5E03-B0D9D9383C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522E9A-1553-35AE-0225-FA4A3D7DF17A}"/>
              </a:ext>
            </a:extLst>
          </p:cNvPr>
          <p:cNvSpPr>
            <a:spLocks noGrp="1"/>
          </p:cNvSpPr>
          <p:nvPr>
            <p:ph type="dt" sz="half" idx="10"/>
          </p:nvPr>
        </p:nvSpPr>
        <p:spPr/>
        <p:txBody>
          <a:bodyPr/>
          <a:lstStyle/>
          <a:p>
            <a:fld id="{7BE6C21D-7FF2-4E24-8D08-7827F6CA3064}" type="datetimeFigureOut">
              <a:rPr lang="en-IN" smtClean="0"/>
              <a:t>06-04-2024</a:t>
            </a:fld>
            <a:endParaRPr lang="en-IN"/>
          </a:p>
        </p:txBody>
      </p:sp>
      <p:sp>
        <p:nvSpPr>
          <p:cNvPr id="5" name="Footer Placeholder 4">
            <a:extLst>
              <a:ext uri="{FF2B5EF4-FFF2-40B4-BE49-F238E27FC236}">
                <a16:creationId xmlns:a16="http://schemas.microsoft.com/office/drawing/2014/main" id="{E28E205D-B19F-C437-6FE8-3FF722620F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4E80A3-8F22-D803-474A-FFAE95E57FFA}"/>
              </a:ext>
            </a:extLst>
          </p:cNvPr>
          <p:cNvSpPr>
            <a:spLocks noGrp="1"/>
          </p:cNvSpPr>
          <p:nvPr>
            <p:ph type="sldNum" sz="quarter" idx="12"/>
          </p:nvPr>
        </p:nvSpPr>
        <p:spPr/>
        <p:txBody>
          <a:bodyPr/>
          <a:lstStyle/>
          <a:p>
            <a:fld id="{6909547A-AE48-4387-BEBC-55A357FF0DC4}" type="slidenum">
              <a:rPr lang="en-IN" smtClean="0"/>
              <a:t>‹#›</a:t>
            </a:fld>
            <a:endParaRPr lang="en-IN"/>
          </a:p>
        </p:txBody>
      </p:sp>
    </p:spTree>
    <p:extLst>
      <p:ext uri="{BB962C8B-B14F-4D97-AF65-F5344CB8AC3E}">
        <p14:creationId xmlns:p14="http://schemas.microsoft.com/office/powerpoint/2010/main" val="1901775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AFADE-7059-0D3E-F5FF-7A3138B0C6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638F57-71E5-2F6C-42A5-447FF2A0B9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2BDD5D4-B392-E4E8-884E-63A9E72E01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F53A9F0-A481-287E-5226-B676E95A96EA}"/>
              </a:ext>
            </a:extLst>
          </p:cNvPr>
          <p:cNvSpPr>
            <a:spLocks noGrp="1"/>
          </p:cNvSpPr>
          <p:nvPr>
            <p:ph type="dt" sz="half" idx="10"/>
          </p:nvPr>
        </p:nvSpPr>
        <p:spPr/>
        <p:txBody>
          <a:bodyPr/>
          <a:lstStyle/>
          <a:p>
            <a:fld id="{7BE6C21D-7FF2-4E24-8D08-7827F6CA3064}" type="datetimeFigureOut">
              <a:rPr lang="en-IN" smtClean="0"/>
              <a:t>06-04-2024</a:t>
            </a:fld>
            <a:endParaRPr lang="en-IN"/>
          </a:p>
        </p:txBody>
      </p:sp>
      <p:sp>
        <p:nvSpPr>
          <p:cNvPr id="6" name="Footer Placeholder 5">
            <a:extLst>
              <a:ext uri="{FF2B5EF4-FFF2-40B4-BE49-F238E27FC236}">
                <a16:creationId xmlns:a16="http://schemas.microsoft.com/office/drawing/2014/main" id="{444E4EC3-A0A5-A63B-218D-48BA61E477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30DD4A-623D-34EA-6057-F906EE522CCF}"/>
              </a:ext>
            </a:extLst>
          </p:cNvPr>
          <p:cNvSpPr>
            <a:spLocks noGrp="1"/>
          </p:cNvSpPr>
          <p:nvPr>
            <p:ph type="sldNum" sz="quarter" idx="12"/>
          </p:nvPr>
        </p:nvSpPr>
        <p:spPr/>
        <p:txBody>
          <a:bodyPr/>
          <a:lstStyle/>
          <a:p>
            <a:fld id="{6909547A-AE48-4387-BEBC-55A357FF0DC4}" type="slidenum">
              <a:rPr lang="en-IN" smtClean="0"/>
              <a:t>‹#›</a:t>
            </a:fld>
            <a:endParaRPr lang="en-IN"/>
          </a:p>
        </p:txBody>
      </p:sp>
    </p:spTree>
    <p:extLst>
      <p:ext uri="{BB962C8B-B14F-4D97-AF65-F5344CB8AC3E}">
        <p14:creationId xmlns:p14="http://schemas.microsoft.com/office/powerpoint/2010/main" val="657906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59BAB-297D-0E68-3593-2733E6998A0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B3E761E-EA1E-F8F9-A3D5-075DEA7455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DE3BBE-8090-F108-EBA7-44D4D4B25B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9E9EF7F-FE33-9E3A-1010-6E78190B6E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D344BE-811D-0B88-92B9-28B472DA49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CA9A8A5-75C6-81E1-6AA7-4B615083F26A}"/>
              </a:ext>
            </a:extLst>
          </p:cNvPr>
          <p:cNvSpPr>
            <a:spLocks noGrp="1"/>
          </p:cNvSpPr>
          <p:nvPr>
            <p:ph type="dt" sz="half" idx="10"/>
          </p:nvPr>
        </p:nvSpPr>
        <p:spPr/>
        <p:txBody>
          <a:bodyPr/>
          <a:lstStyle/>
          <a:p>
            <a:fld id="{7BE6C21D-7FF2-4E24-8D08-7827F6CA3064}" type="datetimeFigureOut">
              <a:rPr lang="en-IN" smtClean="0"/>
              <a:t>06-04-2024</a:t>
            </a:fld>
            <a:endParaRPr lang="en-IN"/>
          </a:p>
        </p:txBody>
      </p:sp>
      <p:sp>
        <p:nvSpPr>
          <p:cNvPr id="8" name="Footer Placeholder 7">
            <a:extLst>
              <a:ext uri="{FF2B5EF4-FFF2-40B4-BE49-F238E27FC236}">
                <a16:creationId xmlns:a16="http://schemas.microsoft.com/office/drawing/2014/main" id="{7F6D0EBE-B7C1-0A79-C745-72A7ACBE0D7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D989646-65B3-6750-9CCC-AAAFFD08F21A}"/>
              </a:ext>
            </a:extLst>
          </p:cNvPr>
          <p:cNvSpPr>
            <a:spLocks noGrp="1"/>
          </p:cNvSpPr>
          <p:nvPr>
            <p:ph type="sldNum" sz="quarter" idx="12"/>
          </p:nvPr>
        </p:nvSpPr>
        <p:spPr/>
        <p:txBody>
          <a:bodyPr/>
          <a:lstStyle/>
          <a:p>
            <a:fld id="{6909547A-AE48-4387-BEBC-55A357FF0DC4}" type="slidenum">
              <a:rPr lang="en-IN" smtClean="0"/>
              <a:t>‹#›</a:t>
            </a:fld>
            <a:endParaRPr lang="en-IN"/>
          </a:p>
        </p:txBody>
      </p:sp>
    </p:spTree>
    <p:extLst>
      <p:ext uri="{BB962C8B-B14F-4D97-AF65-F5344CB8AC3E}">
        <p14:creationId xmlns:p14="http://schemas.microsoft.com/office/powerpoint/2010/main" val="1913759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86136-7F0B-06ED-B677-F3D6688F083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69CEB2B-5DE7-6082-29A3-6E8E5630D92C}"/>
              </a:ext>
            </a:extLst>
          </p:cNvPr>
          <p:cNvSpPr>
            <a:spLocks noGrp="1"/>
          </p:cNvSpPr>
          <p:nvPr>
            <p:ph type="dt" sz="half" idx="10"/>
          </p:nvPr>
        </p:nvSpPr>
        <p:spPr/>
        <p:txBody>
          <a:bodyPr/>
          <a:lstStyle/>
          <a:p>
            <a:fld id="{7BE6C21D-7FF2-4E24-8D08-7827F6CA3064}" type="datetimeFigureOut">
              <a:rPr lang="en-IN" smtClean="0"/>
              <a:t>06-04-2024</a:t>
            </a:fld>
            <a:endParaRPr lang="en-IN"/>
          </a:p>
        </p:txBody>
      </p:sp>
      <p:sp>
        <p:nvSpPr>
          <p:cNvPr id="4" name="Footer Placeholder 3">
            <a:extLst>
              <a:ext uri="{FF2B5EF4-FFF2-40B4-BE49-F238E27FC236}">
                <a16:creationId xmlns:a16="http://schemas.microsoft.com/office/drawing/2014/main" id="{F6AF5116-2F40-33B2-5778-104DA3E127C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F91930D-B047-8EC0-2160-D282EB5C9DC0}"/>
              </a:ext>
            </a:extLst>
          </p:cNvPr>
          <p:cNvSpPr>
            <a:spLocks noGrp="1"/>
          </p:cNvSpPr>
          <p:nvPr>
            <p:ph type="sldNum" sz="quarter" idx="12"/>
          </p:nvPr>
        </p:nvSpPr>
        <p:spPr/>
        <p:txBody>
          <a:bodyPr/>
          <a:lstStyle/>
          <a:p>
            <a:fld id="{6909547A-AE48-4387-BEBC-55A357FF0DC4}" type="slidenum">
              <a:rPr lang="en-IN" smtClean="0"/>
              <a:t>‹#›</a:t>
            </a:fld>
            <a:endParaRPr lang="en-IN"/>
          </a:p>
        </p:txBody>
      </p:sp>
    </p:spTree>
    <p:extLst>
      <p:ext uri="{BB962C8B-B14F-4D97-AF65-F5344CB8AC3E}">
        <p14:creationId xmlns:p14="http://schemas.microsoft.com/office/powerpoint/2010/main" val="1456873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B69249-605F-F9FD-D8C5-7C095ADA1160}"/>
              </a:ext>
            </a:extLst>
          </p:cNvPr>
          <p:cNvSpPr>
            <a:spLocks noGrp="1"/>
          </p:cNvSpPr>
          <p:nvPr>
            <p:ph type="dt" sz="half" idx="10"/>
          </p:nvPr>
        </p:nvSpPr>
        <p:spPr/>
        <p:txBody>
          <a:bodyPr/>
          <a:lstStyle/>
          <a:p>
            <a:fld id="{7BE6C21D-7FF2-4E24-8D08-7827F6CA3064}" type="datetimeFigureOut">
              <a:rPr lang="en-IN" smtClean="0"/>
              <a:t>06-04-2024</a:t>
            </a:fld>
            <a:endParaRPr lang="en-IN"/>
          </a:p>
        </p:txBody>
      </p:sp>
      <p:sp>
        <p:nvSpPr>
          <p:cNvPr id="3" name="Footer Placeholder 2">
            <a:extLst>
              <a:ext uri="{FF2B5EF4-FFF2-40B4-BE49-F238E27FC236}">
                <a16:creationId xmlns:a16="http://schemas.microsoft.com/office/drawing/2014/main" id="{F38968EB-68C6-5A6C-A0BE-B8C1DFFE94D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88479B0-8AE1-EBBC-538E-BE11705896F2}"/>
              </a:ext>
            </a:extLst>
          </p:cNvPr>
          <p:cNvSpPr>
            <a:spLocks noGrp="1"/>
          </p:cNvSpPr>
          <p:nvPr>
            <p:ph type="sldNum" sz="quarter" idx="12"/>
          </p:nvPr>
        </p:nvSpPr>
        <p:spPr/>
        <p:txBody>
          <a:bodyPr/>
          <a:lstStyle/>
          <a:p>
            <a:fld id="{6909547A-AE48-4387-BEBC-55A357FF0DC4}" type="slidenum">
              <a:rPr lang="en-IN" smtClean="0"/>
              <a:t>‹#›</a:t>
            </a:fld>
            <a:endParaRPr lang="en-IN"/>
          </a:p>
        </p:txBody>
      </p:sp>
    </p:spTree>
    <p:extLst>
      <p:ext uri="{BB962C8B-B14F-4D97-AF65-F5344CB8AC3E}">
        <p14:creationId xmlns:p14="http://schemas.microsoft.com/office/powerpoint/2010/main" val="3531836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7C815-E2B9-D381-CFEC-92D17C90A3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1750AAE-8086-1D7C-E067-38CC9279B1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863380F-DB0F-52E1-B201-88C3AA2D05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256A03-4CE8-5073-60B6-1954D5B6E880}"/>
              </a:ext>
            </a:extLst>
          </p:cNvPr>
          <p:cNvSpPr>
            <a:spLocks noGrp="1"/>
          </p:cNvSpPr>
          <p:nvPr>
            <p:ph type="dt" sz="half" idx="10"/>
          </p:nvPr>
        </p:nvSpPr>
        <p:spPr/>
        <p:txBody>
          <a:bodyPr/>
          <a:lstStyle/>
          <a:p>
            <a:fld id="{7BE6C21D-7FF2-4E24-8D08-7827F6CA3064}" type="datetimeFigureOut">
              <a:rPr lang="en-IN" smtClean="0"/>
              <a:t>06-04-2024</a:t>
            </a:fld>
            <a:endParaRPr lang="en-IN"/>
          </a:p>
        </p:txBody>
      </p:sp>
      <p:sp>
        <p:nvSpPr>
          <p:cNvPr id="6" name="Footer Placeholder 5">
            <a:extLst>
              <a:ext uri="{FF2B5EF4-FFF2-40B4-BE49-F238E27FC236}">
                <a16:creationId xmlns:a16="http://schemas.microsoft.com/office/drawing/2014/main" id="{8B657913-CE55-FF89-A4D5-64524DE120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CBBA06-DD20-57D0-1C85-695AFD32F6E2}"/>
              </a:ext>
            </a:extLst>
          </p:cNvPr>
          <p:cNvSpPr>
            <a:spLocks noGrp="1"/>
          </p:cNvSpPr>
          <p:nvPr>
            <p:ph type="sldNum" sz="quarter" idx="12"/>
          </p:nvPr>
        </p:nvSpPr>
        <p:spPr/>
        <p:txBody>
          <a:bodyPr/>
          <a:lstStyle/>
          <a:p>
            <a:fld id="{6909547A-AE48-4387-BEBC-55A357FF0DC4}" type="slidenum">
              <a:rPr lang="en-IN" smtClean="0"/>
              <a:t>‹#›</a:t>
            </a:fld>
            <a:endParaRPr lang="en-IN"/>
          </a:p>
        </p:txBody>
      </p:sp>
    </p:spTree>
    <p:extLst>
      <p:ext uri="{BB962C8B-B14F-4D97-AF65-F5344CB8AC3E}">
        <p14:creationId xmlns:p14="http://schemas.microsoft.com/office/powerpoint/2010/main" val="1663037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2046D-5CD5-05C8-6A13-B4B5282715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F9034BB-3330-BF4E-DE32-1B1BE9D586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E70F19E-4E29-E71D-9842-74BE916E7A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AA00C0-4428-29FD-F080-E59D2B500A26}"/>
              </a:ext>
            </a:extLst>
          </p:cNvPr>
          <p:cNvSpPr>
            <a:spLocks noGrp="1"/>
          </p:cNvSpPr>
          <p:nvPr>
            <p:ph type="dt" sz="half" idx="10"/>
          </p:nvPr>
        </p:nvSpPr>
        <p:spPr/>
        <p:txBody>
          <a:bodyPr/>
          <a:lstStyle/>
          <a:p>
            <a:fld id="{7BE6C21D-7FF2-4E24-8D08-7827F6CA3064}" type="datetimeFigureOut">
              <a:rPr lang="en-IN" smtClean="0"/>
              <a:t>06-04-2024</a:t>
            </a:fld>
            <a:endParaRPr lang="en-IN"/>
          </a:p>
        </p:txBody>
      </p:sp>
      <p:sp>
        <p:nvSpPr>
          <p:cNvPr id="6" name="Footer Placeholder 5">
            <a:extLst>
              <a:ext uri="{FF2B5EF4-FFF2-40B4-BE49-F238E27FC236}">
                <a16:creationId xmlns:a16="http://schemas.microsoft.com/office/drawing/2014/main" id="{57F3C395-CC77-D74C-94D1-C73F4ECD3A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CB9007-E768-C65C-256B-D420C1E9C921}"/>
              </a:ext>
            </a:extLst>
          </p:cNvPr>
          <p:cNvSpPr>
            <a:spLocks noGrp="1"/>
          </p:cNvSpPr>
          <p:nvPr>
            <p:ph type="sldNum" sz="quarter" idx="12"/>
          </p:nvPr>
        </p:nvSpPr>
        <p:spPr/>
        <p:txBody>
          <a:bodyPr/>
          <a:lstStyle/>
          <a:p>
            <a:fld id="{6909547A-AE48-4387-BEBC-55A357FF0DC4}" type="slidenum">
              <a:rPr lang="en-IN" smtClean="0"/>
              <a:t>‹#›</a:t>
            </a:fld>
            <a:endParaRPr lang="en-IN"/>
          </a:p>
        </p:txBody>
      </p:sp>
    </p:spTree>
    <p:extLst>
      <p:ext uri="{BB962C8B-B14F-4D97-AF65-F5344CB8AC3E}">
        <p14:creationId xmlns:p14="http://schemas.microsoft.com/office/powerpoint/2010/main" val="3922768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FEF71-95D0-172C-24A5-F3F7421817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B3A4E6C-6F9A-A09A-447F-75A2F56394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927793-2493-B370-172B-70B00A32C32F}"/>
              </a:ext>
            </a:extLst>
          </p:cNvPr>
          <p:cNvSpPr>
            <a:spLocks noGrp="1"/>
          </p:cNvSpPr>
          <p:nvPr>
            <p:ph type="dt" sz="half" idx="10"/>
          </p:nvPr>
        </p:nvSpPr>
        <p:spPr/>
        <p:txBody>
          <a:bodyPr/>
          <a:lstStyle/>
          <a:p>
            <a:fld id="{7BE6C21D-7FF2-4E24-8D08-7827F6CA3064}" type="datetimeFigureOut">
              <a:rPr lang="en-IN" smtClean="0"/>
              <a:t>06-04-2024</a:t>
            </a:fld>
            <a:endParaRPr lang="en-IN"/>
          </a:p>
        </p:txBody>
      </p:sp>
      <p:sp>
        <p:nvSpPr>
          <p:cNvPr id="5" name="Footer Placeholder 4">
            <a:extLst>
              <a:ext uri="{FF2B5EF4-FFF2-40B4-BE49-F238E27FC236}">
                <a16:creationId xmlns:a16="http://schemas.microsoft.com/office/drawing/2014/main" id="{CFBF49D4-0B62-7B61-F4C7-17A605A1C4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E47ED5-6F3E-2BEB-2F44-BDDEF2E9A3CC}"/>
              </a:ext>
            </a:extLst>
          </p:cNvPr>
          <p:cNvSpPr>
            <a:spLocks noGrp="1"/>
          </p:cNvSpPr>
          <p:nvPr>
            <p:ph type="sldNum" sz="quarter" idx="12"/>
          </p:nvPr>
        </p:nvSpPr>
        <p:spPr/>
        <p:txBody>
          <a:bodyPr/>
          <a:lstStyle/>
          <a:p>
            <a:fld id="{6909547A-AE48-4387-BEBC-55A357FF0DC4}" type="slidenum">
              <a:rPr lang="en-IN" smtClean="0"/>
              <a:t>‹#›</a:t>
            </a:fld>
            <a:endParaRPr lang="en-IN"/>
          </a:p>
        </p:txBody>
      </p:sp>
    </p:spTree>
    <p:extLst>
      <p:ext uri="{BB962C8B-B14F-4D97-AF65-F5344CB8AC3E}">
        <p14:creationId xmlns:p14="http://schemas.microsoft.com/office/powerpoint/2010/main" val="1620242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428E4D-DA52-966E-02B8-9D3BFAF5484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9ED12FB-6057-DA27-7E51-108C15E2A2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95E8ED-1353-DD54-409E-6F8634445533}"/>
              </a:ext>
            </a:extLst>
          </p:cNvPr>
          <p:cNvSpPr>
            <a:spLocks noGrp="1"/>
          </p:cNvSpPr>
          <p:nvPr>
            <p:ph type="dt" sz="half" idx="10"/>
          </p:nvPr>
        </p:nvSpPr>
        <p:spPr/>
        <p:txBody>
          <a:bodyPr/>
          <a:lstStyle/>
          <a:p>
            <a:fld id="{7BE6C21D-7FF2-4E24-8D08-7827F6CA3064}" type="datetimeFigureOut">
              <a:rPr lang="en-IN" smtClean="0"/>
              <a:t>06-04-2024</a:t>
            </a:fld>
            <a:endParaRPr lang="en-IN"/>
          </a:p>
        </p:txBody>
      </p:sp>
      <p:sp>
        <p:nvSpPr>
          <p:cNvPr id="5" name="Footer Placeholder 4">
            <a:extLst>
              <a:ext uri="{FF2B5EF4-FFF2-40B4-BE49-F238E27FC236}">
                <a16:creationId xmlns:a16="http://schemas.microsoft.com/office/drawing/2014/main" id="{526494DD-AD08-696A-01C2-A47AB592B5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002698-5356-E824-32EF-A889F506497B}"/>
              </a:ext>
            </a:extLst>
          </p:cNvPr>
          <p:cNvSpPr>
            <a:spLocks noGrp="1"/>
          </p:cNvSpPr>
          <p:nvPr>
            <p:ph type="sldNum" sz="quarter" idx="12"/>
          </p:nvPr>
        </p:nvSpPr>
        <p:spPr/>
        <p:txBody>
          <a:bodyPr/>
          <a:lstStyle/>
          <a:p>
            <a:fld id="{6909547A-AE48-4387-BEBC-55A357FF0DC4}" type="slidenum">
              <a:rPr lang="en-IN" smtClean="0"/>
              <a:t>‹#›</a:t>
            </a:fld>
            <a:endParaRPr lang="en-IN"/>
          </a:p>
        </p:txBody>
      </p:sp>
    </p:spTree>
    <p:extLst>
      <p:ext uri="{BB962C8B-B14F-4D97-AF65-F5344CB8AC3E}">
        <p14:creationId xmlns:p14="http://schemas.microsoft.com/office/powerpoint/2010/main" val="404055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44F00F-7C47-6A4A-143C-78365BF193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001FE6-8DE5-2EAF-96A8-2FD4837D0B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59FE45-D01F-6F3F-F25C-305C51E7F1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E6C21D-7FF2-4E24-8D08-7827F6CA3064}" type="datetimeFigureOut">
              <a:rPr lang="en-IN" smtClean="0"/>
              <a:t>06-04-2024</a:t>
            </a:fld>
            <a:endParaRPr lang="en-IN"/>
          </a:p>
        </p:txBody>
      </p:sp>
      <p:sp>
        <p:nvSpPr>
          <p:cNvPr id="5" name="Footer Placeholder 4">
            <a:extLst>
              <a:ext uri="{FF2B5EF4-FFF2-40B4-BE49-F238E27FC236}">
                <a16:creationId xmlns:a16="http://schemas.microsoft.com/office/drawing/2014/main" id="{FB3AA85C-EF0B-16C0-F04E-8A4A34E368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27609ED-710A-ABB0-1F69-4AFF979CB8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09547A-AE48-4387-BEBC-55A357FF0DC4}" type="slidenum">
              <a:rPr lang="en-IN" smtClean="0"/>
              <a:t>‹#›</a:t>
            </a:fld>
            <a:endParaRPr lang="en-IN"/>
          </a:p>
        </p:txBody>
      </p:sp>
    </p:spTree>
    <p:extLst>
      <p:ext uri="{BB962C8B-B14F-4D97-AF65-F5344CB8AC3E}">
        <p14:creationId xmlns:p14="http://schemas.microsoft.com/office/powerpoint/2010/main" val="2652277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E99F3DE-4BB0-3FD5-173E-5E519FA58296}"/>
              </a:ext>
            </a:extLst>
          </p:cNvPr>
          <p:cNvGraphicFramePr>
            <a:graphicFrameLocks noGrp="1"/>
          </p:cNvGraphicFramePr>
          <p:nvPr>
            <p:extLst>
              <p:ext uri="{D42A27DB-BD31-4B8C-83A1-F6EECF244321}">
                <p14:modId xmlns:p14="http://schemas.microsoft.com/office/powerpoint/2010/main" val="86014578"/>
              </p:ext>
            </p:extLst>
          </p:nvPr>
        </p:nvGraphicFramePr>
        <p:xfrm>
          <a:off x="3783328" y="2622183"/>
          <a:ext cx="4625340" cy="725805"/>
        </p:xfrm>
        <a:graphic>
          <a:graphicData uri="http://schemas.openxmlformats.org/drawingml/2006/table">
            <a:tbl>
              <a:tblPr bandRow="1">
                <a:tableStyleId>{5C22544A-7EE6-4342-B048-85BDC9FD1C3A}</a:tableStyleId>
              </a:tblPr>
              <a:tblGrid>
                <a:gridCol w="363728">
                  <a:extLst>
                    <a:ext uri="{9D8B030D-6E8A-4147-A177-3AD203B41FA5}">
                      <a16:colId xmlns:a16="http://schemas.microsoft.com/office/drawing/2014/main" val="2481892174"/>
                    </a:ext>
                  </a:extLst>
                </a:gridCol>
                <a:gridCol w="2086356">
                  <a:extLst>
                    <a:ext uri="{9D8B030D-6E8A-4147-A177-3AD203B41FA5}">
                      <a16:colId xmlns:a16="http://schemas.microsoft.com/office/drawing/2014/main" val="2833568809"/>
                    </a:ext>
                  </a:extLst>
                </a:gridCol>
                <a:gridCol w="2175256">
                  <a:extLst>
                    <a:ext uri="{9D8B030D-6E8A-4147-A177-3AD203B41FA5}">
                      <a16:colId xmlns:a16="http://schemas.microsoft.com/office/drawing/2014/main" val="2130844103"/>
                    </a:ext>
                  </a:extLst>
                </a:gridCol>
              </a:tblGrid>
              <a:tr h="356870">
                <a:tc>
                  <a:txBody>
                    <a:bodyPr/>
                    <a:lstStyle/>
                    <a:p>
                      <a:pPr algn="ctr">
                        <a:lnSpc>
                          <a:spcPct val="106000"/>
                        </a:lnSpc>
                        <a:spcAft>
                          <a:spcPts val="800"/>
                        </a:spcAft>
                      </a:pPr>
                      <a:r>
                        <a:rPr lang="en-GB" sz="1600" kern="100">
                          <a:effectLst/>
                        </a:rPr>
                        <a:t>1.</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6000"/>
                        </a:lnSpc>
                        <a:spcAft>
                          <a:spcPts val="800"/>
                        </a:spcAft>
                      </a:pPr>
                      <a:r>
                        <a:rPr lang="en-GB" sz="1600" kern="100" dirty="0">
                          <a:effectLst/>
                        </a:rPr>
                        <a:t>Lakshmi </a:t>
                      </a:r>
                      <a:r>
                        <a:rPr lang="en-GB" sz="1600" kern="100" dirty="0" err="1">
                          <a:effectLst/>
                        </a:rPr>
                        <a:t>Renju</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6000"/>
                        </a:lnSpc>
                        <a:spcAft>
                          <a:spcPts val="800"/>
                        </a:spcAft>
                      </a:pPr>
                      <a:r>
                        <a:rPr lang="en-GB" sz="1600" kern="100" dirty="0">
                          <a:effectLst/>
                        </a:rPr>
                        <a:t>21018501210054</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56813047"/>
                  </a:ext>
                </a:extLst>
              </a:tr>
              <a:tr h="368935">
                <a:tc>
                  <a:txBody>
                    <a:bodyPr/>
                    <a:lstStyle/>
                    <a:p>
                      <a:pPr algn="ctr">
                        <a:lnSpc>
                          <a:spcPct val="106000"/>
                        </a:lnSpc>
                        <a:spcAft>
                          <a:spcPts val="800"/>
                        </a:spcAft>
                      </a:pPr>
                      <a:r>
                        <a:rPr lang="en-GB" sz="1600" kern="100" dirty="0">
                          <a:effectLst/>
                        </a:rPr>
                        <a:t>2.</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6000"/>
                        </a:lnSpc>
                        <a:spcAft>
                          <a:spcPts val="800"/>
                        </a:spcAft>
                      </a:pPr>
                      <a:r>
                        <a:rPr lang="en-GB" sz="1600" kern="100" dirty="0">
                          <a:effectLst/>
                        </a:rPr>
                        <a:t>Bansil Pabari</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06000"/>
                        </a:lnSpc>
                        <a:spcAft>
                          <a:spcPts val="800"/>
                        </a:spcAft>
                      </a:pPr>
                      <a:r>
                        <a:rPr lang="en-GB" sz="1600" kern="100" dirty="0">
                          <a:effectLst/>
                        </a:rPr>
                        <a:t>21018501210037</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92622024"/>
                  </a:ext>
                </a:extLst>
              </a:tr>
            </a:tbl>
          </a:graphicData>
        </a:graphic>
      </p:graphicFrame>
      <p:sp>
        <p:nvSpPr>
          <p:cNvPr id="5" name="Rectangle 2">
            <a:extLst>
              <a:ext uri="{FF2B5EF4-FFF2-40B4-BE49-F238E27FC236}">
                <a16:creationId xmlns:a16="http://schemas.microsoft.com/office/drawing/2014/main" id="{D48A6D49-D71D-A1E2-A139-AC4C54B7AA0B}"/>
              </a:ext>
            </a:extLst>
          </p:cNvPr>
          <p:cNvSpPr>
            <a:spLocks noChangeArrowheads="1"/>
          </p:cNvSpPr>
          <p:nvPr/>
        </p:nvSpPr>
        <p:spPr bwMode="auto">
          <a:xfrm>
            <a:off x="3018870" y="74855"/>
            <a:ext cx="5174815"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600" b="1" i="0"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INVENTORY MANAGEMENT SYSTEM</a:t>
            </a:r>
            <a:endParaRPr kumimoji="0" lang="en-GB" altLang="en-US" sz="800" b="0" i="0" u="none" strike="noStrike" cap="none" normalizeH="0" baseline="0" dirty="0">
              <a:ln>
                <a:noFill/>
              </a:ln>
              <a:solidFill>
                <a:schemeClr val="tx1"/>
              </a:solidFill>
              <a:effectLst/>
            </a:endParaRPr>
          </a:p>
          <a:p>
            <a:pPr lvl="3" eaLnBrk="0" fontAlgn="base" hangingPunct="0">
              <a:spcBef>
                <a:spcPct val="0"/>
              </a:spcBef>
              <a:spcAft>
                <a:spcPct val="0"/>
              </a:spcAft>
            </a:pPr>
            <a:r>
              <a:rPr kumimoji="0" lang="en-GB" altLang="en-US" sz="1600" b="0" i="0" u="none" strike="noStrike" cap="none" normalizeH="0" baseline="0" dirty="0">
                <a:ln>
                  <a:noFill/>
                </a:ln>
                <a:solidFill>
                  <a:srgbClr val="0D0D0D"/>
                </a:solidFill>
                <a:effectLst/>
                <a:latin typeface="Calibri Light" panose="020F0302020204030204" pitchFamily="34" charset="0"/>
                <a:ea typeface="Times New Roman" panose="02020603050405020304" pitchFamily="18" charset="0"/>
                <a:cs typeface="Calibri Light" panose="020F0302020204030204" pitchFamily="34" charset="0"/>
              </a:rPr>
              <a:t>Lok Jagruti Kendra University</a:t>
            </a:r>
            <a:endParaRPr kumimoji="0" lang="en-GB" altLang="en-US" sz="800" b="0" i="0" u="none" strike="noStrike" cap="none" normalizeH="0" baseline="0" dirty="0">
              <a:ln>
                <a:noFill/>
              </a:ln>
              <a:solidFill>
                <a:schemeClr val="tx1"/>
              </a:solidFill>
              <a:effectLst/>
            </a:endParaRPr>
          </a:p>
          <a:p>
            <a:pPr lvl="3" eaLnBrk="0" fontAlgn="base" hangingPunct="0">
              <a:spcBef>
                <a:spcPct val="0"/>
              </a:spcBef>
              <a:spcAft>
                <a:spcPct val="0"/>
              </a:spcAft>
            </a:pPr>
            <a:r>
              <a:rPr kumimoji="0" lang="en-GB" altLang="en-US" sz="1600" b="0" i="0" u="none" strike="noStrike" cap="none" normalizeH="0" baseline="0" dirty="0">
                <a:ln>
                  <a:noFill/>
                </a:ln>
                <a:solidFill>
                  <a:srgbClr val="0D0D0D"/>
                </a:solidFill>
                <a:effectLst/>
                <a:latin typeface="Calibri Light" panose="020F0302020204030204" pitchFamily="34" charset="0"/>
                <a:ea typeface="Times New Roman" panose="02020603050405020304" pitchFamily="18" charset="0"/>
                <a:cs typeface="Calibri Light" panose="020F0302020204030204" pitchFamily="34" charset="0"/>
              </a:rPr>
              <a:t>	        (LJKU)</a:t>
            </a:r>
            <a:endParaRPr kumimoji="0" lang="en-GB"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pic>
        <p:nvPicPr>
          <p:cNvPr id="1025" name="Picture 2" descr="download (5).png">
            <a:extLst>
              <a:ext uri="{FF2B5EF4-FFF2-40B4-BE49-F238E27FC236}">
                <a16:creationId xmlns:a16="http://schemas.microsoft.com/office/drawing/2014/main" id="{F623806E-8DF1-28CC-A4CA-A5E5BABA42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1311" y="984929"/>
            <a:ext cx="1349375" cy="130333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7EB3A50D-AA8B-F05B-919C-AEB60D45AD22}"/>
              </a:ext>
            </a:extLst>
          </p:cNvPr>
          <p:cNvSpPr>
            <a:spLocks noChangeArrowheads="1"/>
          </p:cNvSpPr>
          <p:nvPr/>
        </p:nvSpPr>
        <p:spPr bwMode="auto">
          <a:xfrm>
            <a:off x="3180838" y="256739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1" i="0" u="none" strike="noStrike" cap="none" normalizeH="0" baseline="0" dirty="0">
                <a:ln>
                  <a:noFill/>
                </a:ln>
                <a:solidFill>
                  <a:srgbClr val="0D0D0D"/>
                </a:solidFill>
                <a:effectLst/>
                <a:latin typeface="Calibri Light" panose="020F0302020204030204" pitchFamily="34" charset="0"/>
                <a:ea typeface="Times New Roman" panose="02020603050405020304" pitchFamily="18" charset="0"/>
                <a:cs typeface="Calibri Light" panose="020F0302020204030204" pitchFamily="34" charset="0"/>
              </a:rPr>
              <a:t>                                      Developed By:</a:t>
            </a:r>
            <a:endParaRPr kumimoji="0" lang="en-GB"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04937F56-5601-FBAA-EED6-94F9618B9537}"/>
              </a:ext>
            </a:extLst>
          </p:cNvPr>
          <p:cNvSpPr txBox="1"/>
          <p:nvPr/>
        </p:nvSpPr>
        <p:spPr>
          <a:xfrm>
            <a:off x="4183729" y="3173879"/>
            <a:ext cx="3979855" cy="3721147"/>
          </a:xfrm>
          <a:prstGeom prst="rect">
            <a:avLst/>
          </a:prstGeom>
          <a:noFill/>
        </p:spPr>
        <p:txBody>
          <a:bodyPr wrap="square">
            <a:spAutoFit/>
          </a:bodyPr>
          <a:lstStyle/>
          <a:p>
            <a:pPr marL="845820" algn="ctr">
              <a:lnSpc>
                <a:spcPct val="106000"/>
              </a:lnSpc>
              <a:spcAft>
                <a:spcPts val="800"/>
              </a:spcAft>
            </a:pPr>
            <a:r>
              <a:rPr lang="en-GB" sz="1100" dirty="0">
                <a:solidFill>
                  <a:srgbClr val="0D0D0D"/>
                </a:solidFill>
                <a:effectLst/>
                <a:latin typeface="Calibri Light" panose="020F0302020204030204" pitchFamily="34" charset="0"/>
                <a:ea typeface="Times New Roman" panose="02020603050405020304" pitchFamily="18" charset="0"/>
              </a:rPr>
              <a:t> </a:t>
            </a:r>
            <a:endParaRPr lang="en-IN" sz="1050" dirty="0">
              <a:effectLst/>
              <a:latin typeface="Calibri" panose="020F0502020204030204" pitchFamily="34" charset="0"/>
              <a:ea typeface="Times New Roman" panose="02020603050405020304" pitchFamily="18" charset="0"/>
            </a:endParaRPr>
          </a:p>
          <a:p>
            <a:pPr marL="845820">
              <a:lnSpc>
                <a:spcPct val="106000"/>
              </a:lnSpc>
              <a:spcAft>
                <a:spcPts val="800"/>
              </a:spcAft>
            </a:pPr>
            <a:r>
              <a:rPr lang="en-GB" sz="1800" b="1" dirty="0">
                <a:solidFill>
                  <a:srgbClr val="0D0D0D"/>
                </a:solidFill>
                <a:effectLst/>
                <a:latin typeface="Calibri Light" panose="020F0302020204030204" pitchFamily="34" charset="0"/>
                <a:ea typeface="Times New Roman" panose="02020603050405020304" pitchFamily="18" charset="0"/>
              </a:rPr>
              <a:t>       IMCA ICA-D SEM-6</a:t>
            </a:r>
            <a:endParaRPr lang="en-IN" sz="1050" dirty="0">
              <a:effectLst/>
              <a:latin typeface="Calibri" panose="020F0502020204030204" pitchFamily="34" charset="0"/>
              <a:ea typeface="Times New Roman" panose="02020603050405020304" pitchFamily="18" charset="0"/>
            </a:endParaRPr>
          </a:p>
          <a:p>
            <a:pPr>
              <a:lnSpc>
                <a:spcPct val="106000"/>
              </a:lnSpc>
              <a:spcAft>
                <a:spcPts val="800"/>
              </a:spcAft>
            </a:pPr>
            <a:r>
              <a:rPr lang="en-GB" sz="1800" b="1" dirty="0">
                <a:solidFill>
                  <a:srgbClr val="0D0D0D"/>
                </a:solidFill>
                <a:effectLst/>
                <a:latin typeface="Calibri Light" panose="020F0302020204030204" pitchFamily="34" charset="0"/>
                <a:ea typeface="Times New Roman" panose="02020603050405020304" pitchFamily="18" charset="0"/>
              </a:rPr>
              <a:t>                            Group No: - 6</a:t>
            </a:r>
            <a:endParaRPr lang="en-IN" sz="1050" dirty="0">
              <a:effectLst/>
              <a:latin typeface="Calibri" panose="020F0502020204030204" pitchFamily="34" charset="0"/>
              <a:ea typeface="Times New Roman" panose="02020603050405020304" pitchFamily="18" charset="0"/>
            </a:endParaRPr>
          </a:p>
          <a:p>
            <a:pPr marL="845820" algn="ctr">
              <a:lnSpc>
                <a:spcPct val="106000"/>
              </a:lnSpc>
              <a:spcAft>
                <a:spcPts val="800"/>
              </a:spcAft>
            </a:pPr>
            <a:r>
              <a:rPr lang="en-GB" sz="1200" dirty="0">
                <a:solidFill>
                  <a:srgbClr val="0D0D0D"/>
                </a:solidFill>
                <a:effectLst/>
                <a:latin typeface="Calibri Light" panose="020F0302020204030204" pitchFamily="34" charset="0"/>
                <a:ea typeface="Times New Roman" panose="02020603050405020304" pitchFamily="18" charset="0"/>
              </a:rPr>
              <a:t> </a:t>
            </a:r>
            <a:endParaRPr lang="en-IN" sz="1050" dirty="0">
              <a:effectLst/>
              <a:latin typeface="Calibri" panose="020F0502020204030204" pitchFamily="34" charset="0"/>
              <a:ea typeface="Times New Roman" panose="02020603050405020304" pitchFamily="18" charset="0"/>
            </a:endParaRPr>
          </a:p>
          <a:p>
            <a:pPr algn="ctr">
              <a:lnSpc>
                <a:spcPct val="106000"/>
              </a:lnSpc>
              <a:spcAft>
                <a:spcPts val="800"/>
              </a:spcAft>
            </a:pPr>
            <a:r>
              <a:rPr lang="en-GB" sz="1800" b="1" dirty="0">
                <a:solidFill>
                  <a:srgbClr val="0D0D0D"/>
                </a:solidFill>
                <a:effectLst/>
                <a:latin typeface="Calibri Light" panose="020F0302020204030204" pitchFamily="34" charset="0"/>
                <a:ea typeface="Times New Roman" panose="02020603050405020304" pitchFamily="18" charset="0"/>
              </a:rPr>
              <a:t>         Under the Guidance of:</a:t>
            </a:r>
            <a:endParaRPr lang="en-IN" sz="1050" dirty="0">
              <a:effectLst/>
              <a:latin typeface="Calibri" panose="020F0502020204030204" pitchFamily="34" charset="0"/>
              <a:ea typeface="Times New Roman" panose="02020603050405020304" pitchFamily="18" charset="0"/>
            </a:endParaRPr>
          </a:p>
          <a:p>
            <a:pPr algn="ctr">
              <a:lnSpc>
                <a:spcPct val="106000"/>
              </a:lnSpc>
              <a:spcAft>
                <a:spcPts val="800"/>
              </a:spcAft>
            </a:pPr>
            <a:r>
              <a:rPr lang="en-GB" sz="2000" dirty="0">
                <a:solidFill>
                  <a:srgbClr val="0D0D0D"/>
                </a:solidFill>
                <a:effectLst/>
                <a:latin typeface="Calibri Light" panose="020F0302020204030204" pitchFamily="34" charset="0"/>
                <a:ea typeface="Times New Roman" panose="02020603050405020304" pitchFamily="18" charset="0"/>
              </a:rPr>
              <a:t>      Prof. Rita Gokani</a:t>
            </a:r>
            <a:endParaRPr lang="en-IN" sz="1050" dirty="0">
              <a:effectLst/>
              <a:latin typeface="Calibri" panose="020F0502020204030204" pitchFamily="34" charset="0"/>
              <a:ea typeface="Times New Roman" panose="02020603050405020304" pitchFamily="18" charset="0"/>
            </a:endParaRPr>
          </a:p>
          <a:p>
            <a:pPr marL="845820" algn="ctr">
              <a:lnSpc>
                <a:spcPct val="106000"/>
              </a:lnSpc>
              <a:spcAft>
                <a:spcPts val="800"/>
              </a:spcAft>
            </a:pPr>
            <a:r>
              <a:rPr lang="en-GB" sz="2000" u="sng" dirty="0">
                <a:solidFill>
                  <a:srgbClr val="0D0D0D"/>
                </a:solidFill>
                <a:effectLst/>
                <a:latin typeface="Calibri Light" panose="020F0302020204030204" pitchFamily="34" charset="0"/>
                <a:ea typeface="Times New Roman" panose="02020603050405020304" pitchFamily="18" charset="0"/>
              </a:rPr>
              <a:t>Submitted To:</a:t>
            </a:r>
            <a:endParaRPr lang="en-IN" sz="1050" dirty="0">
              <a:effectLst/>
              <a:latin typeface="Calibri" panose="020F0502020204030204" pitchFamily="34" charset="0"/>
              <a:ea typeface="Times New Roman" panose="02020603050405020304" pitchFamily="18" charset="0"/>
            </a:endParaRPr>
          </a:p>
          <a:p>
            <a:pPr marL="845820" algn="ctr">
              <a:lnSpc>
                <a:spcPct val="106000"/>
              </a:lnSpc>
              <a:spcAft>
                <a:spcPts val="800"/>
              </a:spcAft>
            </a:pPr>
            <a:r>
              <a:rPr lang="en-GB" sz="1800" b="1" dirty="0">
                <a:solidFill>
                  <a:srgbClr val="0D0D0D"/>
                </a:solidFill>
                <a:effectLst/>
                <a:latin typeface="Calibri Light" panose="020F0302020204030204" pitchFamily="34" charset="0"/>
                <a:ea typeface="Times New Roman" panose="02020603050405020304" pitchFamily="18" charset="0"/>
              </a:rPr>
              <a:t>L.J. INSTITUTE OF COMPUTER APPLICATION</a:t>
            </a:r>
            <a:endParaRPr lang="en-IN" sz="1050" dirty="0">
              <a:effectLst/>
              <a:latin typeface="Calibri" panose="020F0502020204030204" pitchFamily="34" charset="0"/>
              <a:ea typeface="Times New Roman" panose="02020603050405020304" pitchFamily="18" charset="0"/>
            </a:endParaRPr>
          </a:p>
          <a:p>
            <a:pPr marL="845820" algn="ctr">
              <a:lnSpc>
                <a:spcPct val="106000"/>
              </a:lnSpc>
              <a:spcAft>
                <a:spcPts val="800"/>
              </a:spcAft>
            </a:pPr>
            <a:r>
              <a:rPr lang="en-GB" sz="2000" dirty="0">
                <a:solidFill>
                  <a:srgbClr val="0D0D0D"/>
                </a:solidFill>
                <a:effectLst/>
                <a:latin typeface="Calibri Light" panose="020F0302020204030204" pitchFamily="34" charset="0"/>
                <a:ea typeface="Times New Roman" panose="02020603050405020304" pitchFamily="18" charset="0"/>
              </a:rPr>
              <a:t> </a:t>
            </a:r>
            <a:endParaRPr lang="en-IN" sz="1050" dirty="0">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4039851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4FC1022-20FA-74CB-91DF-197B29A9567A}"/>
              </a:ext>
            </a:extLst>
          </p:cNvPr>
          <p:cNvSpPr txBox="1"/>
          <p:nvPr/>
        </p:nvSpPr>
        <p:spPr>
          <a:xfrm>
            <a:off x="1179871" y="2932160"/>
            <a:ext cx="6096000" cy="369332"/>
          </a:xfrm>
          <a:prstGeom prst="rect">
            <a:avLst/>
          </a:prstGeom>
          <a:noFill/>
        </p:spPr>
        <p:txBody>
          <a:bodyPr wrap="square">
            <a:spAutoFit/>
          </a:bodyPr>
          <a:lstStyle/>
          <a:p>
            <a:pPr algn="l"/>
            <a:r>
              <a:rPr lang="en-IN" b="1" i="0" dirty="0">
                <a:solidFill>
                  <a:srgbClr val="FF0000"/>
                </a:solidFill>
                <a:effectLst/>
                <a:latin typeface="Söhne"/>
              </a:rPr>
              <a:t>TABLE OF CONTENTS</a:t>
            </a:r>
          </a:p>
        </p:txBody>
      </p:sp>
    </p:spTree>
    <p:extLst>
      <p:ext uri="{BB962C8B-B14F-4D97-AF65-F5344CB8AC3E}">
        <p14:creationId xmlns:p14="http://schemas.microsoft.com/office/powerpoint/2010/main" val="2597942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8BB98-DA0D-DDB2-24B4-E78EF43EB5FC}"/>
              </a:ext>
            </a:extLst>
          </p:cNvPr>
          <p:cNvSpPr>
            <a:spLocks noGrp="1"/>
          </p:cNvSpPr>
          <p:nvPr>
            <p:ph type="title"/>
          </p:nvPr>
        </p:nvSpPr>
        <p:spPr/>
        <p:txBody>
          <a:bodyPr/>
          <a:lstStyle/>
          <a:p>
            <a:r>
              <a:rPr lang="en-IN" dirty="0"/>
              <a:t>1.	INTRODUCTION</a:t>
            </a:r>
          </a:p>
        </p:txBody>
      </p:sp>
      <p:sp>
        <p:nvSpPr>
          <p:cNvPr id="3" name="Content Placeholder 2">
            <a:extLst>
              <a:ext uri="{FF2B5EF4-FFF2-40B4-BE49-F238E27FC236}">
                <a16:creationId xmlns:a16="http://schemas.microsoft.com/office/drawing/2014/main" id="{5E82020F-137A-14FF-7281-AA9F9066D549}"/>
              </a:ext>
            </a:extLst>
          </p:cNvPr>
          <p:cNvSpPr>
            <a:spLocks noGrp="1"/>
          </p:cNvSpPr>
          <p:nvPr>
            <p:ph idx="1"/>
          </p:nvPr>
        </p:nvSpPr>
        <p:spPr>
          <a:xfrm>
            <a:off x="838200" y="2336902"/>
            <a:ext cx="10515600" cy="4351338"/>
          </a:xfrm>
        </p:spPr>
        <p:txBody>
          <a:bodyPr/>
          <a:lstStyle/>
          <a:p>
            <a:r>
              <a:rPr lang="en-GB" sz="1800" dirty="0">
                <a:solidFill>
                  <a:srgbClr val="1F1F1F"/>
                </a:solidFill>
                <a:effectLst/>
                <a:latin typeface="Arial" panose="020B0604020202020204" pitchFamily="34" charset="0"/>
                <a:ea typeface="Times New Roman" panose="02020603050405020304" pitchFamily="18" charset="0"/>
              </a:rPr>
              <a:t>This document outlines the functionalities and benefits of an Inventory Management System (IMS). An IMS acts as a centralized hub for managing your stock, offering real-time information on item quantities and locations. This eliminates the need for manual tracking and scattered data, providing a clear picture of your inventory levels. By implementing an IMS, businesses can expect improved cost control through minimized storage expenses and optimized stock levels.</a:t>
            </a:r>
            <a:endParaRPr lang="en-IN" sz="1800" dirty="0">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3439436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49CD5-B1B7-C312-EA93-CAD82348484A}"/>
              </a:ext>
            </a:extLst>
          </p:cNvPr>
          <p:cNvSpPr>
            <a:spLocks noGrp="1"/>
          </p:cNvSpPr>
          <p:nvPr>
            <p:ph type="title"/>
          </p:nvPr>
        </p:nvSpPr>
        <p:spPr/>
        <p:txBody>
          <a:bodyPr/>
          <a:lstStyle/>
          <a:p>
            <a:r>
              <a:rPr lang="en-IN" dirty="0"/>
              <a:t>1.1.	EXISTING SYSTEM</a:t>
            </a:r>
          </a:p>
        </p:txBody>
      </p:sp>
      <p:sp>
        <p:nvSpPr>
          <p:cNvPr id="3" name="Content Placeholder 2">
            <a:extLst>
              <a:ext uri="{FF2B5EF4-FFF2-40B4-BE49-F238E27FC236}">
                <a16:creationId xmlns:a16="http://schemas.microsoft.com/office/drawing/2014/main" id="{4EBDCF3B-A3B3-3260-FFF2-F5C7E9D76155}"/>
              </a:ext>
            </a:extLst>
          </p:cNvPr>
          <p:cNvSpPr>
            <a:spLocks noGrp="1"/>
          </p:cNvSpPr>
          <p:nvPr>
            <p:ph idx="1"/>
          </p:nvPr>
        </p:nvSpPr>
        <p:spPr/>
        <p:txBody>
          <a:bodyPr>
            <a:noAutofit/>
          </a:bodyPr>
          <a:lstStyle/>
          <a:p>
            <a:r>
              <a:rPr lang="en-US" sz="1600" dirty="0"/>
              <a:t>Traditional Methods: Inventory management traditionally relied on manual methods such as spreadsheets, physical counts, and manual bill generation.</a:t>
            </a:r>
          </a:p>
          <a:p>
            <a:r>
              <a:rPr lang="en-US" sz="1600" dirty="0"/>
              <a:t>Prone to Errors: Manual methods are prone to errors due to human oversight or miscalculations.</a:t>
            </a:r>
          </a:p>
          <a:p>
            <a:r>
              <a:rPr lang="en-US" sz="1600" dirty="0"/>
              <a:t>Time-consuming: Manual inventory management processes are time-consuming, requiring significant manual effort.</a:t>
            </a:r>
          </a:p>
          <a:p>
            <a:r>
              <a:rPr lang="en-US" sz="1600" dirty="0"/>
              <a:t>Cumbersome with Growth: As businesses grow and inventory complexity increases, manual methods become increasingly cumbersome to manage.</a:t>
            </a:r>
          </a:p>
          <a:p>
            <a:r>
              <a:rPr lang="en-US" sz="1600" dirty="0"/>
              <a:t>Need for Efficiency: The limitations of traditional methods highlight the need for a more efficient and automated solution.</a:t>
            </a:r>
          </a:p>
          <a:p>
            <a:r>
              <a:rPr lang="en-US" sz="1600" dirty="0"/>
              <a:t>Role of IMS: Inventory Management Systems (IMS) address these limitations by providing an efficient and automated solution to manage inventory effectively.</a:t>
            </a:r>
            <a:endParaRPr lang="en-IN" sz="1600" dirty="0"/>
          </a:p>
        </p:txBody>
      </p:sp>
    </p:spTree>
    <p:extLst>
      <p:ext uri="{BB962C8B-B14F-4D97-AF65-F5344CB8AC3E}">
        <p14:creationId xmlns:p14="http://schemas.microsoft.com/office/powerpoint/2010/main" val="4275707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4451E-137C-987D-18F5-479BFB4661DD}"/>
              </a:ext>
            </a:extLst>
          </p:cNvPr>
          <p:cNvSpPr>
            <a:spLocks noGrp="1"/>
          </p:cNvSpPr>
          <p:nvPr>
            <p:ph type="title"/>
          </p:nvPr>
        </p:nvSpPr>
        <p:spPr/>
        <p:txBody>
          <a:bodyPr/>
          <a:lstStyle/>
          <a:p>
            <a:r>
              <a:rPr lang="en-US" dirty="0"/>
              <a:t>1.2.	NEED FOR THE NEW SYSTEM</a:t>
            </a:r>
            <a:endParaRPr lang="en-IN" dirty="0"/>
          </a:p>
        </p:txBody>
      </p:sp>
      <p:sp>
        <p:nvSpPr>
          <p:cNvPr id="3" name="Content Placeholder 2">
            <a:extLst>
              <a:ext uri="{FF2B5EF4-FFF2-40B4-BE49-F238E27FC236}">
                <a16:creationId xmlns:a16="http://schemas.microsoft.com/office/drawing/2014/main" id="{1F30B17D-5F8E-43DE-972A-696F9FCAB66C}"/>
              </a:ext>
            </a:extLst>
          </p:cNvPr>
          <p:cNvSpPr>
            <a:spLocks noGrp="1"/>
          </p:cNvSpPr>
          <p:nvPr>
            <p:ph idx="1"/>
          </p:nvPr>
        </p:nvSpPr>
        <p:spPr/>
        <p:txBody>
          <a:bodyPr>
            <a:noAutofit/>
          </a:bodyPr>
          <a:lstStyle/>
          <a:p>
            <a:r>
              <a:rPr lang="en-US" sz="1600" dirty="0"/>
              <a:t>Complexities of Electronic Items: Managing electronic items presents unique challenges that our current inventory system's manual processes struggle to handle effectively.</a:t>
            </a:r>
          </a:p>
          <a:p>
            <a:r>
              <a:rPr lang="en-US" sz="1600" dirty="0"/>
              <a:t>Lack of Real-time Data: The current system lacks real-time data, leading to delays in order fulfillment and stockouts.</a:t>
            </a:r>
          </a:p>
          <a:p>
            <a:r>
              <a:rPr lang="en-US" sz="1600" dirty="0"/>
              <a:t>Impact on Customer Satisfaction: These shortcomings compromise customer satisfaction and hinder our competitiveness in the market.</a:t>
            </a:r>
          </a:p>
          <a:p>
            <a:r>
              <a:rPr lang="en-US" sz="1600" dirty="0"/>
              <a:t>Need for Streamlined Operations: Upgrading to a modern electronic-specific inventory management system is essential to streamline operations and improve efficiency.</a:t>
            </a:r>
          </a:p>
          <a:p>
            <a:r>
              <a:rPr lang="en-US" sz="1600" dirty="0"/>
              <a:t>Cost Reduction: Implementing a new system will help reduce costs associated with inefficiencies in inventory management processes.</a:t>
            </a:r>
          </a:p>
          <a:p>
            <a:r>
              <a:rPr lang="en-US" sz="1600" dirty="0"/>
              <a:t>Competitive Advantage: Staying ahead in this fast-paced industry requires leveraging technology to optimize inventory management processes and maintain a competitive edge.</a:t>
            </a:r>
            <a:endParaRPr lang="en-IN" sz="1600" dirty="0"/>
          </a:p>
        </p:txBody>
      </p:sp>
    </p:spTree>
    <p:extLst>
      <p:ext uri="{BB962C8B-B14F-4D97-AF65-F5344CB8AC3E}">
        <p14:creationId xmlns:p14="http://schemas.microsoft.com/office/powerpoint/2010/main" val="3749633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7F47D-1412-0F72-B775-067AD0A7F653}"/>
              </a:ext>
            </a:extLst>
          </p:cNvPr>
          <p:cNvSpPr>
            <a:spLocks noGrp="1"/>
          </p:cNvSpPr>
          <p:nvPr>
            <p:ph type="title"/>
          </p:nvPr>
        </p:nvSpPr>
        <p:spPr/>
        <p:txBody>
          <a:bodyPr/>
          <a:lstStyle/>
          <a:p>
            <a:r>
              <a:rPr lang="en-US" dirty="0"/>
              <a:t>1.3.	OBJECTIVE OF THE NEW SYSTEM</a:t>
            </a:r>
            <a:endParaRPr lang="en-IN" dirty="0"/>
          </a:p>
        </p:txBody>
      </p:sp>
      <p:sp>
        <p:nvSpPr>
          <p:cNvPr id="3" name="Content Placeholder 2">
            <a:extLst>
              <a:ext uri="{FF2B5EF4-FFF2-40B4-BE49-F238E27FC236}">
                <a16:creationId xmlns:a16="http://schemas.microsoft.com/office/drawing/2014/main" id="{D48FE5BF-796A-027E-EAB3-FED30CFBD72C}"/>
              </a:ext>
            </a:extLst>
          </p:cNvPr>
          <p:cNvSpPr>
            <a:spLocks noGrp="1"/>
          </p:cNvSpPr>
          <p:nvPr>
            <p:ph idx="1"/>
          </p:nvPr>
        </p:nvSpPr>
        <p:spPr>
          <a:xfrm>
            <a:off x="838200" y="1580528"/>
            <a:ext cx="10515600" cy="4351338"/>
          </a:xfrm>
        </p:spPr>
        <p:txBody>
          <a:bodyPr>
            <a:noAutofit/>
          </a:bodyPr>
          <a:lstStyle/>
          <a:p>
            <a:r>
              <a:rPr lang="en-US" sz="1600" dirty="0"/>
              <a:t>Invoice Generation: Facilitate seamless invoice generation, including automation of creation and sending invoices to customers upon order completion.</a:t>
            </a:r>
          </a:p>
          <a:p>
            <a:r>
              <a:rPr lang="en-US" sz="1600" dirty="0"/>
              <a:t>Stock Management: Enhance stock management capabilities with real-time tracking, monitoring stock movements, and automated alerts for low stock levels.</a:t>
            </a:r>
          </a:p>
          <a:p>
            <a:r>
              <a:rPr lang="en-US" sz="1600" dirty="0"/>
              <a:t>Order History: Maintain comprehensive order history records for easy access, order details viewing, order status tracking, and historical data analysis.</a:t>
            </a:r>
          </a:p>
          <a:p>
            <a:r>
              <a:rPr lang="en-US" sz="1600" dirty="0"/>
              <a:t>Search Functionality: Incorporate efficient search functionality for quick retrieval of products, orders, invoices, or other relevant information.</a:t>
            </a:r>
          </a:p>
          <a:p>
            <a:r>
              <a:rPr lang="en-US" sz="1600" dirty="0"/>
              <a:t>Product Management: Improve product management with tools for adding, updating, and categorizing products efficiently, including managing product attributes, pricing, and specifications.</a:t>
            </a:r>
          </a:p>
          <a:p>
            <a:r>
              <a:rPr lang="en-US" sz="1600" dirty="0"/>
              <a:t>Brand Management: Implement brand management functionality, categorizing products by brand, managing brand information, and facilitating brand-specific reporting and analysis.</a:t>
            </a:r>
          </a:p>
          <a:p>
            <a:r>
              <a:rPr lang="en-US" sz="1600" dirty="0"/>
              <a:t>Category Management: Enhance category management capabilities, organizing products into logical categories, managing category hierarchies, and facilitating category-based reporting and analysis.</a:t>
            </a:r>
          </a:p>
          <a:p>
            <a:r>
              <a:rPr lang="en-US" sz="1600" dirty="0"/>
              <a:t>Payment Modes: Provide information on payment modes, including advance payment, full payment, and outstanding payments.</a:t>
            </a:r>
          </a:p>
          <a:p>
            <a:r>
              <a:rPr lang="en-US" sz="1600" dirty="0"/>
              <a:t>Downloadable PDF Invoices: Allow customers to easily download PDF invoices directly.</a:t>
            </a:r>
            <a:endParaRPr lang="en-IN" sz="1600" dirty="0"/>
          </a:p>
        </p:txBody>
      </p:sp>
    </p:spTree>
    <p:extLst>
      <p:ext uri="{BB962C8B-B14F-4D97-AF65-F5344CB8AC3E}">
        <p14:creationId xmlns:p14="http://schemas.microsoft.com/office/powerpoint/2010/main" val="1668695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55DA3-6458-982C-DA55-A17BBE585CE3}"/>
              </a:ext>
            </a:extLst>
          </p:cNvPr>
          <p:cNvSpPr>
            <a:spLocks noGrp="1"/>
          </p:cNvSpPr>
          <p:nvPr>
            <p:ph type="title"/>
          </p:nvPr>
        </p:nvSpPr>
        <p:spPr/>
        <p:txBody>
          <a:bodyPr/>
          <a:lstStyle/>
          <a:p>
            <a:r>
              <a:rPr lang="en-IN" dirty="0"/>
              <a:t>1.4.	PROBLEM DEFINITION</a:t>
            </a:r>
          </a:p>
        </p:txBody>
      </p:sp>
      <p:sp>
        <p:nvSpPr>
          <p:cNvPr id="3" name="Content Placeholder 2">
            <a:extLst>
              <a:ext uri="{FF2B5EF4-FFF2-40B4-BE49-F238E27FC236}">
                <a16:creationId xmlns:a16="http://schemas.microsoft.com/office/drawing/2014/main" id="{6A029E53-1075-8A51-59AE-4D815BB197F7}"/>
              </a:ext>
            </a:extLst>
          </p:cNvPr>
          <p:cNvSpPr>
            <a:spLocks noGrp="1"/>
          </p:cNvSpPr>
          <p:nvPr>
            <p:ph idx="1"/>
          </p:nvPr>
        </p:nvSpPr>
        <p:spPr/>
        <p:txBody>
          <a:bodyPr/>
          <a:lstStyle/>
          <a:p>
            <a:pPr marL="0" indent="0">
              <a:lnSpc>
                <a:spcPct val="130000"/>
              </a:lnSpc>
              <a:spcAft>
                <a:spcPts val="800"/>
              </a:spcAft>
              <a:buNone/>
            </a:pPr>
            <a:endParaRPr lang="en-IN" sz="1800" dirty="0">
              <a:effectLst/>
              <a:latin typeface="Calibri" panose="020F0502020204030204" pitchFamily="34" charset="0"/>
              <a:ea typeface="Times New Roman" panose="02020603050405020304" pitchFamily="18" charset="0"/>
            </a:endParaRPr>
          </a:p>
          <a:p>
            <a:pPr marL="342900" lvl="0" indent="-342900">
              <a:lnSpc>
                <a:spcPct val="130000"/>
              </a:lnSpc>
              <a:buFont typeface="Symbol" panose="05050102010706020507" pitchFamily="18" charset="2"/>
              <a:buChar char=""/>
            </a:pPr>
            <a:r>
              <a:rPr lang="en-US" sz="1600" b="1" dirty="0">
                <a:solidFill>
                  <a:srgbClr val="0D0D0D"/>
                </a:solidFill>
                <a:effectLst/>
                <a:latin typeface="Calibri Light" panose="020F0302020204030204" pitchFamily="34" charset="0"/>
                <a:ea typeface="Times New Roman" panose="02020603050405020304" pitchFamily="18" charset="0"/>
              </a:rPr>
              <a:t>Manual processes:</a:t>
            </a:r>
            <a:r>
              <a:rPr lang="en-US" sz="1600" dirty="0">
                <a:solidFill>
                  <a:srgbClr val="0D0D0D"/>
                </a:solidFill>
                <a:effectLst/>
                <a:latin typeface="Calibri Light" panose="020F0302020204030204" pitchFamily="34" charset="0"/>
                <a:ea typeface="Times New Roman" panose="02020603050405020304" pitchFamily="18" charset="0"/>
              </a:rPr>
              <a:t> Inefficient and error-prone manual tracking of stock levels, order placement, and stock locations.</a:t>
            </a:r>
            <a:endParaRPr lang="en-IN" sz="1600" dirty="0">
              <a:effectLst/>
              <a:latin typeface="Calibri" panose="020F0502020204030204" pitchFamily="34" charset="0"/>
              <a:ea typeface="Times New Roman" panose="02020603050405020304" pitchFamily="18" charset="0"/>
            </a:endParaRPr>
          </a:p>
          <a:p>
            <a:pPr marL="342900" lvl="0" indent="-342900">
              <a:lnSpc>
                <a:spcPct val="130000"/>
              </a:lnSpc>
              <a:buFont typeface="Symbol" panose="05050102010706020507" pitchFamily="18" charset="2"/>
              <a:buChar char=""/>
            </a:pPr>
            <a:r>
              <a:rPr lang="en-US" sz="1600" b="1" dirty="0">
                <a:solidFill>
                  <a:srgbClr val="0D0D0D"/>
                </a:solidFill>
                <a:effectLst/>
                <a:latin typeface="Calibri Light" panose="020F0302020204030204" pitchFamily="34" charset="0"/>
                <a:ea typeface="Times New Roman" panose="02020603050405020304" pitchFamily="18" charset="0"/>
              </a:rPr>
              <a:t>Inaccurate data:</a:t>
            </a:r>
            <a:r>
              <a:rPr lang="en-US" sz="1600" dirty="0">
                <a:solidFill>
                  <a:srgbClr val="0D0D0D"/>
                </a:solidFill>
                <a:effectLst/>
                <a:latin typeface="Calibri Light" panose="020F0302020204030204" pitchFamily="34" charset="0"/>
                <a:ea typeface="Times New Roman" panose="02020603050405020304" pitchFamily="18" charset="0"/>
              </a:rPr>
              <a:t> Outdated or unreliable data leads to poor decision-making regarding inventory management.</a:t>
            </a:r>
            <a:endParaRPr lang="en-IN" sz="1600" dirty="0">
              <a:effectLst/>
              <a:latin typeface="Calibri" panose="020F0502020204030204" pitchFamily="34" charset="0"/>
              <a:ea typeface="Times New Roman" panose="02020603050405020304" pitchFamily="18" charset="0"/>
            </a:endParaRPr>
          </a:p>
          <a:p>
            <a:pPr marL="342900" lvl="0" indent="-342900">
              <a:lnSpc>
                <a:spcPct val="130000"/>
              </a:lnSpc>
              <a:buFont typeface="Symbol" panose="05050102010706020507" pitchFamily="18" charset="2"/>
              <a:buChar char=""/>
            </a:pPr>
            <a:r>
              <a:rPr lang="en-US" sz="1600" b="1" dirty="0">
                <a:solidFill>
                  <a:srgbClr val="0D0D0D"/>
                </a:solidFill>
                <a:effectLst/>
                <a:latin typeface="Calibri Light" panose="020F0302020204030204" pitchFamily="34" charset="0"/>
                <a:ea typeface="Times New Roman" panose="02020603050405020304" pitchFamily="18" charset="0"/>
              </a:rPr>
              <a:t>Stockouts and excess inventory:</a:t>
            </a:r>
            <a:r>
              <a:rPr lang="en-US" sz="1600" dirty="0">
                <a:solidFill>
                  <a:srgbClr val="0D0D0D"/>
                </a:solidFill>
                <a:effectLst/>
                <a:latin typeface="Calibri Light" panose="020F0302020204030204" pitchFamily="34" charset="0"/>
                <a:ea typeface="Times New Roman" panose="02020603050405020304" pitchFamily="18" charset="0"/>
              </a:rPr>
              <a:t> Inability to predict demand accurately can result in stockouts leading to lost sales and customer dissatisfaction, or excess inventory incurring storage costs and reducing cash flow.</a:t>
            </a:r>
            <a:endParaRPr lang="en-IN" sz="1600" dirty="0">
              <a:effectLst/>
              <a:latin typeface="Calibri" panose="020F0502020204030204" pitchFamily="34" charset="0"/>
              <a:ea typeface="Times New Roman" panose="02020603050405020304" pitchFamily="18" charset="0"/>
            </a:endParaRPr>
          </a:p>
          <a:p>
            <a:pPr marL="342900" lvl="0" indent="-342900">
              <a:lnSpc>
                <a:spcPct val="130000"/>
              </a:lnSpc>
              <a:spcAft>
                <a:spcPts val="800"/>
              </a:spcAft>
              <a:buFont typeface="Symbol" panose="05050102010706020507" pitchFamily="18" charset="2"/>
              <a:buChar char=""/>
            </a:pPr>
            <a:r>
              <a:rPr lang="en-US" sz="1600" b="1" dirty="0">
                <a:solidFill>
                  <a:srgbClr val="0D0D0D"/>
                </a:solidFill>
                <a:effectLst/>
                <a:latin typeface="Calibri Light" panose="020F0302020204030204" pitchFamily="34" charset="0"/>
                <a:ea typeface="Times New Roman" panose="02020603050405020304" pitchFamily="18" charset="0"/>
              </a:rPr>
              <a:t>Limited visibility:</a:t>
            </a:r>
            <a:r>
              <a:rPr lang="en-US" sz="1600" dirty="0">
                <a:solidFill>
                  <a:srgbClr val="0D0D0D"/>
                </a:solidFill>
                <a:effectLst/>
                <a:latin typeface="Calibri Light" panose="020F0302020204030204" pitchFamily="34" charset="0"/>
                <a:ea typeface="Times New Roman" panose="02020603050405020304" pitchFamily="18" charset="0"/>
              </a:rPr>
              <a:t> Lack of a centralized system makes it difficult to track inventory across multiple locations and manage stock flow effectively.</a:t>
            </a:r>
            <a:endParaRPr lang="en-IN" sz="1600" dirty="0">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1045246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290D1-4195-E4A8-3F2B-700971E65BBA}"/>
              </a:ext>
            </a:extLst>
          </p:cNvPr>
          <p:cNvSpPr>
            <a:spLocks noGrp="1"/>
          </p:cNvSpPr>
          <p:nvPr>
            <p:ph type="title"/>
          </p:nvPr>
        </p:nvSpPr>
        <p:spPr/>
        <p:txBody>
          <a:bodyPr/>
          <a:lstStyle/>
          <a:p>
            <a:r>
              <a:rPr lang="en-IN" dirty="0"/>
              <a:t>1.5.	CORE COMPONENTS</a:t>
            </a:r>
          </a:p>
        </p:txBody>
      </p:sp>
      <p:sp>
        <p:nvSpPr>
          <p:cNvPr id="3" name="Content Placeholder 2">
            <a:extLst>
              <a:ext uri="{FF2B5EF4-FFF2-40B4-BE49-F238E27FC236}">
                <a16:creationId xmlns:a16="http://schemas.microsoft.com/office/drawing/2014/main" id="{0BF9E164-DB63-A8E8-3E04-7DEFF277F3AE}"/>
              </a:ext>
            </a:extLst>
          </p:cNvPr>
          <p:cNvSpPr>
            <a:spLocks noGrp="1"/>
          </p:cNvSpPr>
          <p:nvPr>
            <p:ph idx="1"/>
          </p:nvPr>
        </p:nvSpPr>
        <p:spPr/>
        <p:txBody>
          <a:bodyPr>
            <a:normAutofit/>
          </a:bodyPr>
          <a:lstStyle/>
          <a:p>
            <a:r>
              <a:rPr lang="en-US" sz="1700" dirty="0"/>
              <a:t>MANAGE CATEGORY: This IMS portal is mainly use for mobile store. Which has functionalities of add, update, delete categories likes mobile phones and laptops and product with stock management.</a:t>
            </a:r>
          </a:p>
          <a:p>
            <a:r>
              <a:rPr lang="en-US" sz="1700" dirty="0"/>
              <a:t>MANAGE PRODUCT: This IMS portal is mainly use for mobile store. Which has functionalities of add, update, delete products with stock management.</a:t>
            </a:r>
          </a:p>
          <a:p>
            <a:r>
              <a:rPr lang="en-US" sz="1700" dirty="0"/>
              <a:t>MANAGE INVOICE: Invoicing and billing application for different business purposes helps mainly the service providers and freelancers to manage and track their payment status. This IMS is mainly use for mobile store which has functionalities of generating invoice.</a:t>
            </a:r>
          </a:p>
          <a:p>
            <a:r>
              <a:rPr lang="en-US" sz="1700" dirty="0"/>
              <a:t>GENERATE REPORT: Admin will be able to generate yearly, quarterly, monthly collection report as per the need.</a:t>
            </a:r>
          </a:p>
          <a:p>
            <a:endParaRPr lang="en-IN" dirty="0"/>
          </a:p>
        </p:txBody>
      </p:sp>
    </p:spTree>
    <p:extLst>
      <p:ext uri="{BB962C8B-B14F-4D97-AF65-F5344CB8AC3E}">
        <p14:creationId xmlns:p14="http://schemas.microsoft.com/office/powerpoint/2010/main" val="2189668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EC83-DC5B-A62A-672D-100F041DF646}"/>
              </a:ext>
            </a:extLst>
          </p:cNvPr>
          <p:cNvSpPr>
            <a:spLocks noGrp="1"/>
          </p:cNvSpPr>
          <p:nvPr>
            <p:ph type="title"/>
          </p:nvPr>
        </p:nvSpPr>
        <p:spPr/>
        <p:txBody>
          <a:bodyPr/>
          <a:lstStyle/>
          <a:p>
            <a:r>
              <a:rPr lang="en-IN" dirty="0"/>
              <a:t>1.6.	PROJECT PROFILE</a:t>
            </a:r>
          </a:p>
        </p:txBody>
      </p:sp>
      <p:graphicFrame>
        <p:nvGraphicFramePr>
          <p:cNvPr id="6" name="Content Placeholder 5">
            <a:extLst>
              <a:ext uri="{FF2B5EF4-FFF2-40B4-BE49-F238E27FC236}">
                <a16:creationId xmlns:a16="http://schemas.microsoft.com/office/drawing/2014/main" id="{DA11DC57-F0A7-7568-9513-9BFF8961AC59}"/>
              </a:ext>
            </a:extLst>
          </p:cNvPr>
          <p:cNvGraphicFramePr>
            <a:graphicFrameLocks noGrp="1"/>
          </p:cNvGraphicFramePr>
          <p:nvPr>
            <p:ph idx="1"/>
          </p:nvPr>
        </p:nvGraphicFramePr>
        <p:xfrm>
          <a:off x="3787140" y="2342991"/>
          <a:ext cx="4617720" cy="3316605"/>
        </p:xfrm>
        <a:graphic>
          <a:graphicData uri="http://schemas.openxmlformats.org/drawingml/2006/table">
            <a:tbl>
              <a:tblPr firstRow="1" firstCol="1" bandRow="1">
                <a:tableStyleId>{5C22544A-7EE6-4342-B048-85BDC9FD1C3A}</a:tableStyleId>
              </a:tblPr>
              <a:tblGrid>
                <a:gridCol w="1920748">
                  <a:extLst>
                    <a:ext uri="{9D8B030D-6E8A-4147-A177-3AD203B41FA5}">
                      <a16:colId xmlns:a16="http://schemas.microsoft.com/office/drawing/2014/main" val="1719551448"/>
                    </a:ext>
                  </a:extLst>
                </a:gridCol>
                <a:gridCol w="2696972">
                  <a:extLst>
                    <a:ext uri="{9D8B030D-6E8A-4147-A177-3AD203B41FA5}">
                      <a16:colId xmlns:a16="http://schemas.microsoft.com/office/drawing/2014/main" val="1761232902"/>
                    </a:ext>
                  </a:extLst>
                </a:gridCol>
              </a:tblGrid>
              <a:tr h="551180">
                <a:tc>
                  <a:txBody>
                    <a:bodyPr/>
                    <a:lstStyle/>
                    <a:p>
                      <a:pPr marL="61595">
                        <a:lnSpc>
                          <a:spcPct val="130000"/>
                        </a:lnSpc>
                        <a:spcBef>
                          <a:spcPts val="5"/>
                        </a:spcBef>
                        <a:spcAft>
                          <a:spcPts val="600"/>
                        </a:spcAft>
                      </a:pPr>
                      <a:r>
                        <a:rPr lang="en-GB" sz="1200" kern="100">
                          <a:effectLst/>
                        </a:rPr>
                        <a:t>Project Title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2230">
                        <a:lnSpc>
                          <a:spcPct val="130000"/>
                        </a:lnSpc>
                        <a:spcBef>
                          <a:spcPts val="5"/>
                        </a:spcBef>
                        <a:spcAft>
                          <a:spcPts val="600"/>
                        </a:spcAft>
                      </a:pPr>
                      <a:r>
                        <a:rPr lang="en-GB" sz="1200" kern="100">
                          <a:effectLst/>
                        </a:rPr>
                        <a:t>INVENTORY MANAGEMENT SYSTEM</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558972279"/>
                  </a:ext>
                </a:extLst>
              </a:tr>
              <a:tr h="554355">
                <a:tc>
                  <a:txBody>
                    <a:bodyPr/>
                    <a:lstStyle/>
                    <a:p>
                      <a:pPr marL="61595">
                        <a:lnSpc>
                          <a:spcPct val="130000"/>
                        </a:lnSpc>
                        <a:spcAft>
                          <a:spcPts val="600"/>
                        </a:spcAft>
                      </a:pPr>
                      <a:r>
                        <a:rPr lang="en-GB" sz="1200" kern="100">
                          <a:effectLst/>
                        </a:rPr>
                        <a:t>Duration</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55880">
                        <a:lnSpc>
                          <a:spcPct val="130000"/>
                        </a:lnSpc>
                        <a:spcAft>
                          <a:spcPts val="600"/>
                        </a:spcAft>
                      </a:pPr>
                      <a:r>
                        <a:rPr lang="en-GB" sz="1200" kern="100">
                          <a:effectLst/>
                        </a:rPr>
                        <a:t>3 Months</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674642229"/>
                  </a:ext>
                </a:extLst>
              </a:tr>
              <a:tr h="551180">
                <a:tc>
                  <a:txBody>
                    <a:bodyPr/>
                    <a:lstStyle/>
                    <a:p>
                      <a:pPr marL="61595">
                        <a:lnSpc>
                          <a:spcPct val="130000"/>
                        </a:lnSpc>
                        <a:spcBef>
                          <a:spcPts val="5"/>
                        </a:spcBef>
                        <a:spcAft>
                          <a:spcPts val="600"/>
                        </a:spcAft>
                      </a:pPr>
                      <a:r>
                        <a:rPr lang="en-GB" sz="1200" kern="100">
                          <a:effectLst/>
                        </a:rPr>
                        <a:t>Project Internal Guide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nSpc>
                          <a:spcPct val="130000"/>
                        </a:lnSpc>
                        <a:spcBef>
                          <a:spcPts val="5"/>
                        </a:spcBef>
                        <a:spcAft>
                          <a:spcPts val="600"/>
                        </a:spcAft>
                      </a:pPr>
                      <a:r>
                        <a:rPr lang="en-GB" sz="1200" kern="100">
                          <a:effectLst/>
                        </a:rPr>
                        <a:t>Prof. Rita Gokani</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56314429"/>
                  </a:ext>
                </a:extLst>
              </a:tr>
              <a:tr h="551180">
                <a:tc>
                  <a:txBody>
                    <a:bodyPr/>
                    <a:lstStyle/>
                    <a:p>
                      <a:pPr marL="61595">
                        <a:lnSpc>
                          <a:spcPct val="130000"/>
                        </a:lnSpc>
                        <a:spcBef>
                          <a:spcPts val="5"/>
                        </a:spcBef>
                        <a:spcAft>
                          <a:spcPts val="600"/>
                        </a:spcAft>
                      </a:pPr>
                      <a:r>
                        <a:rPr lang="en-GB" sz="1200" kern="100">
                          <a:effectLst/>
                        </a:rPr>
                        <a:t>Front End</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nSpc>
                          <a:spcPct val="130000"/>
                        </a:lnSpc>
                        <a:spcBef>
                          <a:spcPts val="5"/>
                        </a:spcBef>
                        <a:spcAft>
                          <a:spcPts val="600"/>
                        </a:spcAft>
                      </a:pPr>
                      <a:r>
                        <a:rPr lang="en-GB" sz="1200" kern="100">
                          <a:effectLst/>
                        </a:rPr>
                        <a:t>CSS, HTML, Bootstrap</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3389166"/>
                  </a:ext>
                </a:extLst>
              </a:tr>
              <a:tr h="554355">
                <a:tc>
                  <a:txBody>
                    <a:bodyPr/>
                    <a:lstStyle/>
                    <a:p>
                      <a:pPr marL="61595">
                        <a:lnSpc>
                          <a:spcPct val="130000"/>
                        </a:lnSpc>
                        <a:spcBef>
                          <a:spcPts val="5"/>
                        </a:spcBef>
                        <a:spcAft>
                          <a:spcPts val="600"/>
                        </a:spcAft>
                      </a:pPr>
                      <a:r>
                        <a:rPr lang="en-GB" sz="1200" kern="100">
                          <a:effectLst/>
                        </a:rPr>
                        <a:t>Backend</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nSpc>
                          <a:spcPct val="130000"/>
                        </a:lnSpc>
                        <a:spcBef>
                          <a:spcPts val="5"/>
                        </a:spcBef>
                        <a:spcAft>
                          <a:spcPts val="600"/>
                        </a:spcAft>
                      </a:pPr>
                      <a:r>
                        <a:rPr lang="en-GB" sz="1200" kern="100">
                          <a:effectLst/>
                        </a:rPr>
                        <a:t>MySQL, PHP</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744574387"/>
                  </a:ext>
                </a:extLst>
              </a:tr>
              <a:tr h="554355">
                <a:tc>
                  <a:txBody>
                    <a:bodyPr/>
                    <a:lstStyle/>
                    <a:p>
                      <a:pPr marL="61595">
                        <a:lnSpc>
                          <a:spcPct val="130000"/>
                        </a:lnSpc>
                        <a:spcBef>
                          <a:spcPts val="5"/>
                        </a:spcBef>
                        <a:spcAft>
                          <a:spcPts val="600"/>
                        </a:spcAft>
                      </a:pPr>
                      <a:r>
                        <a:rPr lang="en-GB" sz="1200" kern="100">
                          <a:effectLst/>
                        </a:rPr>
                        <a:t>Operating System</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55880">
                        <a:lnSpc>
                          <a:spcPct val="130000"/>
                        </a:lnSpc>
                        <a:spcBef>
                          <a:spcPts val="5"/>
                        </a:spcBef>
                        <a:spcAft>
                          <a:spcPts val="600"/>
                        </a:spcAft>
                      </a:pPr>
                      <a:r>
                        <a:rPr lang="en-GB" sz="1200" kern="100" dirty="0">
                          <a:effectLst/>
                        </a:rPr>
                        <a:t>Window 11</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143762628"/>
                  </a:ext>
                </a:extLst>
              </a:tr>
            </a:tbl>
          </a:graphicData>
        </a:graphic>
      </p:graphicFrame>
      <p:sp>
        <p:nvSpPr>
          <p:cNvPr id="7" name="Rectangle 2">
            <a:extLst>
              <a:ext uri="{FF2B5EF4-FFF2-40B4-BE49-F238E27FC236}">
                <a16:creationId xmlns:a16="http://schemas.microsoft.com/office/drawing/2014/main" id="{ED24666E-ACAC-9D78-0ADF-2FDC79B6A5E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26511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36BC1-3CCD-67D7-C20C-46B63F891996}"/>
              </a:ext>
            </a:extLst>
          </p:cNvPr>
          <p:cNvSpPr>
            <a:spLocks noGrp="1"/>
          </p:cNvSpPr>
          <p:nvPr>
            <p:ph type="title"/>
          </p:nvPr>
        </p:nvSpPr>
        <p:spPr>
          <a:xfrm>
            <a:off x="838200" y="19295"/>
            <a:ext cx="10515600" cy="1325563"/>
          </a:xfrm>
        </p:spPr>
        <p:txBody>
          <a:bodyPr/>
          <a:lstStyle/>
          <a:p>
            <a:r>
              <a:rPr lang="en-IN" dirty="0"/>
              <a:t>1.7.	ASSUMPTIONS AND CONSTRAINTS</a:t>
            </a:r>
          </a:p>
        </p:txBody>
      </p:sp>
      <p:sp>
        <p:nvSpPr>
          <p:cNvPr id="3" name="Content Placeholder 2">
            <a:extLst>
              <a:ext uri="{FF2B5EF4-FFF2-40B4-BE49-F238E27FC236}">
                <a16:creationId xmlns:a16="http://schemas.microsoft.com/office/drawing/2014/main" id="{6DEB954B-D3B0-8C02-DCC5-3EFD6C60D2AE}"/>
              </a:ext>
            </a:extLst>
          </p:cNvPr>
          <p:cNvSpPr>
            <a:spLocks noGrp="1"/>
          </p:cNvSpPr>
          <p:nvPr>
            <p:ph idx="1"/>
          </p:nvPr>
        </p:nvSpPr>
        <p:spPr>
          <a:xfrm>
            <a:off x="838200" y="1137469"/>
            <a:ext cx="10515600" cy="4351338"/>
          </a:xfrm>
        </p:spPr>
        <p:txBody>
          <a:bodyPr>
            <a:noAutofit/>
          </a:bodyPr>
          <a:lstStyle/>
          <a:p>
            <a:pPr marL="0" indent="0">
              <a:buNone/>
            </a:pPr>
            <a:r>
              <a:rPr lang="en-US" sz="1600" dirty="0"/>
              <a:t>Assumptions:</a:t>
            </a:r>
          </a:p>
          <a:p>
            <a:r>
              <a:rPr lang="en-US" sz="1600" dirty="0"/>
              <a:t>Data Accuracy: The system relies on accurate and up-to-date product information, including item descriptions, unique identifiers (SKUs), and quantities.</a:t>
            </a:r>
          </a:p>
          <a:p>
            <a:r>
              <a:rPr lang="en-US" sz="1600" dirty="0"/>
              <a:t>Data Integrity: Inventory data needs to be entered and maintained consistently. This ensures the system operates on reliable information and minimizes errors.</a:t>
            </a:r>
          </a:p>
          <a:p>
            <a:r>
              <a:rPr lang="en-US" sz="1600" dirty="0"/>
              <a:t>User Access Controls: Clearly defined user roles and permissions are crucial for data security. This ensures only authorized personnel can access and modify inventory data.</a:t>
            </a:r>
          </a:p>
          <a:p>
            <a:r>
              <a:rPr lang="en-US" sz="1600" dirty="0"/>
              <a:t>System Integration: An effective IMS integrates seamlessly with other relevant business applications such as accounting and sales software. This promotes data flow and eliminates the need for manual data entry across various systems.</a:t>
            </a:r>
          </a:p>
          <a:p>
            <a:pPr marL="0" indent="0">
              <a:buNone/>
            </a:pPr>
            <a:r>
              <a:rPr lang="en-US" sz="1600" dirty="0"/>
              <a:t>Constraints:</a:t>
            </a:r>
          </a:p>
          <a:p>
            <a:r>
              <a:rPr lang="en-US" sz="1600" dirty="0"/>
              <a:t>Data Accuracy: An IMS is only as good as the data it receives. Inaccurate or inconsistent data entry can lead to misleading inventory levels and hinder the system's effectiveness.</a:t>
            </a:r>
          </a:p>
          <a:p>
            <a:r>
              <a:rPr lang="en-US" sz="1600" dirty="0"/>
              <a:t>System Limitations: While IMS offer automation, complex business rules or specific needs might require customization beyond the system's base functionalities.</a:t>
            </a:r>
          </a:p>
          <a:p>
            <a:r>
              <a:rPr lang="en-US" sz="1600" dirty="0"/>
              <a:t>Integration Challenges: Integrating an IMS with existing enterprise software (ERP, accounting) can be complex and require additional resources.</a:t>
            </a:r>
          </a:p>
          <a:p>
            <a:r>
              <a:rPr lang="en-US" sz="1600" dirty="0"/>
              <a:t>Implementation Costs: The initial investment in acquiring and implementing an IMS can be significant, especially for larger businesses.</a:t>
            </a:r>
          </a:p>
          <a:p>
            <a:r>
              <a:rPr lang="en-US" sz="1600" dirty="0"/>
              <a:t>User Adoption: Successful utilization requires proper training for staff to effectively navigate the system and leverage its features</a:t>
            </a:r>
            <a:r>
              <a:rPr lang="en-IN" sz="1600" dirty="0"/>
              <a:t>.</a:t>
            </a:r>
            <a:endParaRPr lang="en-US" sz="1600" dirty="0"/>
          </a:p>
        </p:txBody>
      </p:sp>
    </p:spTree>
    <p:extLst>
      <p:ext uri="{BB962C8B-B14F-4D97-AF65-F5344CB8AC3E}">
        <p14:creationId xmlns:p14="http://schemas.microsoft.com/office/powerpoint/2010/main" val="3211147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1A0FD-EA2E-8EB4-E46C-87EDFCE0C88D}"/>
              </a:ext>
            </a:extLst>
          </p:cNvPr>
          <p:cNvSpPr>
            <a:spLocks noGrp="1"/>
          </p:cNvSpPr>
          <p:nvPr>
            <p:ph type="title"/>
          </p:nvPr>
        </p:nvSpPr>
        <p:spPr/>
        <p:txBody>
          <a:bodyPr/>
          <a:lstStyle/>
          <a:p>
            <a:r>
              <a:rPr lang="en-US" dirty="0"/>
              <a:t>1.8.	ADVANTAGES AND LIMITATIONS OF THE PROPOSED SYSTEM</a:t>
            </a:r>
            <a:endParaRPr lang="en-IN" dirty="0"/>
          </a:p>
        </p:txBody>
      </p:sp>
      <p:sp>
        <p:nvSpPr>
          <p:cNvPr id="3" name="Content Placeholder 2">
            <a:extLst>
              <a:ext uri="{FF2B5EF4-FFF2-40B4-BE49-F238E27FC236}">
                <a16:creationId xmlns:a16="http://schemas.microsoft.com/office/drawing/2014/main" id="{21838D31-8B5E-E36C-7D25-A7DDE5B69677}"/>
              </a:ext>
            </a:extLst>
          </p:cNvPr>
          <p:cNvSpPr>
            <a:spLocks noGrp="1"/>
          </p:cNvSpPr>
          <p:nvPr>
            <p:ph idx="1"/>
          </p:nvPr>
        </p:nvSpPr>
        <p:spPr/>
        <p:txBody>
          <a:bodyPr>
            <a:normAutofit fontScale="77500" lnSpcReduction="20000"/>
          </a:bodyPr>
          <a:lstStyle/>
          <a:p>
            <a:pPr marL="0" indent="0">
              <a:buNone/>
            </a:pPr>
            <a:r>
              <a:rPr lang="en-US" sz="2300" dirty="0"/>
              <a:t>Advantages:</a:t>
            </a:r>
          </a:p>
          <a:p>
            <a:endParaRPr lang="en-US" sz="2300" dirty="0"/>
          </a:p>
          <a:p>
            <a:r>
              <a:rPr lang="en-US" sz="2300" dirty="0"/>
              <a:t>All operations are accurate and user friendly. A modern approach to work in less time.</a:t>
            </a:r>
          </a:p>
          <a:p>
            <a:r>
              <a:rPr lang="en-US" sz="2300" dirty="0"/>
              <a:t>Facilitate to maintain Stock and records.</a:t>
            </a:r>
          </a:p>
          <a:p>
            <a:r>
              <a:rPr lang="en-US" sz="2300" dirty="0"/>
              <a:t>We get Proper Details on Inventory.</a:t>
            </a:r>
          </a:p>
          <a:p>
            <a:r>
              <a:rPr lang="en-US" sz="2300" dirty="0"/>
              <a:t>Easy to maintain Product.</a:t>
            </a:r>
          </a:p>
          <a:p>
            <a:r>
              <a:rPr lang="en-US" sz="2300" dirty="0"/>
              <a:t>Lead Time Awareness for acquiring new stock.</a:t>
            </a:r>
          </a:p>
          <a:p>
            <a:endParaRPr lang="en-US" sz="2300" dirty="0"/>
          </a:p>
          <a:p>
            <a:pPr marL="0" indent="0">
              <a:buNone/>
            </a:pPr>
            <a:r>
              <a:rPr lang="en-US" sz="2300" dirty="0"/>
              <a:t>Limitations:</a:t>
            </a:r>
          </a:p>
          <a:p>
            <a:r>
              <a:rPr lang="en-US" sz="2300" dirty="0"/>
              <a:t>Stock must be always updated.</a:t>
            </a:r>
          </a:p>
          <a:p>
            <a:r>
              <a:rPr lang="en-US" sz="2300" dirty="0"/>
              <a:t>Technology Constraints works with specific type of hardware-based </a:t>
            </a:r>
          </a:p>
          <a:p>
            <a:r>
              <a:rPr lang="en-US" sz="2300" dirty="0"/>
              <a:t>System cannot be customized.</a:t>
            </a:r>
          </a:p>
          <a:p>
            <a:r>
              <a:rPr lang="en-US" sz="2300" dirty="0"/>
              <a:t>Always need a person to update the system and generate an invoice.</a:t>
            </a:r>
          </a:p>
          <a:p>
            <a:endParaRPr lang="en-IN" dirty="0"/>
          </a:p>
        </p:txBody>
      </p:sp>
    </p:spTree>
    <p:extLst>
      <p:ext uri="{BB962C8B-B14F-4D97-AF65-F5344CB8AC3E}">
        <p14:creationId xmlns:p14="http://schemas.microsoft.com/office/powerpoint/2010/main" val="1558603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AFE99-9E2F-6C13-AA6A-E2AC86FBDEA5}"/>
              </a:ext>
            </a:extLst>
          </p:cNvPr>
          <p:cNvSpPr>
            <a:spLocks noGrp="1"/>
          </p:cNvSpPr>
          <p:nvPr>
            <p:ph type="title"/>
          </p:nvPr>
        </p:nvSpPr>
        <p:spPr/>
        <p:txBody>
          <a:bodyPr/>
          <a:lstStyle/>
          <a:p>
            <a:r>
              <a:rPr lang="en-IN" dirty="0"/>
              <a:t>2.	REQUIREMENT DETERMINATION &amp; ANALYSIS</a:t>
            </a:r>
          </a:p>
        </p:txBody>
      </p:sp>
      <p:sp>
        <p:nvSpPr>
          <p:cNvPr id="3" name="Content Placeholder 2">
            <a:extLst>
              <a:ext uri="{FF2B5EF4-FFF2-40B4-BE49-F238E27FC236}">
                <a16:creationId xmlns:a16="http://schemas.microsoft.com/office/drawing/2014/main" id="{7BA96B9D-2776-01DC-13BB-D69C48E03BFC}"/>
              </a:ext>
            </a:extLst>
          </p:cNvPr>
          <p:cNvSpPr>
            <a:spLocks noGrp="1"/>
          </p:cNvSpPr>
          <p:nvPr>
            <p:ph idx="1"/>
          </p:nvPr>
        </p:nvSpPr>
        <p:spPr/>
        <p:txBody>
          <a:bodyPr>
            <a:normAutofit fontScale="62500" lnSpcReduction="20000"/>
          </a:bodyPr>
          <a:lstStyle/>
          <a:p>
            <a:pPr marL="0" indent="0">
              <a:buNone/>
            </a:pPr>
            <a:r>
              <a:rPr lang="en-IN" dirty="0"/>
              <a:t>2.1.	REQUIREMENT DETERMINATION</a:t>
            </a:r>
          </a:p>
          <a:p>
            <a:endParaRPr lang="en-IN" dirty="0"/>
          </a:p>
          <a:p>
            <a:pPr marL="0" indent="0">
              <a:buNone/>
            </a:pPr>
            <a:r>
              <a:rPr lang="en-IN" dirty="0"/>
              <a:t>⮚ Hardware Requirement:</a:t>
            </a:r>
          </a:p>
          <a:p>
            <a:endParaRPr lang="en-IN" dirty="0"/>
          </a:p>
          <a:p>
            <a:pPr marL="0" indent="0">
              <a:buNone/>
            </a:pPr>
            <a:r>
              <a:rPr lang="en-IN" dirty="0"/>
              <a:t>● Intel(R) Core (TM) i5-6040U CPU@ 2.3GHz</a:t>
            </a:r>
          </a:p>
          <a:p>
            <a:pPr marL="0" indent="0">
              <a:buNone/>
            </a:pPr>
            <a:r>
              <a:rPr lang="en-IN" dirty="0"/>
              <a:t>● 4GB Ram</a:t>
            </a:r>
          </a:p>
          <a:p>
            <a:pPr marL="0" indent="0">
              <a:buNone/>
            </a:pPr>
            <a:r>
              <a:rPr lang="en-IN" dirty="0"/>
              <a:t>● Hard Disk 1GB(HDD)</a:t>
            </a:r>
          </a:p>
          <a:p>
            <a:endParaRPr lang="en-IN" dirty="0"/>
          </a:p>
          <a:p>
            <a:pPr marL="0" indent="0">
              <a:buNone/>
            </a:pPr>
            <a:r>
              <a:rPr lang="en-IN" dirty="0"/>
              <a:t>⮚ Software Requirement:</a:t>
            </a:r>
          </a:p>
          <a:p>
            <a:endParaRPr lang="en-IN" dirty="0"/>
          </a:p>
          <a:p>
            <a:pPr marL="0" indent="0">
              <a:buNone/>
            </a:pPr>
            <a:r>
              <a:rPr lang="en-IN" dirty="0"/>
              <a:t>● Operating System: Windows 11</a:t>
            </a:r>
          </a:p>
          <a:p>
            <a:pPr marL="0" indent="0">
              <a:buNone/>
            </a:pPr>
            <a:r>
              <a:rPr lang="en-IN" dirty="0"/>
              <a:t>● Database: MySQL </a:t>
            </a:r>
            <a:r>
              <a:rPr lang="en-IN" dirty="0" err="1"/>
              <a:t>Xampp</a:t>
            </a:r>
            <a:endParaRPr lang="en-IN" dirty="0"/>
          </a:p>
          <a:p>
            <a:pPr marL="0" indent="0">
              <a:buNone/>
            </a:pPr>
            <a:r>
              <a:rPr lang="en-IN" dirty="0"/>
              <a:t>● Development Tool: Visual Studio Code</a:t>
            </a:r>
          </a:p>
          <a:p>
            <a:endParaRPr lang="en-IN" dirty="0"/>
          </a:p>
        </p:txBody>
      </p:sp>
    </p:spTree>
    <p:extLst>
      <p:ext uri="{BB962C8B-B14F-4D97-AF65-F5344CB8AC3E}">
        <p14:creationId xmlns:p14="http://schemas.microsoft.com/office/powerpoint/2010/main" val="1734222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0A55-518C-1BBC-2688-E26E56BD44E4}"/>
              </a:ext>
            </a:extLst>
          </p:cNvPr>
          <p:cNvSpPr>
            <a:spLocks noGrp="1"/>
          </p:cNvSpPr>
          <p:nvPr>
            <p:ph type="title"/>
          </p:nvPr>
        </p:nvSpPr>
        <p:spPr/>
        <p:txBody>
          <a:bodyPr/>
          <a:lstStyle/>
          <a:p>
            <a:r>
              <a:rPr lang="en-IN" dirty="0"/>
              <a:t>2.2.	TARGETED USERS:</a:t>
            </a:r>
          </a:p>
        </p:txBody>
      </p:sp>
      <p:sp>
        <p:nvSpPr>
          <p:cNvPr id="3" name="Content Placeholder 2">
            <a:extLst>
              <a:ext uri="{FF2B5EF4-FFF2-40B4-BE49-F238E27FC236}">
                <a16:creationId xmlns:a16="http://schemas.microsoft.com/office/drawing/2014/main" id="{7C699ED6-4E39-AFE2-30E1-39D76D224CBF}"/>
              </a:ext>
            </a:extLst>
          </p:cNvPr>
          <p:cNvSpPr>
            <a:spLocks noGrp="1"/>
          </p:cNvSpPr>
          <p:nvPr>
            <p:ph idx="1"/>
          </p:nvPr>
        </p:nvSpPr>
        <p:spPr/>
        <p:txBody>
          <a:bodyPr/>
          <a:lstStyle/>
          <a:p>
            <a:r>
              <a:rPr lang="en-US" dirty="0"/>
              <a:t>1)	Admin</a:t>
            </a:r>
          </a:p>
          <a:p>
            <a:r>
              <a:rPr lang="en-US" dirty="0"/>
              <a:t>•	The administrator who oversees operating this system and can make changes in system.</a:t>
            </a:r>
          </a:p>
          <a:p>
            <a:endParaRPr lang="en-IN" dirty="0"/>
          </a:p>
        </p:txBody>
      </p:sp>
    </p:spTree>
    <p:extLst>
      <p:ext uri="{BB962C8B-B14F-4D97-AF65-F5344CB8AC3E}">
        <p14:creationId xmlns:p14="http://schemas.microsoft.com/office/powerpoint/2010/main" val="1079320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7CF49-F7E9-B00F-CA74-15221B6F55F5}"/>
              </a:ext>
            </a:extLst>
          </p:cNvPr>
          <p:cNvSpPr>
            <a:spLocks noGrp="1"/>
          </p:cNvSpPr>
          <p:nvPr>
            <p:ph type="title"/>
          </p:nvPr>
        </p:nvSpPr>
        <p:spPr/>
        <p:txBody>
          <a:bodyPr/>
          <a:lstStyle/>
          <a:p>
            <a:r>
              <a:rPr lang="en-IN" dirty="0"/>
              <a:t>2.3.	Proposed Timeline Chart:</a:t>
            </a:r>
          </a:p>
        </p:txBody>
      </p:sp>
      <p:pic>
        <p:nvPicPr>
          <p:cNvPr id="4" name="Content Placeholder 3">
            <a:extLst>
              <a:ext uri="{FF2B5EF4-FFF2-40B4-BE49-F238E27FC236}">
                <a16:creationId xmlns:a16="http://schemas.microsoft.com/office/drawing/2014/main" id="{73C32038-03AA-E56E-5B15-0782865149D4}"/>
              </a:ext>
            </a:extLst>
          </p:cNvPr>
          <p:cNvPicPr>
            <a:picLocks noGrp="1" noChangeAspect="1"/>
          </p:cNvPicPr>
          <p:nvPr>
            <p:ph idx="1"/>
          </p:nvPr>
        </p:nvPicPr>
        <p:blipFill>
          <a:blip r:embed="rId2"/>
          <a:stretch>
            <a:fillRect/>
          </a:stretch>
        </p:blipFill>
        <p:spPr>
          <a:xfrm>
            <a:off x="2286297" y="1825625"/>
            <a:ext cx="7619405" cy="4351338"/>
          </a:xfrm>
          <a:prstGeom prst="rect">
            <a:avLst/>
          </a:prstGeom>
        </p:spPr>
      </p:pic>
    </p:spTree>
    <p:extLst>
      <p:ext uri="{BB962C8B-B14F-4D97-AF65-F5344CB8AC3E}">
        <p14:creationId xmlns:p14="http://schemas.microsoft.com/office/powerpoint/2010/main" val="3126247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54E37-0BDA-A2B1-B3E8-10B5ECD1071C}"/>
              </a:ext>
            </a:extLst>
          </p:cNvPr>
          <p:cNvSpPr>
            <a:spLocks noGrp="1"/>
          </p:cNvSpPr>
          <p:nvPr>
            <p:ph type="title"/>
          </p:nvPr>
        </p:nvSpPr>
        <p:spPr/>
        <p:txBody>
          <a:bodyPr/>
          <a:lstStyle/>
          <a:p>
            <a:r>
              <a:rPr lang="en-IN" dirty="0"/>
              <a:t>3. System Design:</a:t>
            </a:r>
          </a:p>
        </p:txBody>
      </p:sp>
      <p:sp>
        <p:nvSpPr>
          <p:cNvPr id="3" name="Content Placeholder 2">
            <a:extLst>
              <a:ext uri="{FF2B5EF4-FFF2-40B4-BE49-F238E27FC236}">
                <a16:creationId xmlns:a16="http://schemas.microsoft.com/office/drawing/2014/main" id="{1AE80F98-A00A-9032-73C2-286559F1486E}"/>
              </a:ext>
            </a:extLst>
          </p:cNvPr>
          <p:cNvSpPr>
            <a:spLocks noGrp="1"/>
          </p:cNvSpPr>
          <p:nvPr>
            <p:ph idx="1"/>
          </p:nvPr>
        </p:nvSpPr>
        <p:spPr/>
        <p:txBody>
          <a:bodyPr/>
          <a:lstStyle/>
          <a:p>
            <a:r>
              <a:rPr lang="en-IN" dirty="0"/>
              <a:t>3.1. Use Case Diagram:</a:t>
            </a:r>
          </a:p>
          <a:p>
            <a:endParaRPr lang="en-IN" dirty="0"/>
          </a:p>
        </p:txBody>
      </p:sp>
      <p:pic>
        <p:nvPicPr>
          <p:cNvPr id="7" name="Picture 6">
            <a:extLst>
              <a:ext uri="{FF2B5EF4-FFF2-40B4-BE49-F238E27FC236}">
                <a16:creationId xmlns:a16="http://schemas.microsoft.com/office/drawing/2014/main" id="{EC5DF30D-8156-6BC1-F7F3-0342EAEDF9C9}"/>
              </a:ext>
            </a:extLst>
          </p:cNvPr>
          <p:cNvPicPr>
            <a:picLocks noChangeAspect="1"/>
          </p:cNvPicPr>
          <p:nvPr/>
        </p:nvPicPr>
        <p:blipFill>
          <a:blip r:embed="rId2"/>
          <a:stretch>
            <a:fillRect/>
          </a:stretch>
        </p:blipFill>
        <p:spPr>
          <a:xfrm>
            <a:off x="3119402" y="2249940"/>
            <a:ext cx="4956234" cy="4527932"/>
          </a:xfrm>
          <a:prstGeom prst="rect">
            <a:avLst/>
          </a:prstGeom>
        </p:spPr>
      </p:pic>
    </p:spTree>
    <p:extLst>
      <p:ext uri="{BB962C8B-B14F-4D97-AF65-F5344CB8AC3E}">
        <p14:creationId xmlns:p14="http://schemas.microsoft.com/office/powerpoint/2010/main" val="2578965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236CA-107F-6264-5F2D-F13D6DB0039C}"/>
              </a:ext>
            </a:extLst>
          </p:cNvPr>
          <p:cNvSpPr>
            <a:spLocks noGrp="1"/>
          </p:cNvSpPr>
          <p:nvPr>
            <p:ph type="title"/>
          </p:nvPr>
        </p:nvSpPr>
        <p:spPr/>
        <p:txBody>
          <a:bodyPr/>
          <a:lstStyle/>
          <a:p>
            <a:r>
              <a:rPr lang="en-IN" dirty="0"/>
              <a:t>3.2. Class Diagram:</a:t>
            </a:r>
          </a:p>
        </p:txBody>
      </p:sp>
      <p:pic>
        <p:nvPicPr>
          <p:cNvPr id="4" name="Content Placeholder 3">
            <a:extLst>
              <a:ext uri="{FF2B5EF4-FFF2-40B4-BE49-F238E27FC236}">
                <a16:creationId xmlns:a16="http://schemas.microsoft.com/office/drawing/2014/main" id="{F2D33346-D96A-6720-C28D-97B86A62BE72}"/>
              </a:ext>
            </a:extLst>
          </p:cNvPr>
          <p:cNvPicPr>
            <a:picLocks noGrp="1" noChangeAspect="1"/>
          </p:cNvPicPr>
          <p:nvPr>
            <p:ph idx="1"/>
          </p:nvPr>
        </p:nvPicPr>
        <p:blipFill>
          <a:blip r:embed="rId2"/>
          <a:stretch>
            <a:fillRect/>
          </a:stretch>
        </p:blipFill>
        <p:spPr>
          <a:xfrm>
            <a:off x="3443706" y="1385741"/>
            <a:ext cx="4334059" cy="5366258"/>
          </a:xfrm>
          <a:prstGeom prst="rect">
            <a:avLst/>
          </a:prstGeom>
        </p:spPr>
      </p:pic>
    </p:spTree>
    <p:extLst>
      <p:ext uri="{BB962C8B-B14F-4D97-AF65-F5344CB8AC3E}">
        <p14:creationId xmlns:p14="http://schemas.microsoft.com/office/powerpoint/2010/main" val="2679252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01C50-5787-5AFA-D935-41BEC17E15CF}"/>
              </a:ext>
            </a:extLst>
          </p:cNvPr>
          <p:cNvSpPr>
            <a:spLocks noGrp="1"/>
          </p:cNvSpPr>
          <p:nvPr>
            <p:ph type="title"/>
          </p:nvPr>
        </p:nvSpPr>
        <p:spPr/>
        <p:txBody>
          <a:bodyPr/>
          <a:lstStyle/>
          <a:p>
            <a:r>
              <a:rPr lang="en-IN" dirty="0"/>
              <a:t>3.3.  Interaction Diagram</a:t>
            </a:r>
          </a:p>
        </p:txBody>
      </p:sp>
      <p:sp>
        <p:nvSpPr>
          <p:cNvPr id="3" name="Content Placeholder 2">
            <a:extLst>
              <a:ext uri="{FF2B5EF4-FFF2-40B4-BE49-F238E27FC236}">
                <a16:creationId xmlns:a16="http://schemas.microsoft.com/office/drawing/2014/main" id="{FFA2B360-8756-CD19-3640-854829B2B463}"/>
              </a:ext>
            </a:extLst>
          </p:cNvPr>
          <p:cNvSpPr>
            <a:spLocks noGrp="1"/>
          </p:cNvSpPr>
          <p:nvPr>
            <p:ph idx="1"/>
          </p:nvPr>
        </p:nvSpPr>
        <p:spPr/>
        <p:txBody>
          <a:bodyPr/>
          <a:lstStyle/>
          <a:p>
            <a:r>
              <a:rPr lang="en-GB" sz="1800" u="none" strike="noStrike" dirty="0">
                <a:solidFill>
                  <a:srgbClr val="000000"/>
                </a:solidFill>
                <a:effectLst/>
                <a:latin typeface="Times New Roman" panose="02020603050405020304" pitchFamily="18" charset="0"/>
                <a:ea typeface="Times New Roman" panose="02020603050405020304" pitchFamily="18" charset="0"/>
                <a:cs typeface="Noto Sans Symbols"/>
              </a:rPr>
              <a:t>Interaction Diagram for Login System:</a:t>
            </a:r>
            <a:endParaRPr lang="en-IN" sz="1800" u="none" strike="noStrike" dirty="0">
              <a:effectLst/>
              <a:latin typeface="Noto Sans Symbols"/>
              <a:ea typeface="Noto Sans Symbols"/>
              <a:cs typeface="Noto Sans Symbols"/>
            </a:endParaRPr>
          </a:p>
          <a:p>
            <a:endParaRPr lang="en-IN" dirty="0"/>
          </a:p>
        </p:txBody>
      </p:sp>
      <p:pic>
        <p:nvPicPr>
          <p:cNvPr id="4" name="Picture 3">
            <a:extLst>
              <a:ext uri="{FF2B5EF4-FFF2-40B4-BE49-F238E27FC236}">
                <a16:creationId xmlns:a16="http://schemas.microsoft.com/office/drawing/2014/main" id="{E2088F70-2C2A-2F6E-7D26-60D234BAE368}"/>
              </a:ext>
            </a:extLst>
          </p:cNvPr>
          <p:cNvPicPr>
            <a:picLocks noChangeAspect="1"/>
          </p:cNvPicPr>
          <p:nvPr/>
        </p:nvPicPr>
        <p:blipFill>
          <a:blip r:embed="rId2"/>
          <a:stretch>
            <a:fillRect/>
          </a:stretch>
        </p:blipFill>
        <p:spPr>
          <a:xfrm>
            <a:off x="3230245" y="2245670"/>
            <a:ext cx="5731510" cy="4440555"/>
          </a:xfrm>
          <a:prstGeom prst="rect">
            <a:avLst/>
          </a:prstGeom>
        </p:spPr>
      </p:pic>
    </p:spTree>
    <p:extLst>
      <p:ext uri="{BB962C8B-B14F-4D97-AF65-F5344CB8AC3E}">
        <p14:creationId xmlns:p14="http://schemas.microsoft.com/office/powerpoint/2010/main" val="1964540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FEF720-3CC8-4D6E-5735-8BCD2D175BBD}"/>
              </a:ext>
            </a:extLst>
          </p:cNvPr>
          <p:cNvSpPr>
            <a:spLocks noGrp="1"/>
          </p:cNvSpPr>
          <p:nvPr>
            <p:ph idx="1"/>
          </p:nvPr>
        </p:nvSpPr>
        <p:spPr>
          <a:xfrm>
            <a:off x="838200" y="339365"/>
            <a:ext cx="10515600" cy="5837598"/>
          </a:xfrm>
        </p:spPr>
        <p:txBody>
          <a:bodyPr/>
          <a:lstStyle/>
          <a:p>
            <a:r>
              <a:rPr lang="en-GB" sz="1800" u="none" strike="noStrike" dirty="0">
                <a:solidFill>
                  <a:srgbClr val="000000"/>
                </a:solidFill>
                <a:effectLst/>
                <a:latin typeface="Times New Roman" panose="02020603050405020304" pitchFamily="18" charset="0"/>
                <a:ea typeface="Times New Roman" panose="02020603050405020304" pitchFamily="18" charset="0"/>
                <a:cs typeface="Noto Sans Symbols"/>
              </a:rPr>
              <a:t>Interaction Diagram for Add Brand:</a:t>
            </a:r>
            <a:endParaRPr lang="en-IN" sz="1800" u="none" strike="noStrike" dirty="0">
              <a:effectLst/>
              <a:latin typeface="Noto Sans Symbols"/>
              <a:ea typeface="Noto Sans Symbols"/>
              <a:cs typeface="Noto Sans Symbols"/>
            </a:endParaRPr>
          </a:p>
          <a:p>
            <a:endParaRPr lang="en-IN" dirty="0"/>
          </a:p>
        </p:txBody>
      </p:sp>
      <p:pic>
        <p:nvPicPr>
          <p:cNvPr id="4" name="Picture 3">
            <a:extLst>
              <a:ext uri="{FF2B5EF4-FFF2-40B4-BE49-F238E27FC236}">
                <a16:creationId xmlns:a16="http://schemas.microsoft.com/office/drawing/2014/main" id="{5E1C4EBC-BEB2-D49D-9BB3-153A46AE6767}"/>
              </a:ext>
            </a:extLst>
          </p:cNvPr>
          <p:cNvPicPr>
            <a:picLocks noChangeAspect="1"/>
          </p:cNvPicPr>
          <p:nvPr/>
        </p:nvPicPr>
        <p:blipFill>
          <a:blip r:embed="rId2"/>
          <a:stretch>
            <a:fillRect/>
          </a:stretch>
        </p:blipFill>
        <p:spPr>
          <a:xfrm>
            <a:off x="3230245" y="1088707"/>
            <a:ext cx="5731510" cy="4680585"/>
          </a:xfrm>
          <a:prstGeom prst="rect">
            <a:avLst/>
          </a:prstGeom>
        </p:spPr>
      </p:pic>
    </p:spTree>
    <p:extLst>
      <p:ext uri="{BB962C8B-B14F-4D97-AF65-F5344CB8AC3E}">
        <p14:creationId xmlns:p14="http://schemas.microsoft.com/office/powerpoint/2010/main" val="3638681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598918-278E-986D-3A31-5DC4CE50F246}"/>
              </a:ext>
            </a:extLst>
          </p:cNvPr>
          <p:cNvSpPr>
            <a:spLocks noGrp="1"/>
          </p:cNvSpPr>
          <p:nvPr>
            <p:ph idx="1"/>
          </p:nvPr>
        </p:nvSpPr>
        <p:spPr>
          <a:xfrm>
            <a:off x="838200" y="216816"/>
            <a:ext cx="10515600" cy="5960147"/>
          </a:xfrm>
        </p:spPr>
        <p:txBody>
          <a:bodyPr/>
          <a:lstStyle/>
          <a:p>
            <a:r>
              <a:rPr lang="en-IN" dirty="0"/>
              <a:t>Interaction Diagram for Manage Brand:</a:t>
            </a:r>
          </a:p>
          <a:p>
            <a:endParaRPr lang="en-IN" dirty="0"/>
          </a:p>
        </p:txBody>
      </p:sp>
      <p:pic>
        <p:nvPicPr>
          <p:cNvPr id="6" name="Picture 5">
            <a:extLst>
              <a:ext uri="{FF2B5EF4-FFF2-40B4-BE49-F238E27FC236}">
                <a16:creationId xmlns:a16="http://schemas.microsoft.com/office/drawing/2014/main" id="{72B67642-4CD6-E202-1B9A-E822933B6064}"/>
              </a:ext>
            </a:extLst>
          </p:cNvPr>
          <p:cNvPicPr>
            <a:picLocks noChangeAspect="1"/>
          </p:cNvPicPr>
          <p:nvPr/>
        </p:nvPicPr>
        <p:blipFill>
          <a:blip r:embed="rId2"/>
          <a:stretch>
            <a:fillRect/>
          </a:stretch>
        </p:blipFill>
        <p:spPr>
          <a:xfrm>
            <a:off x="3230245" y="929005"/>
            <a:ext cx="5731510" cy="4999990"/>
          </a:xfrm>
          <a:prstGeom prst="rect">
            <a:avLst/>
          </a:prstGeom>
        </p:spPr>
      </p:pic>
    </p:spTree>
    <p:extLst>
      <p:ext uri="{BB962C8B-B14F-4D97-AF65-F5344CB8AC3E}">
        <p14:creationId xmlns:p14="http://schemas.microsoft.com/office/powerpoint/2010/main" val="3911539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3CDF0D-FB96-29C4-D808-53521E261207}"/>
              </a:ext>
            </a:extLst>
          </p:cNvPr>
          <p:cNvSpPr>
            <a:spLocks noGrp="1"/>
          </p:cNvSpPr>
          <p:nvPr>
            <p:ph idx="1"/>
          </p:nvPr>
        </p:nvSpPr>
        <p:spPr>
          <a:xfrm>
            <a:off x="838200" y="273377"/>
            <a:ext cx="10515600" cy="5903586"/>
          </a:xfrm>
        </p:spPr>
        <p:txBody>
          <a:bodyPr/>
          <a:lstStyle/>
          <a:p>
            <a:r>
              <a:rPr lang="en-US" dirty="0"/>
              <a:t>Interaction Diagram for Add Categories:</a:t>
            </a:r>
            <a:endParaRPr lang="en-IN" dirty="0"/>
          </a:p>
        </p:txBody>
      </p:sp>
      <p:pic>
        <p:nvPicPr>
          <p:cNvPr id="5" name="Picture 4">
            <a:extLst>
              <a:ext uri="{FF2B5EF4-FFF2-40B4-BE49-F238E27FC236}">
                <a16:creationId xmlns:a16="http://schemas.microsoft.com/office/drawing/2014/main" id="{F1820313-F901-A5B9-235E-FCA874D50615}"/>
              </a:ext>
            </a:extLst>
          </p:cNvPr>
          <p:cNvPicPr>
            <a:picLocks noChangeAspect="1"/>
          </p:cNvPicPr>
          <p:nvPr/>
        </p:nvPicPr>
        <p:blipFill>
          <a:blip r:embed="rId2"/>
          <a:stretch>
            <a:fillRect/>
          </a:stretch>
        </p:blipFill>
        <p:spPr>
          <a:xfrm>
            <a:off x="3230245" y="1078230"/>
            <a:ext cx="5731510" cy="4701540"/>
          </a:xfrm>
          <a:prstGeom prst="rect">
            <a:avLst/>
          </a:prstGeom>
        </p:spPr>
      </p:pic>
    </p:spTree>
    <p:extLst>
      <p:ext uri="{BB962C8B-B14F-4D97-AF65-F5344CB8AC3E}">
        <p14:creationId xmlns:p14="http://schemas.microsoft.com/office/powerpoint/2010/main" val="3930781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9BE946-4647-AE30-BD2B-C68B35A482A6}"/>
              </a:ext>
            </a:extLst>
          </p:cNvPr>
          <p:cNvSpPr>
            <a:spLocks noGrp="1"/>
          </p:cNvSpPr>
          <p:nvPr>
            <p:ph idx="1"/>
          </p:nvPr>
        </p:nvSpPr>
        <p:spPr>
          <a:xfrm>
            <a:off x="838200" y="443060"/>
            <a:ext cx="10515600" cy="5733903"/>
          </a:xfrm>
        </p:spPr>
        <p:txBody>
          <a:bodyPr/>
          <a:lstStyle/>
          <a:p>
            <a:r>
              <a:rPr lang="en-IN" dirty="0"/>
              <a:t>Interaction Diagram for Manage Categories:</a:t>
            </a:r>
          </a:p>
        </p:txBody>
      </p:sp>
      <p:pic>
        <p:nvPicPr>
          <p:cNvPr id="4" name="Picture 3">
            <a:extLst>
              <a:ext uri="{FF2B5EF4-FFF2-40B4-BE49-F238E27FC236}">
                <a16:creationId xmlns:a16="http://schemas.microsoft.com/office/drawing/2014/main" id="{A6914ED0-4B52-BDB1-CF18-5287ED5D754D}"/>
              </a:ext>
            </a:extLst>
          </p:cNvPr>
          <p:cNvPicPr>
            <a:picLocks noChangeAspect="1"/>
          </p:cNvPicPr>
          <p:nvPr/>
        </p:nvPicPr>
        <p:blipFill>
          <a:blip r:embed="rId2"/>
          <a:stretch>
            <a:fillRect/>
          </a:stretch>
        </p:blipFill>
        <p:spPr>
          <a:xfrm>
            <a:off x="3154830" y="1142048"/>
            <a:ext cx="5731510" cy="5034915"/>
          </a:xfrm>
          <a:prstGeom prst="rect">
            <a:avLst/>
          </a:prstGeom>
        </p:spPr>
      </p:pic>
    </p:spTree>
    <p:extLst>
      <p:ext uri="{BB962C8B-B14F-4D97-AF65-F5344CB8AC3E}">
        <p14:creationId xmlns:p14="http://schemas.microsoft.com/office/powerpoint/2010/main" val="2023451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324A84-912C-17C1-0C3B-91BD35E3448D}"/>
              </a:ext>
            </a:extLst>
          </p:cNvPr>
          <p:cNvSpPr>
            <a:spLocks noGrp="1"/>
          </p:cNvSpPr>
          <p:nvPr>
            <p:ph idx="1"/>
          </p:nvPr>
        </p:nvSpPr>
        <p:spPr>
          <a:xfrm>
            <a:off x="838200" y="197963"/>
            <a:ext cx="10515600" cy="5979000"/>
          </a:xfrm>
        </p:spPr>
        <p:txBody>
          <a:bodyPr/>
          <a:lstStyle/>
          <a:p>
            <a:r>
              <a:rPr lang="en-US" dirty="0"/>
              <a:t>Interaction Diagram for Add Product:</a:t>
            </a:r>
          </a:p>
          <a:p>
            <a:endParaRPr lang="en-IN" dirty="0"/>
          </a:p>
        </p:txBody>
      </p:sp>
      <p:pic>
        <p:nvPicPr>
          <p:cNvPr id="4" name="Picture 3">
            <a:extLst>
              <a:ext uri="{FF2B5EF4-FFF2-40B4-BE49-F238E27FC236}">
                <a16:creationId xmlns:a16="http://schemas.microsoft.com/office/drawing/2014/main" id="{C58A7133-45C6-1A4D-AE9D-39B247DD0C82}"/>
              </a:ext>
            </a:extLst>
          </p:cNvPr>
          <p:cNvPicPr>
            <a:picLocks noChangeAspect="1"/>
          </p:cNvPicPr>
          <p:nvPr/>
        </p:nvPicPr>
        <p:blipFill>
          <a:blip r:embed="rId2"/>
          <a:stretch>
            <a:fillRect/>
          </a:stretch>
        </p:blipFill>
        <p:spPr>
          <a:xfrm>
            <a:off x="3230245" y="1039495"/>
            <a:ext cx="5731510" cy="4779010"/>
          </a:xfrm>
          <a:prstGeom prst="rect">
            <a:avLst/>
          </a:prstGeom>
        </p:spPr>
      </p:pic>
    </p:spTree>
    <p:extLst>
      <p:ext uri="{BB962C8B-B14F-4D97-AF65-F5344CB8AC3E}">
        <p14:creationId xmlns:p14="http://schemas.microsoft.com/office/powerpoint/2010/main" val="42804807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DA389-7238-A35A-052B-13958BB56AD8}"/>
              </a:ext>
            </a:extLst>
          </p:cNvPr>
          <p:cNvSpPr>
            <a:spLocks noGrp="1"/>
          </p:cNvSpPr>
          <p:nvPr>
            <p:ph idx="1"/>
          </p:nvPr>
        </p:nvSpPr>
        <p:spPr>
          <a:xfrm>
            <a:off x="677944" y="251349"/>
            <a:ext cx="10515600" cy="4351338"/>
          </a:xfrm>
        </p:spPr>
        <p:txBody>
          <a:bodyPr/>
          <a:lstStyle/>
          <a:p>
            <a:r>
              <a:rPr lang="en-GB" sz="1800" kern="0" dirty="0">
                <a:solidFill>
                  <a:srgbClr val="000000"/>
                </a:solidFill>
                <a:effectLst/>
                <a:latin typeface="Times New Roman" panose="02020603050405020304" pitchFamily="18" charset="0"/>
                <a:ea typeface="Times New Roman" panose="02020603050405020304" pitchFamily="18" charset="0"/>
              </a:rPr>
              <a:t>Interaction Diagram for Manage Product:</a:t>
            </a:r>
            <a:endParaRPr lang="en-IN" dirty="0"/>
          </a:p>
        </p:txBody>
      </p:sp>
      <p:pic>
        <p:nvPicPr>
          <p:cNvPr id="4" name="Picture 3">
            <a:extLst>
              <a:ext uri="{FF2B5EF4-FFF2-40B4-BE49-F238E27FC236}">
                <a16:creationId xmlns:a16="http://schemas.microsoft.com/office/drawing/2014/main" id="{B9211048-3BA4-6884-D315-7DC0D7663638}"/>
              </a:ext>
            </a:extLst>
          </p:cNvPr>
          <p:cNvPicPr>
            <a:picLocks noChangeAspect="1"/>
          </p:cNvPicPr>
          <p:nvPr/>
        </p:nvPicPr>
        <p:blipFill>
          <a:blip r:embed="rId2"/>
          <a:stretch>
            <a:fillRect/>
          </a:stretch>
        </p:blipFill>
        <p:spPr>
          <a:xfrm>
            <a:off x="3230245" y="924560"/>
            <a:ext cx="5731510" cy="5008880"/>
          </a:xfrm>
          <a:prstGeom prst="rect">
            <a:avLst/>
          </a:prstGeom>
        </p:spPr>
      </p:pic>
    </p:spTree>
    <p:extLst>
      <p:ext uri="{BB962C8B-B14F-4D97-AF65-F5344CB8AC3E}">
        <p14:creationId xmlns:p14="http://schemas.microsoft.com/office/powerpoint/2010/main" val="6154097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217C4B-BF5C-B472-9AA6-044123E1443B}"/>
              </a:ext>
            </a:extLst>
          </p:cNvPr>
          <p:cNvSpPr>
            <a:spLocks noGrp="1"/>
          </p:cNvSpPr>
          <p:nvPr>
            <p:ph idx="1"/>
          </p:nvPr>
        </p:nvSpPr>
        <p:spPr>
          <a:xfrm>
            <a:off x="838200" y="263951"/>
            <a:ext cx="10515600" cy="5913012"/>
          </a:xfrm>
        </p:spPr>
        <p:txBody>
          <a:bodyPr/>
          <a:lstStyle/>
          <a:p>
            <a:r>
              <a:rPr lang="en-GB" sz="1800" u="none" strike="noStrike" dirty="0">
                <a:solidFill>
                  <a:srgbClr val="000000"/>
                </a:solidFill>
                <a:effectLst/>
                <a:latin typeface="Times New Roman" panose="02020603050405020304" pitchFamily="18" charset="0"/>
                <a:ea typeface="Times New Roman" panose="02020603050405020304" pitchFamily="18" charset="0"/>
                <a:cs typeface="Noto Sans Symbols"/>
              </a:rPr>
              <a:t>Interaction Diagram for Add Invoice:</a:t>
            </a:r>
            <a:endParaRPr lang="en-IN" sz="1800" u="none" strike="noStrike" dirty="0">
              <a:effectLst/>
              <a:latin typeface="Noto Sans Symbols"/>
              <a:ea typeface="Noto Sans Symbols"/>
              <a:cs typeface="Noto Sans Symbols"/>
            </a:endParaRPr>
          </a:p>
          <a:p>
            <a:endParaRPr lang="en-IN" dirty="0"/>
          </a:p>
        </p:txBody>
      </p:sp>
      <p:pic>
        <p:nvPicPr>
          <p:cNvPr id="4" name="Picture 3">
            <a:extLst>
              <a:ext uri="{FF2B5EF4-FFF2-40B4-BE49-F238E27FC236}">
                <a16:creationId xmlns:a16="http://schemas.microsoft.com/office/drawing/2014/main" id="{93827B2A-130E-6C99-01E5-1F96CC98BA76}"/>
              </a:ext>
            </a:extLst>
          </p:cNvPr>
          <p:cNvPicPr>
            <a:picLocks noChangeAspect="1"/>
          </p:cNvPicPr>
          <p:nvPr/>
        </p:nvPicPr>
        <p:blipFill>
          <a:blip r:embed="rId2"/>
          <a:stretch>
            <a:fillRect/>
          </a:stretch>
        </p:blipFill>
        <p:spPr>
          <a:xfrm>
            <a:off x="3230245" y="1076325"/>
            <a:ext cx="5731510" cy="4705350"/>
          </a:xfrm>
          <a:prstGeom prst="rect">
            <a:avLst/>
          </a:prstGeom>
        </p:spPr>
      </p:pic>
    </p:spTree>
    <p:extLst>
      <p:ext uri="{BB962C8B-B14F-4D97-AF65-F5344CB8AC3E}">
        <p14:creationId xmlns:p14="http://schemas.microsoft.com/office/powerpoint/2010/main" val="36749750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839309-4266-14BA-6B44-42B03A5DA088}"/>
              </a:ext>
            </a:extLst>
          </p:cNvPr>
          <p:cNvSpPr>
            <a:spLocks noGrp="1"/>
          </p:cNvSpPr>
          <p:nvPr>
            <p:ph idx="1"/>
          </p:nvPr>
        </p:nvSpPr>
        <p:spPr>
          <a:xfrm>
            <a:off x="838200" y="348792"/>
            <a:ext cx="10515600" cy="5828171"/>
          </a:xfrm>
        </p:spPr>
        <p:txBody>
          <a:bodyPr/>
          <a:lstStyle/>
          <a:p>
            <a:r>
              <a:rPr lang="en-GB" sz="1800" kern="0" dirty="0">
                <a:solidFill>
                  <a:srgbClr val="000000"/>
                </a:solidFill>
                <a:effectLst/>
                <a:latin typeface="Times New Roman" panose="02020603050405020304" pitchFamily="18" charset="0"/>
                <a:ea typeface="Times New Roman" panose="02020603050405020304" pitchFamily="18" charset="0"/>
              </a:rPr>
              <a:t>Interaction Diagram for Manage Invoice:</a:t>
            </a:r>
            <a:endParaRPr lang="en-IN" dirty="0"/>
          </a:p>
        </p:txBody>
      </p:sp>
      <p:pic>
        <p:nvPicPr>
          <p:cNvPr id="4" name="Picture 3">
            <a:extLst>
              <a:ext uri="{FF2B5EF4-FFF2-40B4-BE49-F238E27FC236}">
                <a16:creationId xmlns:a16="http://schemas.microsoft.com/office/drawing/2014/main" id="{D8CB81EC-583E-DDD4-EE2A-508E412D84C1}"/>
              </a:ext>
            </a:extLst>
          </p:cNvPr>
          <p:cNvPicPr>
            <a:picLocks noChangeAspect="1"/>
          </p:cNvPicPr>
          <p:nvPr/>
        </p:nvPicPr>
        <p:blipFill>
          <a:blip r:embed="rId2"/>
          <a:stretch>
            <a:fillRect/>
          </a:stretch>
        </p:blipFill>
        <p:spPr>
          <a:xfrm>
            <a:off x="3230245" y="902970"/>
            <a:ext cx="5731510" cy="5052060"/>
          </a:xfrm>
          <a:prstGeom prst="rect">
            <a:avLst/>
          </a:prstGeom>
        </p:spPr>
      </p:pic>
    </p:spTree>
    <p:extLst>
      <p:ext uri="{BB962C8B-B14F-4D97-AF65-F5344CB8AC3E}">
        <p14:creationId xmlns:p14="http://schemas.microsoft.com/office/powerpoint/2010/main" val="13129956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EACD01-5740-067A-3865-D1B91EDB25FD}"/>
              </a:ext>
            </a:extLst>
          </p:cNvPr>
          <p:cNvSpPr>
            <a:spLocks noGrp="1"/>
          </p:cNvSpPr>
          <p:nvPr>
            <p:ph idx="1"/>
          </p:nvPr>
        </p:nvSpPr>
        <p:spPr>
          <a:xfrm>
            <a:off x="838200" y="245097"/>
            <a:ext cx="10515600" cy="5931866"/>
          </a:xfrm>
        </p:spPr>
        <p:txBody>
          <a:bodyPr/>
          <a:lstStyle/>
          <a:p>
            <a:r>
              <a:rPr lang="en-GB" sz="1800" u="none" strike="noStrike" dirty="0">
                <a:solidFill>
                  <a:srgbClr val="000000"/>
                </a:solidFill>
                <a:effectLst/>
                <a:latin typeface="Times New Roman" panose="02020603050405020304" pitchFamily="18" charset="0"/>
                <a:ea typeface="Times New Roman" panose="02020603050405020304" pitchFamily="18" charset="0"/>
                <a:cs typeface="Noto Sans Symbols"/>
              </a:rPr>
              <a:t>Interaction Diagram for Download Invoice:</a:t>
            </a:r>
            <a:endParaRPr lang="en-IN" sz="1800" u="none" strike="noStrike" dirty="0">
              <a:effectLst/>
              <a:latin typeface="Noto Sans Symbols"/>
              <a:ea typeface="Noto Sans Symbols"/>
              <a:cs typeface="Noto Sans Symbols"/>
            </a:endParaRPr>
          </a:p>
          <a:p>
            <a:endParaRPr lang="en-IN" dirty="0"/>
          </a:p>
        </p:txBody>
      </p:sp>
      <p:pic>
        <p:nvPicPr>
          <p:cNvPr id="4" name="Picture 3">
            <a:extLst>
              <a:ext uri="{FF2B5EF4-FFF2-40B4-BE49-F238E27FC236}">
                <a16:creationId xmlns:a16="http://schemas.microsoft.com/office/drawing/2014/main" id="{D2D0C6F3-C512-9785-DE80-7F686B414AD6}"/>
              </a:ext>
            </a:extLst>
          </p:cNvPr>
          <p:cNvPicPr>
            <a:picLocks noChangeAspect="1"/>
          </p:cNvPicPr>
          <p:nvPr/>
        </p:nvPicPr>
        <p:blipFill>
          <a:blip r:embed="rId2"/>
          <a:stretch>
            <a:fillRect/>
          </a:stretch>
        </p:blipFill>
        <p:spPr>
          <a:xfrm>
            <a:off x="3230245" y="916622"/>
            <a:ext cx="5731510" cy="5024755"/>
          </a:xfrm>
          <a:prstGeom prst="rect">
            <a:avLst/>
          </a:prstGeom>
        </p:spPr>
      </p:pic>
    </p:spTree>
    <p:extLst>
      <p:ext uri="{BB962C8B-B14F-4D97-AF65-F5344CB8AC3E}">
        <p14:creationId xmlns:p14="http://schemas.microsoft.com/office/powerpoint/2010/main" val="10062558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D7E91-4C18-D452-E471-596CA3156899}"/>
              </a:ext>
            </a:extLst>
          </p:cNvPr>
          <p:cNvSpPr>
            <a:spLocks noGrp="1"/>
          </p:cNvSpPr>
          <p:nvPr>
            <p:ph type="title"/>
          </p:nvPr>
        </p:nvSpPr>
        <p:spPr/>
        <p:txBody>
          <a:bodyPr/>
          <a:lstStyle/>
          <a:p>
            <a:r>
              <a:rPr lang="en-IN" dirty="0"/>
              <a:t>3.4.  Activity Diagram</a:t>
            </a:r>
          </a:p>
        </p:txBody>
      </p:sp>
      <p:sp>
        <p:nvSpPr>
          <p:cNvPr id="3" name="Content Placeholder 2">
            <a:extLst>
              <a:ext uri="{FF2B5EF4-FFF2-40B4-BE49-F238E27FC236}">
                <a16:creationId xmlns:a16="http://schemas.microsoft.com/office/drawing/2014/main" id="{10EEEF4B-16E9-0DDC-4679-8ECF6E2254BE}"/>
              </a:ext>
            </a:extLst>
          </p:cNvPr>
          <p:cNvSpPr>
            <a:spLocks noGrp="1"/>
          </p:cNvSpPr>
          <p:nvPr>
            <p:ph idx="1"/>
          </p:nvPr>
        </p:nvSpPr>
        <p:spPr/>
        <p:txBody>
          <a:bodyPr/>
          <a:lstStyle/>
          <a:p>
            <a:r>
              <a:rPr lang="en-GB" sz="1800" kern="0" dirty="0">
                <a:solidFill>
                  <a:srgbClr val="000000"/>
                </a:solidFill>
                <a:effectLst/>
                <a:latin typeface="Times New Roman" panose="02020603050405020304" pitchFamily="18" charset="0"/>
                <a:ea typeface="Times New Roman" panose="02020603050405020304" pitchFamily="18" charset="0"/>
              </a:rPr>
              <a:t>Activity Diagram for Login</a:t>
            </a:r>
            <a:endParaRPr lang="en-IN" dirty="0"/>
          </a:p>
        </p:txBody>
      </p:sp>
      <p:pic>
        <p:nvPicPr>
          <p:cNvPr id="4" name="Picture 3">
            <a:extLst>
              <a:ext uri="{FF2B5EF4-FFF2-40B4-BE49-F238E27FC236}">
                <a16:creationId xmlns:a16="http://schemas.microsoft.com/office/drawing/2014/main" id="{5A28B425-7A3F-197E-66CF-A1988EFC5B9A}"/>
              </a:ext>
            </a:extLst>
          </p:cNvPr>
          <p:cNvPicPr>
            <a:picLocks noChangeAspect="1"/>
          </p:cNvPicPr>
          <p:nvPr/>
        </p:nvPicPr>
        <p:blipFill>
          <a:blip r:embed="rId2"/>
          <a:stretch>
            <a:fillRect/>
          </a:stretch>
        </p:blipFill>
        <p:spPr>
          <a:xfrm>
            <a:off x="4281487" y="2171065"/>
            <a:ext cx="3629025" cy="4686935"/>
          </a:xfrm>
          <a:prstGeom prst="rect">
            <a:avLst/>
          </a:prstGeom>
        </p:spPr>
      </p:pic>
    </p:spTree>
    <p:extLst>
      <p:ext uri="{BB962C8B-B14F-4D97-AF65-F5344CB8AC3E}">
        <p14:creationId xmlns:p14="http://schemas.microsoft.com/office/powerpoint/2010/main" val="24747393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F65FF5-A64B-35EF-9ACC-A47FBD749060}"/>
              </a:ext>
            </a:extLst>
          </p:cNvPr>
          <p:cNvSpPr>
            <a:spLocks noGrp="1"/>
          </p:cNvSpPr>
          <p:nvPr>
            <p:ph idx="1"/>
          </p:nvPr>
        </p:nvSpPr>
        <p:spPr>
          <a:xfrm>
            <a:off x="838200" y="348792"/>
            <a:ext cx="10515600" cy="5828171"/>
          </a:xfrm>
        </p:spPr>
        <p:txBody>
          <a:bodyPr/>
          <a:lstStyle/>
          <a:p>
            <a:r>
              <a:rPr lang="en-GB" sz="1800" dirty="0">
                <a:solidFill>
                  <a:srgbClr val="000000"/>
                </a:solidFill>
                <a:effectLst/>
                <a:latin typeface="Times New Roman" panose="02020603050405020304" pitchFamily="18" charset="0"/>
                <a:ea typeface="Times New Roman" panose="02020603050405020304" pitchFamily="18" charset="0"/>
              </a:rPr>
              <a:t>Activity Diagram for Manage Brand:</a:t>
            </a:r>
            <a:endParaRPr lang="en-IN" sz="1800" dirty="0">
              <a:effectLst/>
              <a:latin typeface="Calibri" panose="020F0502020204030204" pitchFamily="34" charset="0"/>
              <a:ea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E200CD8D-B78A-D9A6-9C23-5C1E016C74EB}"/>
              </a:ext>
            </a:extLst>
          </p:cNvPr>
          <p:cNvPicPr>
            <a:picLocks noChangeAspect="1"/>
          </p:cNvPicPr>
          <p:nvPr/>
        </p:nvPicPr>
        <p:blipFill>
          <a:blip r:embed="rId2"/>
          <a:stretch>
            <a:fillRect/>
          </a:stretch>
        </p:blipFill>
        <p:spPr>
          <a:xfrm>
            <a:off x="3633470" y="780415"/>
            <a:ext cx="4925060" cy="6077585"/>
          </a:xfrm>
          <a:prstGeom prst="rect">
            <a:avLst/>
          </a:prstGeom>
        </p:spPr>
      </p:pic>
    </p:spTree>
    <p:extLst>
      <p:ext uri="{BB962C8B-B14F-4D97-AF65-F5344CB8AC3E}">
        <p14:creationId xmlns:p14="http://schemas.microsoft.com/office/powerpoint/2010/main" val="34579201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E05551-16EF-AA3A-CC0C-AD59C80D30E5}"/>
              </a:ext>
            </a:extLst>
          </p:cNvPr>
          <p:cNvSpPr>
            <a:spLocks noGrp="1"/>
          </p:cNvSpPr>
          <p:nvPr>
            <p:ph idx="1"/>
          </p:nvPr>
        </p:nvSpPr>
        <p:spPr>
          <a:xfrm>
            <a:off x="838200" y="226243"/>
            <a:ext cx="10515600" cy="5950720"/>
          </a:xfrm>
        </p:spPr>
        <p:txBody>
          <a:bodyPr/>
          <a:lstStyle/>
          <a:p>
            <a:r>
              <a:rPr lang="en-GB" sz="1800" dirty="0">
                <a:solidFill>
                  <a:srgbClr val="000000"/>
                </a:solidFill>
                <a:effectLst/>
                <a:latin typeface="Times New Roman" panose="02020603050405020304" pitchFamily="18" charset="0"/>
                <a:ea typeface="Times New Roman" panose="02020603050405020304" pitchFamily="18" charset="0"/>
              </a:rPr>
              <a:t>Activity Diagram for Manage Categories:</a:t>
            </a:r>
            <a:endParaRPr lang="en-IN" sz="1800" dirty="0">
              <a:effectLst/>
              <a:latin typeface="Calibri" panose="020F0502020204030204" pitchFamily="34" charset="0"/>
              <a:ea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FC711D3C-4E62-15E5-6E7E-F0B1B0C90ED6}"/>
              </a:ext>
            </a:extLst>
          </p:cNvPr>
          <p:cNvPicPr>
            <a:picLocks noChangeAspect="1"/>
          </p:cNvPicPr>
          <p:nvPr/>
        </p:nvPicPr>
        <p:blipFill>
          <a:blip r:embed="rId2"/>
          <a:stretch>
            <a:fillRect/>
          </a:stretch>
        </p:blipFill>
        <p:spPr>
          <a:xfrm>
            <a:off x="3300095" y="681037"/>
            <a:ext cx="5591810" cy="6087110"/>
          </a:xfrm>
          <a:prstGeom prst="rect">
            <a:avLst/>
          </a:prstGeom>
        </p:spPr>
      </p:pic>
    </p:spTree>
    <p:extLst>
      <p:ext uri="{BB962C8B-B14F-4D97-AF65-F5344CB8AC3E}">
        <p14:creationId xmlns:p14="http://schemas.microsoft.com/office/powerpoint/2010/main" val="32325257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69B527-5DED-67E0-2415-E25F0D347418}"/>
              </a:ext>
            </a:extLst>
          </p:cNvPr>
          <p:cNvSpPr>
            <a:spLocks noGrp="1"/>
          </p:cNvSpPr>
          <p:nvPr>
            <p:ph idx="1"/>
          </p:nvPr>
        </p:nvSpPr>
        <p:spPr>
          <a:xfrm>
            <a:off x="838200" y="377072"/>
            <a:ext cx="10515600" cy="5799891"/>
          </a:xfrm>
        </p:spPr>
        <p:txBody>
          <a:bodyPr/>
          <a:lstStyle/>
          <a:p>
            <a:r>
              <a:rPr lang="en-GB" sz="1800" dirty="0">
                <a:solidFill>
                  <a:srgbClr val="000000"/>
                </a:solidFill>
                <a:effectLst/>
                <a:latin typeface="Times New Roman" panose="02020603050405020304" pitchFamily="18" charset="0"/>
                <a:ea typeface="Times New Roman" panose="02020603050405020304" pitchFamily="18" charset="0"/>
              </a:rPr>
              <a:t>Activity Diagram for Manage Product:</a:t>
            </a:r>
            <a:endParaRPr lang="en-IN" sz="1800" dirty="0">
              <a:effectLst/>
              <a:latin typeface="Calibri" panose="020F0502020204030204" pitchFamily="34" charset="0"/>
              <a:ea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548D6FAC-2D64-5D9F-DD1B-096E0B6EE027}"/>
              </a:ext>
            </a:extLst>
          </p:cNvPr>
          <p:cNvPicPr>
            <a:picLocks noChangeAspect="1"/>
          </p:cNvPicPr>
          <p:nvPr/>
        </p:nvPicPr>
        <p:blipFill>
          <a:blip r:embed="rId2"/>
          <a:stretch>
            <a:fillRect/>
          </a:stretch>
        </p:blipFill>
        <p:spPr>
          <a:xfrm>
            <a:off x="3414395" y="777692"/>
            <a:ext cx="5363210" cy="6039485"/>
          </a:xfrm>
          <a:prstGeom prst="rect">
            <a:avLst/>
          </a:prstGeom>
        </p:spPr>
      </p:pic>
    </p:spTree>
    <p:extLst>
      <p:ext uri="{BB962C8B-B14F-4D97-AF65-F5344CB8AC3E}">
        <p14:creationId xmlns:p14="http://schemas.microsoft.com/office/powerpoint/2010/main" val="33912211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66DBC4-9135-BDA1-13C3-FC6481350427}"/>
              </a:ext>
            </a:extLst>
          </p:cNvPr>
          <p:cNvSpPr>
            <a:spLocks noGrp="1"/>
          </p:cNvSpPr>
          <p:nvPr>
            <p:ph idx="1"/>
          </p:nvPr>
        </p:nvSpPr>
        <p:spPr>
          <a:xfrm>
            <a:off x="838200" y="169682"/>
            <a:ext cx="10515600" cy="6007281"/>
          </a:xfrm>
        </p:spPr>
        <p:txBody>
          <a:bodyPr/>
          <a:lstStyle/>
          <a:p>
            <a:r>
              <a:rPr lang="en-GB" sz="1800" dirty="0">
                <a:solidFill>
                  <a:srgbClr val="000000"/>
                </a:solidFill>
                <a:effectLst/>
                <a:latin typeface="Times New Roman" panose="02020603050405020304" pitchFamily="18" charset="0"/>
                <a:ea typeface="Times New Roman" panose="02020603050405020304" pitchFamily="18" charset="0"/>
              </a:rPr>
              <a:t>Activity Diagram for Manage Invoice:</a:t>
            </a:r>
            <a:endParaRPr lang="en-IN" sz="1800" dirty="0">
              <a:effectLst/>
              <a:latin typeface="Calibri" panose="020F0502020204030204" pitchFamily="34" charset="0"/>
              <a:ea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4355FAC2-3C73-D4C7-6C70-AA5ED792A051}"/>
              </a:ext>
            </a:extLst>
          </p:cNvPr>
          <p:cNvPicPr>
            <a:picLocks noChangeAspect="1"/>
          </p:cNvPicPr>
          <p:nvPr/>
        </p:nvPicPr>
        <p:blipFill>
          <a:blip r:embed="rId2"/>
          <a:stretch>
            <a:fillRect/>
          </a:stretch>
        </p:blipFill>
        <p:spPr>
          <a:xfrm>
            <a:off x="3230245" y="829627"/>
            <a:ext cx="5731510" cy="5198745"/>
          </a:xfrm>
          <a:prstGeom prst="rect">
            <a:avLst/>
          </a:prstGeom>
        </p:spPr>
      </p:pic>
    </p:spTree>
    <p:extLst>
      <p:ext uri="{BB962C8B-B14F-4D97-AF65-F5344CB8AC3E}">
        <p14:creationId xmlns:p14="http://schemas.microsoft.com/office/powerpoint/2010/main" val="37821234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2037F-C1AA-6E4F-C073-6D5A7B3E13F8}"/>
              </a:ext>
            </a:extLst>
          </p:cNvPr>
          <p:cNvSpPr>
            <a:spLocks noGrp="1"/>
          </p:cNvSpPr>
          <p:nvPr>
            <p:ph type="title"/>
          </p:nvPr>
        </p:nvSpPr>
        <p:spPr/>
        <p:txBody>
          <a:bodyPr/>
          <a:lstStyle/>
          <a:p>
            <a:r>
              <a:rPr lang="en-IN" dirty="0"/>
              <a:t>3.5. Data Dictionary:</a:t>
            </a:r>
          </a:p>
        </p:txBody>
      </p:sp>
      <p:pic>
        <p:nvPicPr>
          <p:cNvPr id="4" name="Content Placeholder 3">
            <a:extLst>
              <a:ext uri="{FF2B5EF4-FFF2-40B4-BE49-F238E27FC236}">
                <a16:creationId xmlns:a16="http://schemas.microsoft.com/office/drawing/2014/main" id="{8934CBFB-726F-40F8-8DC7-1BDE471591B4}"/>
              </a:ext>
            </a:extLst>
          </p:cNvPr>
          <p:cNvPicPr>
            <a:picLocks noGrp="1" noChangeAspect="1"/>
          </p:cNvPicPr>
          <p:nvPr>
            <p:ph idx="1"/>
          </p:nvPr>
        </p:nvPicPr>
        <p:blipFill>
          <a:blip r:embed="rId2"/>
          <a:stretch>
            <a:fillRect/>
          </a:stretch>
        </p:blipFill>
        <p:spPr>
          <a:xfrm>
            <a:off x="838200" y="1319752"/>
            <a:ext cx="4533536" cy="5335571"/>
          </a:xfrm>
          <a:prstGeom prst="rect">
            <a:avLst/>
          </a:prstGeom>
        </p:spPr>
      </p:pic>
      <p:pic>
        <p:nvPicPr>
          <p:cNvPr id="5" name="Picture 4">
            <a:extLst>
              <a:ext uri="{FF2B5EF4-FFF2-40B4-BE49-F238E27FC236}">
                <a16:creationId xmlns:a16="http://schemas.microsoft.com/office/drawing/2014/main" id="{A033CC12-8A1C-BE76-DBA9-05754C2589B8}"/>
              </a:ext>
            </a:extLst>
          </p:cNvPr>
          <p:cNvPicPr>
            <a:picLocks noChangeAspect="1"/>
          </p:cNvPicPr>
          <p:nvPr/>
        </p:nvPicPr>
        <p:blipFill>
          <a:blip r:embed="rId3"/>
          <a:stretch>
            <a:fillRect/>
          </a:stretch>
        </p:blipFill>
        <p:spPr>
          <a:xfrm>
            <a:off x="5996148" y="1102145"/>
            <a:ext cx="4733240" cy="5081840"/>
          </a:xfrm>
          <a:prstGeom prst="rect">
            <a:avLst/>
          </a:prstGeom>
        </p:spPr>
      </p:pic>
    </p:spTree>
    <p:extLst>
      <p:ext uri="{BB962C8B-B14F-4D97-AF65-F5344CB8AC3E}">
        <p14:creationId xmlns:p14="http://schemas.microsoft.com/office/powerpoint/2010/main" val="29948154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060FDFC-B4C5-8DF7-F18B-D0C5C0FC3982}"/>
              </a:ext>
            </a:extLst>
          </p:cNvPr>
          <p:cNvPicPr>
            <a:picLocks noGrp="1" noChangeAspect="1"/>
          </p:cNvPicPr>
          <p:nvPr>
            <p:ph idx="1"/>
          </p:nvPr>
        </p:nvPicPr>
        <p:blipFill>
          <a:blip r:embed="rId2"/>
          <a:stretch>
            <a:fillRect/>
          </a:stretch>
        </p:blipFill>
        <p:spPr>
          <a:xfrm>
            <a:off x="1074202" y="799629"/>
            <a:ext cx="4591307" cy="5386761"/>
          </a:xfrm>
          <a:prstGeom prst="rect">
            <a:avLst/>
          </a:prstGeom>
        </p:spPr>
      </p:pic>
      <p:pic>
        <p:nvPicPr>
          <p:cNvPr id="5" name="Picture 4">
            <a:extLst>
              <a:ext uri="{FF2B5EF4-FFF2-40B4-BE49-F238E27FC236}">
                <a16:creationId xmlns:a16="http://schemas.microsoft.com/office/drawing/2014/main" id="{3C36994C-AD40-E630-64CC-FCD83B87974F}"/>
              </a:ext>
            </a:extLst>
          </p:cNvPr>
          <p:cNvPicPr>
            <a:picLocks noChangeAspect="1"/>
          </p:cNvPicPr>
          <p:nvPr/>
        </p:nvPicPr>
        <p:blipFill>
          <a:blip r:embed="rId3"/>
          <a:stretch>
            <a:fillRect/>
          </a:stretch>
        </p:blipFill>
        <p:spPr>
          <a:xfrm>
            <a:off x="5777845" y="1216058"/>
            <a:ext cx="6210948" cy="4695853"/>
          </a:xfrm>
          <a:prstGeom prst="rect">
            <a:avLst/>
          </a:prstGeom>
        </p:spPr>
      </p:pic>
    </p:spTree>
    <p:extLst>
      <p:ext uri="{BB962C8B-B14F-4D97-AF65-F5344CB8AC3E}">
        <p14:creationId xmlns:p14="http://schemas.microsoft.com/office/powerpoint/2010/main" val="10262457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BC253-E5A4-CC84-0E3A-00F226ABA4E7}"/>
              </a:ext>
            </a:extLst>
          </p:cNvPr>
          <p:cNvSpPr>
            <a:spLocks noGrp="1"/>
          </p:cNvSpPr>
          <p:nvPr>
            <p:ph type="title"/>
          </p:nvPr>
        </p:nvSpPr>
        <p:spPr/>
        <p:txBody>
          <a:bodyPr/>
          <a:lstStyle/>
          <a:p>
            <a:r>
              <a:rPr lang="en-IN" dirty="0"/>
              <a:t>4.   Development:</a:t>
            </a:r>
          </a:p>
        </p:txBody>
      </p:sp>
      <p:sp>
        <p:nvSpPr>
          <p:cNvPr id="3" name="Content Placeholder 2">
            <a:extLst>
              <a:ext uri="{FF2B5EF4-FFF2-40B4-BE49-F238E27FC236}">
                <a16:creationId xmlns:a16="http://schemas.microsoft.com/office/drawing/2014/main" id="{5A2E5F5D-A76F-8862-9363-CD936F942D58}"/>
              </a:ext>
            </a:extLst>
          </p:cNvPr>
          <p:cNvSpPr>
            <a:spLocks noGrp="1"/>
          </p:cNvSpPr>
          <p:nvPr>
            <p:ph idx="1"/>
          </p:nvPr>
        </p:nvSpPr>
        <p:spPr/>
        <p:txBody>
          <a:bodyPr>
            <a:normAutofit/>
          </a:bodyPr>
          <a:lstStyle/>
          <a:p>
            <a:r>
              <a:rPr lang="en-US" sz="1600" dirty="0"/>
              <a:t>4.1.   Coding standards: </a:t>
            </a:r>
          </a:p>
          <a:p>
            <a:r>
              <a:rPr lang="en-US" sz="1600" dirty="0"/>
              <a:t>1.	Follow naming conventions in variable name and methods name.</a:t>
            </a:r>
          </a:p>
          <a:p>
            <a:r>
              <a:rPr lang="en-US" sz="1600" dirty="0"/>
              <a:t>2.	Give minimum two spaces between operator and operand.</a:t>
            </a:r>
          </a:p>
          <a:p>
            <a:r>
              <a:rPr lang="en-US" sz="1600" dirty="0"/>
              <a:t>3.	Give proper indentation.</a:t>
            </a:r>
          </a:p>
          <a:p>
            <a:endParaRPr lang="en-IN" sz="1600" dirty="0"/>
          </a:p>
        </p:txBody>
      </p:sp>
    </p:spTree>
    <p:extLst>
      <p:ext uri="{BB962C8B-B14F-4D97-AF65-F5344CB8AC3E}">
        <p14:creationId xmlns:p14="http://schemas.microsoft.com/office/powerpoint/2010/main" val="42279677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9926F2-C9BC-5A0C-FA90-691A5363CD7C}"/>
              </a:ext>
            </a:extLst>
          </p:cNvPr>
          <p:cNvSpPr>
            <a:spLocks noGrp="1"/>
          </p:cNvSpPr>
          <p:nvPr>
            <p:ph idx="1"/>
          </p:nvPr>
        </p:nvSpPr>
        <p:spPr>
          <a:xfrm>
            <a:off x="838200" y="348792"/>
            <a:ext cx="10515600" cy="5828171"/>
          </a:xfrm>
        </p:spPr>
        <p:txBody>
          <a:bodyPr/>
          <a:lstStyle/>
          <a:p>
            <a:r>
              <a:rPr lang="en-GB" sz="1800" dirty="0">
                <a:solidFill>
                  <a:srgbClr val="000000"/>
                </a:solidFill>
                <a:effectLst/>
                <a:latin typeface="Times New Roman" panose="02020603050405020304" pitchFamily="18" charset="0"/>
                <a:ea typeface="Times New Roman" panose="02020603050405020304" pitchFamily="18" charset="0"/>
              </a:rPr>
              <a:t>(1) </a:t>
            </a:r>
            <a:r>
              <a:rPr lang="en-GB" sz="1800" dirty="0" err="1">
                <a:solidFill>
                  <a:srgbClr val="000000"/>
                </a:solidFill>
                <a:effectLst/>
                <a:latin typeface="Times New Roman" panose="02020603050405020304" pitchFamily="18" charset="0"/>
                <a:ea typeface="Times New Roman" panose="02020603050405020304" pitchFamily="18" charset="0"/>
              </a:rPr>
              <a:t>addBrand.php</a:t>
            </a:r>
            <a:endParaRPr lang="en-IN" sz="1800" dirty="0">
              <a:effectLst/>
              <a:latin typeface="Calibri" panose="020F0502020204030204" pitchFamily="34" charset="0"/>
              <a:ea typeface="Times New Roman" panose="02020603050405020304" pitchFamily="18" charset="0"/>
            </a:endParaRPr>
          </a:p>
          <a:p>
            <a:endParaRPr lang="en-IN" dirty="0"/>
          </a:p>
        </p:txBody>
      </p:sp>
      <p:pic>
        <p:nvPicPr>
          <p:cNvPr id="7" name="Picture 6">
            <a:extLst>
              <a:ext uri="{FF2B5EF4-FFF2-40B4-BE49-F238E27FC236}">
                <a16:creationId xmlns:a16="http://schemas.microsoft.com/office/drawing/2014/main" id="{6CC708B2-2302-CE88-8E44-D51273CB03F1}"/>
              </a:ext>
            </a:extLst>
          </p:cNvPr>
          <p:cNvPicPr>
            <a:picLocks noChangeAspect="1"/>
          </p:cNvPicPr>
          <p:nvPr/>
        </p:nvPicPr>
        <p:blipFill>
          <a:blip r:embed="rId2"/>
          <a:stretch>
            <a:fillRect/>
          </a:stretch>
        </p:blipFill>
        <p:spPr>
          <a:xfrm>
            <a:off x="137474" y="1010144"/>
            <a:ext cx="5958526" cy="4837712"/>
          </a:xfrm>
          <a:prstGeom prst="rect">
            <a:avLst/>
          </a:prstGeom>
        </p:spPr>
      </p:pic>
      <p:pic>
        <p:nvPicPr>
          <p:cNvPr id="8" name="Picture 7">
            <a:extLst>
              <a:ext uri="{FF2B5EF4-FFF2-40B4-BE49-F238E27FC236}">
                <a16:creationId xmlns:a16="http://schemas.microsoft.com/office/drawing/2014/main" id="{4D52A122-D11B-CAC9-EAF0-CA55BC7E20D5}"/>
              </a:ext>
            </a:extLst>
          </p:cNvPr>
          <p:cNvPicPr>
            <a:picLocks noChangeAspect="1"/>
          </p:cNvPicPr>
          <p:nvPr/>
        </p:nvPicPr>
        <p:blipFill>
          <a:blip r:embed="rId3"/>
          <a:stretch>
            <a:fillRect/>
          </a:stretch>
        </p:blipFill>
        <p:spPr>
          <a:xfrm>
            <a:off x="6323016" y="1022202"/>
            <a:ext cx="5731510" cy="4825654"/>
          </a:xfrm>
          <a:prstGeom prst="rect">
            <a:avLst/>
          </a:prstGeom>
        </p:spPr>
      </p:pic>
    </p:spTree>
    <p:extLst>
      <p:ext uri="{BB962C8B-B14F-4D97-AF65-F5344CB8AC3E}">
        <p14:creationId xmlns:p14="http://schemas.microsoft.com/office/powerpoint/2010/main" val="30877200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09D6B0-5178-783B-A709-D2E86A31206D}"/>
              </a:ext>
            </a:extLst>
          </p:cNvPr>
          <p:cNvSpPr>
            <a:spLocks noGrp="1"/>
          </p:cNvSpPr>
          <p:nvPr>
            <p:ph idx="1"/>
          </p:nvPr>
        </p:nvSpPr>
        <p:spPr>
          <a:xfrm>
            <a:off x="838200" y="367645"/>
            <a:ext cx="10515600" cy="5809318"/>
          </a:xfrm>
        </p:spPr>
        <p:txBody>
          <a:bodyPr/>
          <a:lstStyle/>
          <a:p>
            <a:r>
              <a:rPr lang="en-GB" sz="1800" b="1" dirty="0">
                <a:effectLst/>
                <a:latin typeface="Times New Roman" panose="02020603050405020304" pitchFamily="18" charset="0"/>
                <a:ea typeface="Times New Roman" panose="02020603050405020304" pitchFamily="18" charset="0"/>
              </a:rPr>
              <a:t>(2) </a:t>
            </a:r>
            <a:r>
              <a:rPr lang="en-GB" sz="1800" b="1" dirty="0" err="1">
                <a:effectLst/>
                <a:latin typeface="Times New Roman" panose="02020603050405020304" pitchFamily="18" charset="0"/>
                <a:ea typeface="Times New Roman" panose="02020603050405020304" pitchFamily="18" charset="0"/>
              </a:rPr>
              <a:t>createbrand.php</a:t>
            </a:r>
            <a:endParaRPr lang="en-IN" sz="1800" dirty="0">
              <a:effectLst/>
              <a:latin typeface="Calibri" panose="020F0502020204030204" pitchFamily="34" charset="0"/>
              <a:ea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58F1F9F1-102B-A47F-C00C-7588E70C4033}"/>
              </a:ext>
            </a:extLst>
          </p:cNvPr>
          <p:cNvPicPr>
            <a:picLocks noChangeAspect="1"/>
          </p:cNvPicPr>
          <p:nvPr/>
        </p:nvPicPr>
        <p:blipFill>
          <a:blip r:embed="rId2"/>
          <a:stretch>
            <a:fillRect/>
          </a:stretch>
        </p:blipFill>
        <p:spPr>
          <a:xfrm>
            <a:off x="2237965" y="1810338"/>
            <a:ext cx="7176277" cy="3911731"/>
          </a:xfrm>
          <a:prstGeom prst="rect">
            <a:avLst/>
          </a:prstGeom>
        </p:spPr>
      </p:pic>
    </p:spTree>
    <p:extLst>
      <p:ext uri="{BB962C8B-B14F-4D97-AF65-F5344CB8AC3E}">
        <p14:creationId xmlns:p14="http://schemas.microsoft.com/office/powerpoint/2010/main" val="36472721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3F72A-EB60-D2D0-FCCC-4C824F69D80A}"/>
              </a:ext>
            </a:extLst>
          </p:cNvPr>
          <p:cNvSpPr>
            <a:spLocks noGrp="1"/>
          </p:cNvSpPr>
          <p:nvPr>
            <p:ph type="title"/>
          </p:nvPr>
        </p:nvSpPr>
        <p:spPr/>
        <p:txBody>
          <a:bodyPr/>
          <a:lstStyle/>
          <a:p>
            <a:r>
              <a:rPr lang="en-IN" dirty="0"/>
              <a:t>4.2.   Screen shots:</a:t>
            </a:r>
          </a:p>
        </p:txBody>
      </p:sp>
      <p:pic>
        <p:nvPicPr>
          <p:cNvPr id="4" name="Content Placeholder 3">
            <a:extLst>
              <a:ext uri="{FF2B5EF4-FFF2-40B4-BE49-F238E27FC236}">
                <a16:creationId xmlns:a16="http://schemas.microsoft.com/office/drawing/2014/main" id="{DFD001D3-60FD-4CEE-6BB9-21855BA14217}"/>
              </a:ext>
            </a:extLst>
          </p:cNvPr>
          <p:cNvPicPr>
            <a:picLocks noGrp="1" noChangeAspect="1"/>
          </p:cNvPicPr>
          <p:nvPr>
            <p:ph idx="1"/>
          </p:nvPr>
        </p:nvPicPr>
        <p:blipFill>
          <a:blip r:embed="rId2"/>
          <a:stretch>
            <a:fillRect/>
          </a:stretch>
        </p:blipFill>
        <p:spPr>
          <a:xfrm>
            <a:off x="2228144" y="1825625"/>
            <a:ext cx="7735712" cy="4351338"/>
          </a:xfrm>
          <a:prstGeom prst="rect">
            <a:avLst/>
          </a:prstGeom>
        </p:spPr>
      </p:pic>
    </p:spTree>
    <p:extLst>
      <p:ext uri="{BB962C8B-B14F-4D97-AF65-F5344CB8AC3E}">
        <p14:creationId xmlns:p14="http://schemas.microsoft.com/office/powerpoint/2010/main" val="12355289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978B1C-15DE-7F4F-77EF-D567578B9952}"/>
              </a:ext>
            </a:extLst>
          </p:cNvPr>
          <p:cNvPicPr>
            <a:picLocks noChangeAspect="1"/>
          </p:cNvPicPr>
          <p:nvPr/>
        </p:nvPicPr>
        <p:blipFill>
          <a:blip r:embed="rId2"/>
          <a:stretch>
            <a:fillRect/>
          </a:stretch>
        </p:blipFill>
        <p:spPr>
          <a:xfrm>
            <a:off x="1074935" y="603315"/>
            <a:ext cx="9539646" cy="5368589"/>
          </a:xfrm>
          <a:prstGeom prst="rect">
            <a:avLst/>
          </a:prstGeom>
        </p:spPr>
      </p:pic>
    </p:spTree>
    <p:extLst>
      <p:ext uri="{BB962C8B-B14F-4D97-AF65-F5344CB8AC3E}">
        <p14:creationId xmlns:p14="http://schemas.microsoft.com/office/powerpoint/2010/main" val="15897816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D717C54-5665-DB1D-09C5-47FDDD52A86B}"/>
              </a:ext>
            </a:extLst>
          </p:cNvPr>
          <p:cNvPicPr>
            <a:picLocks noChangeAspect="1"/>
          </p:cNvPicPr>
          <p:nvPr/>
        </p:nvPicPr>
        <p:blipFill>
          <a:blip r:embed="rId2"/>
          <a:stretch>
            <a:fillRect/>
          </a:stretch>
        </p:blipFill>
        <p:spPr>
          <a:xfrm>
            <a:off x="1575214" y="886120"/>
            <a:ext cx="8614216" cy="4845377"/>
          </a:xfrm>
          <a:prstGeom prst="rect">
            <a:avLst/>
          </a:prstGeom>
        </p:spPr>
      </p:pic>
    </p:spTree>
    <p:extLst>
      <p:ext uri="{BB962C8B-B14F-4D97-AF65-F5344CB8AC3E}">
        <p14:creationId xmlns:p14="http://schemas.microsoft.com/office/powerpoint/2010/main" val="37400088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E1D643-0079-7DD3-F8EF-192FF695EB5F}"/>
              </a:ext>
            </a:extLst>
          </p:cNvPr>
          <p:cNvPicPr>
            <a:picLocks noChangeAspect="1"/>
          </p:cNvPicPr>
          <p:nvPr/>
        </p:nvPicPr>
        <p:blipFill>
          <a:blip r:embed="rId2"/>
          <a:stretch>
            <a:fillRect/>
          </a:stretch>
        </p:blipFill>
        <p:spPr>
          <a:xfrm>
            <a:off x="1943914" y="1093510"/>
            <a:ext cx="8144957" cy="4581426"/>
          </a:xfrm>
          <a:prstGeom prst="rect">
            <a:avLst/>
          </a:prstGeom>
        </p:spPr>
      </p:pic>
    </p:spTree>
    <p:extLst>
      <p:ext uri="{BB962C8B-B14F-4D97-AF65-F5344CB8AC3E}">
        <p14:creationId xmlns:p14="http://schemas.microsoft.com/office/powerpoint/2010/main" val="18262130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8D897A-730D-1ADA-A7B6-3C01B2B6C276}"/>
              </a:ext>
            </a:extLst>
          </p:cNvPr>
          <p:cNvPicPr>
            <a:picLocks noChangeAspect="1"/>
          </p:cNvPicPr>
          <p:nvPr/>
        </p:nvPicPr>
        <p:blipFill>
          <a:blip r:embed="rId2"/>
          <a:stretch>
            <a:fillRect/>
          </a:stretch>
        </p:blipFill>
        <p:spPr>
          <a:xfrm>
            <a:off x="2130458" y="1198438"/>
            <a:ext cx="7824342" cy="4401084"/>
          </a:xfrm>
          <a:prstGeom prst="rect">
            <a:avLst/>
          </a:prstGeom>
        </p:spPr>
      </p:pic>
    </p:spTree>
    <p:extLst>
      <p:ext uri="{BB962C8B-B14F-4D97-AF65-F5344CB8AC3E}">
        <p14:creationId xmlns:p14="http://schemas.microsoft.com/office/powerpoint/2010/main" val="29431348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B389654-C242-4B9B-A31E-7CC2C2D2D388}"/>
              </a:ext>
            </a:extLst>
          </p:cNvPr>
          <p:cNvPicPr>
            <a:picLocks noChangeAspect="1"/>
          </p:cNvPicPr>
          <p:nvPr/>
        </p:nvPicPr>
        <p:blipFill>
          <a:blip r:embed="rId2"/>
          <a:stretch>
            <a:fillRect/>
          </a:stretch>
        </p:blipFill>
        <p:spPr>
          <a:xfrm>
            <a:off x="2073896" y="1166622"/>
            <a:ext cx="7562479" cy="4253790"/>
          </a:xfrm>
          <a:prstGeom prst="rect">
            <a:avLst/>
          </a:prstGeom>
        </p:spPr>
      </p:pic>
    </p:spTree>
    <p:extLst>
      <p:ext uri="{BB962C8B-B14F-4D97-AF65-F5344CB8AC3E}">
        <p14:creationId xmlns:p14="http://schemas.microsoft.com/office/powerpoint/2010/main" val="29140105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D9843E-C50C-9DFA-190C-5F57C7A6E48E}"/>
              </a:ext>
            </a:extLst>
          </p:cNvPr>
          <p:cNvPicPr>
            <a:picLocks noChangeAspect="1"/>
          </p:cNvPicPr>
          <p:nvPr/>
        </p:nvPicPr>
        <p:blipFill>
          <a:blip r:embed="rId2"/>
          <a:stretch>
            <a:fillRect/>
          </a:stretch>
        </p:blipFill>
        <p:spPr>
          <a:xfrm>
            <a:off x="1932494" y="1087086"/>
            <a:ext cx="7938511" cy="4465302"/>
          </a:xfrm>
          <a:prstGeom prst="rect">
            <a:avLst/>
          </a:prstGeom>
        </p:spPr>
      </p:pic>
    </p:spTree>
    <p:extLst>
      <p:ext uri="{BB962C8B-B14F-4D97-AF65-F5344CB8AC3E}">
        <p14:creationId xmlns:p14="http://schemas.microsoft.com/office/powerpoint/2010/main" val="5539034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524F163-3884-970E-B33E-6E9788BBD065}"/>
              </a:ext>
            </a:extLst>
          </p:cNvPr>
          <p:cNvPicPr>
            <a:picLocks noChangeAspect="1"/>
          </p:cNvPicPr>
          <p:nvPr/>
        </p:nvPicPr>
        <p:blipFill>
          <a:blip r:embed="rId2"/>
          <a:stretch>
            <a:fillRect/>
          </a:stretch>
        </p:blipFill>
        <p:spPr>
          <a:xfrm>
            <a:off x="2384980" y="1341603"/>
            <a:ext cx="8173149" cy="4597283"/>
          </a:xfrm>
          <a:prstGeom prst="rect">
            <a:avLst/>
          </a:prstGeom>
        </p:spPr>
      </p:pic>
    </p:spTree>
    <p:extLst>
      <p:ext uri="{BB962C8B-B14F-4D97-AF65-F5344CB8AC3E}">
        <p14:creationId xmlns:p14="http://schemas.microsoft.com/office/powerpoint/2010/main" val="38175329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C3321C3-2BD3-259F-2797-9E98E164990D}"/>
              </a:ext>
            </a:extLst>
          </p:cNvPr>
          <p:cNvPicPr>
            <a:picLocks noChangeAspect="1"/>
          </p:cNvPicPr>
          <p:nvPr/>
        </p:nvPicPr>
        <p:blipFill>
          <a:blip r:embed="rId2"/>
          <a:stretch>
            <a:fillRect/>
          </a:stretch>
        </p:blipFill>
        <p:spPr>
          <a:xfrm>
            <a:off x="2463448" y="1385740"/>
            <a:ext cx="7558389" cy="4251489"/>
          </a:xfrm>
          <a:prstGeom prst="rect">
            <a:avLst/>
          </a:prstGeom>
        </p:spPr>
      </p:pic>
    </p:spTree>
    <p:extLst>
      <p:ext uri="{BB962C8B-B14F-4D97-AF65-F5344CB8AC3E}">
        <p14:creationId xmlns:p14="http://schemas.microsoft.com/office/powerpoint/2010/main" val="16018428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CE07727-6D7A-07EA-1E48-EAFC4680E041}"/>
              </a:ext>
            </a:extLst>
          </p:cNvPr>
          <p:cNvPicPr>
            <a:picLocks noChangeAspect="1"/>
          </p:cNvPicPr>
          <p:nvPr/>
        </p:nvPicPr>
        <p:blipFill>
          <a:blip r:embed="rId2"/>
          <a:stretch>
            <a:fillRect/>
          </a:stretch>
        </p:blipFill>
        <p:spPr>
          <a:xfrm>
            <a:off x="2094748" y="1178352"/>
            <a:ext cx="7709217" cy="4336328"/>
          </a:xfrm>
          <a:prstGeom prst="rect">
            <a:avLst/>
          </a:prstGeom>
        </p:spPr>
      </p:pic>
    </p:spTree>
    <p:extLst>
      <p:ext uri="{BB962C8B-B14F-4D97-AF65-F5344CB8AC3E}">
        <p14:creationId xmlns:p14="http://schemas.microsoft.com/office/powerpoint/2010/main" val="27301542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640B71-AABE-AB77-D866-A8893B12B57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6956" y="1415837"/>
            <a:ext cx="7337287" cy="4127123"/>
          </a:xfrm>
          <a:prstGeom prst="rect">
            <a:avLst/>
          </a:prstGeom>
          <a:noFill/>
          <a:ln>
            <a:noFill/>
          </a:ln>
        </p:spPr>
      </p:pic>
    </p:spTree>
    <p:extLst>
      <p:ext uri="{BB962C8B-B14F-4D97-AF65-F5344CB8AC3E}">
        <p14:creationId xmlns:p14="http://schemas.microsoft.com/office/powerpoint/2010/main" val="27239802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7E28B8A-1844-422F-5EA3-3AC5A7876B22}"/>
              </a:ext>
            </a:extLst>
          </p:cNvPr>
          <p:cNvPicPr>
            <a:picLocks noChangeAspect="1"/>
          </p:cNvPicPr>
          <p:nvPr/>
        </p:nvPicPr>
        <p:blipFill>
          <a:blip r:embed="rId2"/>
          <a:stretch>
            <a:fillRect/>
          </a:stretch>
        </p:blipFill>
        <p:spPr>
          <a:xfrm>
            <a:off x="2139885" y="1203740"/>
            <a:ext cx="8066304" cy="4537184"/>
          </a:xfrm>
          <a:prstGeom prst="rect">
            <a:avLst/>
          </a:prstGeom>
        </p:spPr>
      </p:pic>
    </p:spTree>
    <p:extLst>
      <p:ext uri="{BB962C8B-B14F-4D97-AF65-F5344CB8AC3E}">
        <p14:creationId xmlns:p14="http://schemas.microsoft.com/office/powerpoint/2010/main" val="30994046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CD5B12-4500-578E-8DD9-08582C74DE09}"/>
              </a:ext>
            </a:extLst>
          </p:cNvPr>
          <p:cNvPicPr>
            <a:picLocks noChangeAspect="1"/>
          </p:cNvPicPr>
          <p:nvPr/>
        </p:nvPicPr>
        <p:blipFill>
          <a:blip r:embed="rId2"/>
          <a:stretch>
            <a:fillRect/>
          </a:stretch>
        </p:blipFill>
        <p:spPr>
          <a:xfrm>
            <a:off x="2195302" y="1234912"/>
            <a:ext cx="7307000" cy="4110086"/>
          </a:xfrm>
          <a:prstGeom prst="rect">
            <a:avLst/>
          </a:prstGeom>
        </p:spPr>
      </p:pic>
    </p:spTree>
    <p:extLst>
      <p:ext uri="{BB962C8B-B14F-4D97-AF65-F5344CB8AC3E}">
        <p14:creationId xmlns:p14="http://schemas.microsoft.com/office/powerpoint/2010/main" val="31717317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F1B21-FA20-9DAB-F5C8-3E26FE7DF96B}"/>
              </a:ext>
            </a:extLst>
          </p:cNvPr>
          <p:cNvSpPr>
            <a:spLocks noGrp="1"/>
          </p:cNvSpPr>
          <p:nvPr>
            <p:ph type="title"/>
          </p:nvPr>
        </p:nvSpPr>
        <p:spPr/>
        <p:txBody>
          <a:bodyPr/>
          <a:lstStyle/>
          <a:p>
            <a:r>
              <a:rPr lang="en-IN" dirty="0"/>
              <a:t>5. Agile Documentation:</a:t>
            </a:r>
          </a:p>
        </p:txBody>
      </p:sp>
      <p:sp>
        <p:nvSpPr>
          <p:cNvPr id="3" name="Content Placeholder 2">
            <a:extLst>
              <a:ext uri="{FF2B5EF4-FFF2-40B4-BE49-F238E27FC236}">
                <a16:creationId xmlns:a16="http://schemas.microsoft.com/office/drawing/2014/main" id="{AD63D624-8823-96A4-D0AA-F2E7FCFC64DB}"/>
              </a:ext>
            </a:extLst>
          </p:cNvPr>
          <p:cNvSpPr>
            <a:spLocks noGrp="1"/>
          </p:cNvSpPr>
          <p:nvPr>
            <p:ph idx="1"/>
          </p:nvPr>
        </p:nvSpPr>
        <p:spPr/>
        <p:txBody>
          <a:bodyPr/>
          <a:lstStyle/>
          <a:p>
            <a:r>
              <a:rPr lang="en-GB" sz="1800" b="1" dirty="0">
                <a:solidFill>
                  <a:srgbClr val="000000"/>
                </a:solidFill>
                <a:effectLst/>
                <a:latin typeface="Times New Roman" panose="02020603050405020304" pitchFamily="18" charset="0"/>
                <a:ea typeface="Times New Roman" panose="02020603050405020304" pitchFamily="18" charset="0"/>
              </a:rPr>
              <a:t>5.1 Agile Project Charter </a:t>
            </a:r>
            <a:endParaRPr lang="en-IN" sz="1800" dirty="0">
              <a:effectLst/>
              <a:latin typeface="Calibri" panose="020F0502020204030204" pitchFamily="34" charset="0"/>
              <a:ea typeface="Times New Roman" panose="02020603050405020304" pitchFamily="18" charset="0"/>
            </a:endParaRPr>
          </a:p>
          <a:p>
            <a:endParaRPr lang="en-IN" dirty="0"/>
          </a:p>
        </p:txBody>
      </p:sp>
      <p:graphicFrame>
        <p:nvGraphicFramePr>
          <p:cNvPr id="10" name="Table 9">
            <a:extLst>
              <a:ext uri="{FF2B5EF4-FFF2-40B4-BE49-F238E27FC236}">
                <a16:creationId xmlns:a16="http://schemas.microsoft.com/office/drawing/2014/main" id="{30592062-6056-C780-6CC7-8A17968049ED}"/>
              </a:ext>
            </a:extLst>
          </p:cNvPr>
          <p:cNvGraphicFramePr>
            <a:graphicFrameLocks noGrp="1"/>
          </p:cNvGraphicFramePr>
          <p:nvPr>
            <p:extLst>
              <p:ext uri="{D42A27DB-BD31-4B8C-83A1-F6EECF244321}">
                <p14:modId xmlns:p14="http://schemas.microsoft.com/office/powerpoint/2010/main" val="3899571742"/>
              </p:ext>
            </p:extLst>
          </p:nvPr>
        </p:nvGraphicFramePr>
        <p:xfrm>
          <a:off x="1432874" y="2473457"/>
          <a:ext cx="4876800" cy="2885121"/>
        </p:xfrm>
        <a:graphic>
          <a:graphicData uri="http://schemas.openxmlformats.org/drawingml/2006/table">
            <a:tbl>
              <a:tblPr bandRow="1">
                <a:tableStyleId>{5C22544A-7EE6-4342-B048-85BDC9FD1C3A}</a:tableStyleId>
              </a:tblPr>
              <a:tblGrid>
                <a:gridCol w="1949805">
                  <a:extLst>
                    <a:ext uri="{9D8B030D-6E8A-4147-A177-3AD203B41FA5}">
                      <a16:colId xmlns:a16="http://schemas.microsoft.com/office/drawing/2014/main" val="990270472"/>
                    </a:ext>
                  </a:extLst>
                </a:gridCol>
                <a:gridCol w="2926995">
                  <a:extLst>
                    <a:ext uri="{9D8B030D-6E8A-4147-A177-3AD203B41FA5}">
                      <a16:colId xmlns:a16="http://schemas.microsoft.com/office/drawing/2014/main" val="2182283485"/>
                    </a:ext>
                  </a:extLst>
                </a:gridCol>
              </a:tblGrid>
              <a:tr h="398406">
                <a:tc gridSpan="2">
                  <a:txBody>
                    <a:bodyPr/>
                    <a:lstStyle/>
                    <a:p>
                      <a:pPr algn="ctr">
                        <a:lnSpc>
                          <a:spcPct val="130000"/>
                        </a:lnSpc>
                        <a:spcAft>
                          <a:spcPts val="800"/>
                        </a:spcAft>
                      </a:pPr>
                      <a:r>
                        <a:rPr lang="en-GB" sz="1200" kern="100">
                          <a:effectLst/>
                        </a:rPr>
                        <a:t>General Project Information</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extLst>
                  <a:ext uri="{0D108BD9-81ED-4DB2-BD59-A6C34878D82A}">
                    <a16:rowId xmlns:a16="http://schemas.microsoft.com/office/drawing/2014/main" val="2046558396"/>
                  </a:ext>
                </a:extLst>
              </a:tr>
              <a:tr h="355245">
                <a:tc>
                  <a:txBody>
                    <a:bodyPr/>
                    <a:lstStyle/>
                    <a:p>
                      <a:pPr>
                        <a:lnSpc>
                          <a:spcPct val="130000"/>
                        </a:lnSpc>
                        <a:spcAft>
                          <a:spcPts val="800"/>
                        </a:spcAft>
                      </a:pPr>
                      <a:r>
                        <a:rPr lang="en-GB" sz="1200" kern="100">
                          <a:effectLst/>
                        </a:rPr>
                        <a:t>Project Name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spcAft>
                          <a:spcPts val="800"/>
                        </a:spcAft>
                      </a:pPr>
                      <a:r>
                        <a:rPr lang="en-GB" sz="1200" kern="100">
                          <a:effectLst/>
                        </a:rPr>
                        <a:t>Inventory Management System</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95545713"/>
                  </a:ext>
                </a:extLst>
              </a:tr>
              <a:tr h="355245">
                <a:tc>
                  <a:txBody>
                    <a:bodyPr/>
                    <a:lstStyle/>
                    <a:p>
                      <a:pPr>
                        <a:lnSpc>
                          <a:spcPct val="130000"/>
                        </a:lnSpc>
                        <a:spcAft>
                          <a:spcPts val="800"/>
                        </a:spcAft>
                      </a:pPr>
                      <a:r>
                        <a:rPr lang="en-GB" sz="1200" kern="100">
                          <a:effectLst/>
                        </a:rPr>
                        <a:t>Project Champion</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spcAft>
                          <a:spcPts val="800"/>
                        </a:spcAft>
                      </a:pPr>
                      <a:r>
                        <a:rPr lang="en-GB" sz="1200" kern="100">
                          <a:effectLst/>
                        </a:rPr>
                        <a:t>Bansil Pabari, Lakshmi Renju</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98127029"/>
                  </a:ext>
                </a:extLst>
              </a:tr>
              <a:tr h="355245">
                <a:tc>
                  <a:txBody>
                    <a:bodyPr/>
                    <a:lstStyle/>
                    <a:p>
                      <a:pPr>
                        <a:lnSpc>
                          <a:spcPct val="130000"/>
                        </a:lnSpc>
                        <a:spcAft>
                          <a:spcPts val="800"/>
                        </a:spcAft>
                      </a:pPr>
                      <a:r>
                        <a:rPr lang="en-GB" sz="1200" kern="100">
                          <a:effectLst/>
                        </a:rPr>
                        <a:t>Project Sponsor</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spcAft>
                          <a:spcPts val="800"/>
                        </a:spcAft>
                      </a:pPr>
                      <a:r>
                        <a:rPr lang="en-GB" sz="1200" kern="100">
                          <a:effectLst/>
                        </a:rPr>
                        <a:t>LJ Institute of Computer Application</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89842884"/>
                  </a:ext>
                </a:extLst>
              </a:tr>
              <a:tr h="355245">
                <a:tc>
                  <a:txBody>
                    <a:bodyPr/>
                    <a:lstStyle/>
                    <a:p>
                      <a:pPr>
                        <a:lnSpc>
                          <a:spcPct val="130000"/>
                        </a:lnSpc>
                        <a:spcAft>
                          <a:spcPts val="800"/>
                        </a:spcAft>
                      </a:pPr>
                      <a:r>
                        <a:rPr lang="en-GB" sz="1200" kern="100">
                          <a:effectLst/>
                        </a:rPr>
                        <a:t>Project Manager</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spcAft>
                          <a:spcPts val="800"/>
                        </a:spcAft>
                      </a:pPr>
                      <a:r>
                        <a:rPr lang="en-GB" sz="1200" kern="100">
                          <a:effectLst/>
                        </a:rPr>
                        <a:t>Prof Rita Gokani</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92210251"/>
                  </a:ext>
                </a:extLst>
              </a:tr>
              <a:tr h="355245">
                <a:tc>
                  <a:txBody>
                    <a:bodyPr/>
                    <a:lstStyle/>
                    <a:p>
                      <a:pPr>
                        <a:lnSpc>
                          <a:spcPct val="130000"/>
                        </a:lnSpc>
                        <a:spcAft>
                          <a:spcPts val="800"/>
                        </a:spcAft>
                      </a:pPr>
                      <a:r>
                        <a:rPr lang="en-GB" sz="1200" kern="100">
                          <a:effectLst/>
                        </a:rPr>
                        <a:t>Stakeholders</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spcAft>
                          <a:spcPts val="800"/>
                        </a:spcAft>
                      </a:pPr>
                      <a:r>
                        <a:rPr lang="en-GB" sz="1200" kern="100">
                          <a:effectLst/>
                        </a:rPr>
                        <a:t>Admin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92212194"/>
                  </a:ext>
                </a:extLst>
              </a:tr>
              <a:tr h="355245">
                <a:tc>
                  <a:txBody>
                    <a:bodyPr/>
                    <a:lstStyle/>
                    <a:p>
                      <a:pPr>
                        <a:lnSpc>
                          <a:spcPct val="130000"/>
                        </a:lnSpc>
                        <a:spcAft>
                          <a:spcPts val="800"/>
                        </a:spcAft>
                      </a:pPr>
                      <a:r>
                        <a:rPr lang="en-GB" sz="1200" kern="100">
                          <a:effectLst/>
                        </a:rPr>
                        <a:t>Expected Start Date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spcAft>
                          <a:spcPts val="800"/>
                        </a:spcAft>
                      </a:pPr>
                      <a:r>
                        <a:rPr lang="en-GB" sz="1200" kern="100">
                          <a:effectLst/>
                        </a:rPr>
                        <a:t>09/01/2024</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00351677"/>
                  </a:ext>
                </a:extLst>
              </a:tr>
              <a:tr h="355245">
                <a:tc>
                  <a:txBody>
                    <a:bodyPr/>
                    <a:lstStyle/>
                    <a:p>
                      <a:pPr>
                        <a:lnSpc>
                          <a:spcPct val="130000"/>
                        </a:lnSpc>
                        <a:spcAft>
                          <a:spcPts val="800"/>
                        </a:spcAft>
                      </a:pPr>
                      <a:r>
                        <a:rPr lang="en-GB" sz="1200" kern="100">
                          <a:effectLst/>
                        </a:rPr>
                        <a:t>Expected Completion Date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spcAft>
                          <a:spcPts val="800"/>
                        </a:spcAft>
                      </a:pPr>
                      <a:r>
                        <a:rPr lang="en-GB" sz="1200" kern="100" dirty="0">
                          <a:effectLst/>
                        </a:rPr>
                        <a:t>05/04/2024</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98297616"/>
                  </a:ext>
                </a:extLst>
              </a:tr>
            </a:tbl>
          </a:graphicData>
        </a:graphic>
      </p:graphicFrame>
      <p:graphicFrame>
        <p:nvGraphicFramePr>
          <p:cNvPr id="11" name="Table 10">
            <a:extLst>
              <a:ext uri="{FF2B5EF4-FFF2-40B4-BE49-F238E27FC236}">
                <a16:creationId xmlns:a16="http://schemas.microsoft.com/office/drawing/2014/main" id="{55400A21-F0F5-1724-860E-651EC4178ED8}"/>
              </a:ext>
            </a:extLst>
          </p:cNvPr>
          <p:cNvGraphicFramePr>
            <a:graphicFrameLocks noGrp="1"/>
          </p:cNvGraphicFramePr>
          <p:nvPr>
            <p:extLst>
              <p:ext uri="{D42A27DB-BD31-4B8C-83A1-F6EECF244321}">
                <p14:modId xmlns:p14="http://schemas.microsoft.com/office/powerpoint/2010/main" val="646933938"/>
              </p:ext>
            </p:extLst>
          </p:nvPr>
        </p:nvGraphicFramePr>
        <p:xfrm>
          <a:off x="6904348" y="1994123"/>
          <a:ext cx="4807872" cy="4389870"/>
        </p:xfrm>
        <a:graphic>
          <a:graphicData uri="http://schemas.openxmlformats.org/drawingml/2006/table">
            <a:tbl>
              <a:tblPr bandRow="1">
                <a:tableStyleId>{5C22544A-7EE6-4342-B048-85BDC9FD1C3A}</a:tableStyleId>
              </a:tblPr>
              <a:tblGrid>
                <a:gridCol w="1205156">
                  <a:extLst>
                    <a:ext uri="{9D8B030D-6E8A-4147-A177-3AD203B41FA5}">
                      <a16:colId xmlns:a16="http://schemas.microsoft.com/office/drawing/2014/main" val="1164514934"/>
                    </a:ext>
                  </a:extLst>
                </a:gridCol>
                <a:gridCol w="3602716">
                  <a:extLst>
                    <a:ext uri="{9D8B030D-6E8A-4147-A177-3AD203B41FA5}">
                      <a16:colId xmlns:a16="http://schemas.microsoft.com/office/drawing/2014/main" val="610649571"/>
                    </a:ext>
                  </a:extLst>
                </a:gridCol>
              </a:tblGrid>
              <a:tr h="275021">
                <a:tc gridSpan="2">
                  <a:txBody>
                    <a:bodyPr/>
                    <a:lstStyle/>
                    <a:p>
                      <a:pPr algn="ctr">
                        <a:lnSpc>
                          <a:spcPct val="130000"/>
                        </a:lnSpc>
                        <a:spcAft>
                          <a:spcPts val="800"/>
                        </a:spcAft>
                      </a:pPr>
                      <a:r>
                        <a:rPr lang="en-GB" sz="1200" kern="100">
                          <a:effectLst/>
                        </a:rPr>
                        <a:t>Project Details</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7505" marR="67505" marT="0" marB="0" anchor="ctr"/>
                </a:tc>
                <a:tc hMerge="1">
                  <a:txBody>
                    <a:bodyPr/>
                    <a:lstStyle/>
                    <a:p>
                      <a:endParaRPr lang="en-IN"/>
                    </a:p>
                  </a:txBody>
                  <a:tcPr/>
                </a:tc>
                <a:extLst>
                  <a:ext uri="{0D108BD9-81ED-4DB2-BD59-A6C34878D82A}">
                    <a16:rowId xmlns:a16="http://schemas.microsoft.com/office/drawing/2014/main" val="2528882938"/>
                  </a:ext>
                </a:extLst>
              </a:tr>
              <a:tr h="1150277">
                <a:tc>
                  <a:txBody>
                    <a:bodyPr/>
                    <a:lstStyle/>
                    <a:p>
                      <a:pPr algn="ctr">
                        <a:lnSpc>
                          <a:spcPct val="130000"/>
                        </a:lnSpc>
                        <a:spcAft>
                          <a:spcPts val="800"/>
                        </a:spcAft>
                      </a:pPr>
                      <a:r>
                        <a:rPr lang="en-GB" sz="1200" kern="100">
                          <a:effectLst/>
                        </a:rPr>
                        <a:t>Mission</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7505" marR="67505" marT="0" marB="0" anchor="ctr"/>
                </a:tc>
                <a:tc>
                  <a:txBody>
                    <a:bodyPr/>
                    <a:lstStyle/>
                    <a:p>
                      <a:pPr algn="just">
                        <a:lnSpc>
                          <a:spcPct val="130000"/>
                        </a:lnSpc>
                        <a:spcAft>
                          <a:spcPts val="800"/>
                        </a:spcAft>
                      </a:pPr>
                      <a:r>
                        <a:rPr lang="en-GB" sz="1200" kern="100">
                          <a:effectLst/>
                        </a:rPr>
                        <a:t>The aim of creating an inventory management system is to effectively track, manage, and control inventory levels, ensuring accurate stock information, streamlined operations, and optimized supply chain processes to meet customer demand efficiently.</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7505" marR="67505" marT="0" marB="0" anchor="ctr"/>
                </a:tc>
                <a:extLst>
                  <a:ext uri="{0D108BD9-81ED-4DB2-BD59-A6C34878D82A}">
                    <a16:rowId xmlns:a16="http://schemas.microsoft.com/office/drawing/2014/main" val="31350775"/>
                  </a:ext>
                </a:extLst>
              </a:tr>
              <a:tr h="1150277">
                <a:tc>
                  <a:txBody>
                    <a:bodyPr/>
                    <a:lstStyle/>
                    <a:p>
                      <a:pPr algn="ctr">
                        <a:lnSpc>
                          <a:spcPct val="130000"/>
                        </a:lnSpc>
                        <a:spcAft>
                          <a:spcPts val="800"/>
                        </a:spcAft>
                      </a:pPr>
                      <a:r>
                        <a:rPr lang="en-GB" sz="1200" kern="100" dirty="0">
                          <a:effectLst/>
                        </a:rPr>
                        <a:t>Vision</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7505" marR="67505" marT="0" marB="0" anchor="ctr"/>
                </a:tc>
                <a:tc>
                  <a:txBody>
                    <a:bodyPr/>
                    <a:lstStyle/>
                    <a:p>
                      <a:pPr algn="just">
                        <a:lnSpc>
                          <a:spcPct val="130000"/>
                        </a:lnSpc>
                        <a:spcAft>
                          <a:spcPts val="800"/>
                        </a:spcAft>
                      </a:pPr>
                      <a:r>
                        <a:rPr lang="en-GB" sz="1200" kern="100">
                          <a:effectLst/>
                        </a:rPr>
                        <a:t>The vision for an inventory management system is to become the industry standard solution, revolutionizing inventory control with cutting costs empowering businesses to achieve their fullest potential in supply chain management and customer satisfaction.</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7505" marR="67505" marT="0" marB="0" anchor="ctr"/>
                </a:tc>
                <a:extLst>
                  <a:ext uri="{0D108BD9-81ED-4DB2-BD59-A6C34878D82A}">
                    <a16:rowId xmlns:a16="http://schemas.microsoft.com/office/drawing/2014/main" val="302597002"/>
                  </a:ext>
                </a:extLst>
              </a:tr>
              <a:tr h="1441987">
                <a:tc>
                  <a:txBody>
                    <a:bodyPr/>
                    <a:lstStyle/>
                    <a:p>
                      <a:pPr algn="ctr">
                        <a:lnSpc>
                          <a:spcPct val="130000"/>
                        </a:lnSpc>
                        <a:spcAft>
                          <a:spcPts val="800"/>
                        </a:spcAft>
                      </a:pPr>
                      <a:r>
                        <a:rPr lang="en-GB" sz="1200" kern="100">
                          <a:effectLst/>
                        </a:rPr>
                        <a:t>Scope</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7505" marR="67505" marT="0" marB="0" anchor="ctr"/>
                </a:tc>
                <a:tc>
                  <a:txBody>
                    <a:bodyPr/>
                    <a:lstStyle/>
                    <a:p>
                      <a:pPr algn="just">
                        <a:lnSpc>
                          <a:spcPct val="130000"/>
                        </a:lnSpc>
                        <a:spcAft>
                          <a:spcPts val="1400"/>
                        </a:spcAft>
                      </a:pPr>
                      <a:r>
                        <a:rPr lang="en-GB" sz="1200" kern="100">
                          <a:effectLst/>
                        </a:rPr>
                        <a:t>Admin can deal in a wide range of courses. They can analyse customer buying patterns and preferences and maintain the stock early, can give discounts. Business can be easily scaled.</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7505" marR="67505" marT="0" marB="0" anchor="ctr"/>
                </a:tc>
                <a:extLst>
                  <a:ext uri="{0D108BD9-81ED-4DB2-BD59-A6C34878D82A}">
                    <a16:rowId xmlns:a16="http://schemas.microsoft.com/office/drawing/2014/main" val="890647499"/>
                  </a:ext>
                </a:extLst>
              </a:tr>
              <a:tr h="333776">
                <a:tc>
                  <a:txBody>
                    <a:bodyPr/>
                    <a:lstStyle/>
                    <a:p>
                      <a:pPr algn="ctr">
                        <a:lnSpc>
                          <a:spcPct val="130000"/>
                        </a:lnSpc>
                        <a:spcAft>
                          <a:spcPts val="800"/>
                        </a:spcAft>
                      </a:pPr>
                      <a:r>
                        <a:rPr lang="en-GB" sz="1200" kern="100">
                          <a:effectLst/>
                        </a:rPr>
                        <a:t>Date</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7505" marR="67505" marT="0" marB="0" anchor="ctr"/>
                </a:tc>
                <a:tc>
                  <a:txBody>
                    <a:bodyPr/>
                    <a:lstStyle/>
                    <a:p>
                      <a:pPr algn="ctr">
                        <a:lnSpc>
                          <a:spcPct val="130000"/>
                        </a:lnSpc>
                        <a:spcAft>
                          <a:spcPts val="800"/>
                        </a:spcAft>
                      </a:pPr>
                      <a:r>
                        <a:rPr lang="en-GB" sz="1200" kern="100" dirty="0">
                          <a:effectLst/>
                        </a:rPr>
                        <a:t>05/04/2024</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7505" marR="67505" marT="0" marB="0" anchor="ctr"/>
                </a:tc>
                <a:extLst>
                  <a:ext uri="{0D108BD9-81ED-4DB2-BD59-A6C34878D82A}">
                    <a16:rowId xmlns:a16="http://schemas.microsoft.com/office/drawing/2014/main" val="4021725518"/>
                  </a:ext>
                </a:extLst>
              </a:tr>
            </a:tbl>
          </a:graphicData>
        </a:graphic>
      </p:graphicFrame>
      <p:sp>
        <p:nvSpPr>
          <p:cNvPr id="12" name="Rectangle 3">
            <a:extLst>
              <a:ext uri="{FF2B5EF4-FFF2-40B4-BE49-F238E27FC236}">
                <a16:creationId xmlns:a16="http://schemas.microsoft.com/office/drawing/2014/main" id="{7CC1B656-6113-0E46-98C5-0F94B84E0206}"/>
              </a:ext>
            </a:extLst>
          </p:cNvPr>
          <p:cNvSpPr>
            <a:spLocks noChangeArrowheads="1"/>
          </p:cNvSpPr>
          <p:nvPr/>
        </p:nvSpPr>
        <p:spPr bwMode="auto">
          <a:xfrm>
            <a:off x="6904809" y="199338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8692253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C07BE-10F9-3009-FAE5-005EF3845EC3}"/>
              </a:ext>
            </a:extLst>
          </p:cNvPr>
          <p:cNvSpPr>
            <a:spLocks noGrp="1"/>
          </p:cNvSpPr>
          <p:nvPr>
            <p:ph type="title"/>
          </p:nvPr>
        </p:nvSpPr>
        <p:spPr/>
        <p:txBody>
          <a:bodyPr/>
          <a:lstStyle/>
          <a:p>
            <a:r>
              <a:rPr lang="en-IN" dirty="0"/>
              <a:t>5.2 Agile Roadmap / Schedule:</a:t>
            </a:r>
          </a:p>
        </p:txBody>
      </p:sp>
      <p:pic>
        <p:nvPicPr>
          <p:cNvPr id="4" name="Content Placeholder 3">
            <a:extLst>
              <a:ext uri="{FF2B5EF4-FFF2-40B4-BE49-F238E27FC236}">
                <a16:creationId xmlns:a16="http://schemas.microsoft.com/office/drawing/2014/main" id="{57BA6BC6-412D-5027-7B32-FAB9F3F69F82}"/>
              </a:ext>
            </a:extLst>
          </p:cNvPr>
          <p:cNvPicPr>
            <a:picLocks noGrp="1" noChangeAspect="1"/>
          </p:cNvPicPr>
          <p:nvPr>
            <p:ph idx="1"/>
          </p:nvPr>
        </p:nvPicPr>
        <p:blipFill>
          <a:blip r:embed="rId2"/>
          <a:stretch>
            <a:fillRect/>
          </a:stretch>
        </p:blipFill>
        <p:spPr>
          <a:xfrm>
            <a:off x="1850607" y="1825625"/>
            <a:ext cx="8490785" cy="4351338"/>
          </a:xfrm>
          <a:prstGeom prst="rect">
            <a:avLst/>
          </a:prstGeom>
        </p:spPr>
      </p:pic>
    </p:spTree>
    <p:extLst>
      <p:ext uri="{BB962C8B-B14F-4D97-AF65-F5344CB8AC3E}">
        <p14:creationId xmlns:p14="http://schemas.microsoft.com/office/powerpoint/2010/main" val="37857109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9D1E7-390D-B4AD-2E39-5E6495EF6927}"/>
              </a:ext>
            </a:extLst>
          </p:cNvPr>
          <p:cNvSpPr>
            <a:spLocks noGrp="1"/>
          </p:cNvSpPr>
          <p:nvPr>
            <p:ph type="title"/>
          </p:nvPr>
        </p:nvSpPr>
        <p:spPr/>
        <p:txBody>
          <a:bodyPr/>
          <a:lstStyle/>
          <a:p>
            <a:r>
              <a:rPr lang="en-IN" dirty="0"/>
              <a:t>5.3 Agile Project Plan:</a:t>
            </a:r>
          </a:p>
        </p:txBody>
      </p:sp>
      <p:graphicFrame>
        <p:nvGraphicFramePr>
          <p:cNvPr id="5" name="Content Placeholder 4">
            <a:extLst>
              <a:ext uri="{FF2B5EF4-FFF2-40B4-BE49-F238E27FC236}">
                <a16:creationId xmlns:a16="http://schemas.microsoft.com/office/drawing/2014/main" id="{B16F0784-5559-71B6-044F-73BA2A512DA1}"/>
              </a:ext>
            </a:extLst>
          </p:cNvPr>
          <p:cNvGraphicFramePr>
            <a:graphicFrameLocks noGrp="1"/>
          </p:cNvGraphicFramePr>
          <p:nvPr>
            <p:ph idx="1"/>
            <p:extLst>
              <p:ext uri="{D42A27DB-BD31-4B8C-83A1-F6EECF244321}">
                <p14:modId xmlns:p14="http://schemas.microsoft.com/office/powerpoint/2010/main" val="2238347756"/>
              </p:ext>
            </p:extLst>
          </p:nvPr>
        </p:nvGraphicFramePr>
        <p:xfrm>
          <a:off x="339365" y="1712832"/>
          <a:ext cx="5250730" cy="4575230"/>
        </p:xfrm>
        <a:graphic>
          <a:graphicData uri="http://schemas.openxmlformats.org/drawingml/2006/table">
            <a:tbl>
              <a:tblPr bandRow="1">
                <a:tableStyleId>{5C22544A-7EE6-4342-B048-85BDC9FD1C3A}</a:tableStyleId>
              </a:tblPr>
              <a:tblGrid>
                <a:gridCol w="1863213">
                  <a:extLst>
                    <a:ext uri="{9D8B030D-6E8A-4147-A177-3AD203B41FA5}">
                      <a16:colId xmlns:a16="http://schemas.microsoft.com/office/drawing/2014/main" val="2430364624"/>
                    </a:ext>
                  </a:extLst>
                </a:gridCol>
                <a:gridCol w="836404">
                  <a:extLst>
                    <a:ext uri="{9D8B030D-6E8A-4147-A177-3AD203B41FA5}">
                      <a16:colId xmlns:a16="http://schemas.microsoft.com/office/drawing/2014/main" val="2451361078"/>
                    </a:ext>
                  </a:extLst>
                </a:gridCol>
                <a:gridCol w="754196">
                  <a:extLst>
                    <a:ext uri="{9D8B030D-6E8A-4147-A177-3AD203B41FA5}">
                      <a16:colId xmlns:a16="http://schemas.microsoft.com/office/drawing/2014/main" val="2972632756"/>
                    </a:ext>
                  </a:extLst>
                </a:gridCol>
                <a:gridCol w="830040">
                  <a:extLst>
                    <a:ext uri="{9D8B030D-6E8A-4147-A177-3AD203B41FA5}">
                      <a16:colId xmlns:a16="http://schemas.microsoft.com/office/drawing/2014/main" val="1106814278"/>
                    </a:ext>
                  </a:extLst>
                </a:gridCol>
                <a:gridCol w="966877">
                  <a:extLst>
                    <a:ext uri="{9D8B030D-6E8A-4147-A177-3AD203B41FA5}">
                      <a16:colId xmlns:a16="http://schemas.microsoft.com/office/drawing/2014/main" val="1667365405"/>
                    </a:ext>
                  </a:extLst>
                </a:gridCol>
              </a:tblGrid>
              <a:tr h="264322">
                <a:tc>
                  <a:txBody>
                    <a:bodyPr/>
                    <a:lstStyle/>
                    <a:p>
                      <a:pPr algn="ctr">
                        <a:lnSpc>
                          <a:spcPct val="130000"/>
                        </a:lnSpc>
                        <a:spcAft>
                          <a:spcPts val="800"/>
                        </a:spcAft>
                      </a:pPr>
                      <a:r>
                        <a:rPr lang="en-GB" sz="800" kern="100">
                          <a:effectLst/>
                        </a:rPr>
                        <a:t>Task Name</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gn="ctr">
                        <a:lnSpc>
                          <a:spcPct val="130000"/>
                        </a:lnSpc>
                        <a:spcAft>
                          <a:spcPts val="800"/>
                        </a:spcAft>
                      </a:pPr>
                      <a:r>
                        <a:rPr lang="en-GB" sz="800" kern="100">
                          <a:effectLst/>
                        </a:rPr>
                        <a:t>Duration</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gn="ctr">
                        <a:lnSpc>
                          <a:spcPct val="130000"/>
                        </a:lnSpc>
                        <a:spcAft>
                          <a:spcPts val="800"/>
                        </a:spcAft>
                      </a:pPr>
                      <a:r>
                        <a:rPr lang="en-GB" sz="800" kern="100">
                          <a:effectLst/>
                        </a:rPr>
                        <a:t>Start</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gn="ctr">
                        <a:lnSpc>
                          <a:spcPct val="130000"/>
                        </a:lnSpc>
                        <a:spcAft>
                          <a:spcPts val="800"/>
                        </a:spcAft>
                      </a:pPr>
                      <a:r>
                        <a:rPr lang="en-GB" sz="800" kern="100">
                          <a:effectLst/>
                        </a:rPr>
                        <a:t>Finish</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gn="ctr">
                        <a:lnSpc>
                          <a:spcPct val="130000"/>
                        </a:lnSpc>
                        <a:spcAft>
                          <a:spcPts val="800"/>
                        </a:spcAft>
                      </a:pPr>
                      <a:r>
                        <a:rPr lang="en-GB" sz="800" kern="100">
                          <a:effectLst/>
                        </a:rPr>
                        <a:t>Status</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814093067"/>
                  </a:ext>
                </a:extLst>
              </a:tr>
              <a:tr h="307922">
                <a:tc>
                  <a:txBody>
                    <a:bodyPr/>
                    <a:lstStyle/>
                    <a:p>
                      <a:pPr>
                        <a:lnSpc>
                          <a:spcPct val="130000"/>
                        </a:lnSpc>
                        <a:spcAft>
                          <a:spcPts val="800"/>
                        </a:spcAft>
                      </a:pPr>
                      <a:r>
                        <a:rPr lang="en-GB" sz="800" kern="100">
                          <a:effectLst/>
                        </a:rPr>
                        <a:t>Sprint#1 : Project Structure</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6d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09/01/2024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14/01/2024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dirty="0">
                          <a:effectLst/>
                        </a:rPr>
                        <a:t>Completed</a:t>
                      </a:r>
                      <a:endParaRPr lang="en-IN" sz="7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724516618"/>
                  </a:ext>
                </a:extLst>
              </a:tr>
              <a:tr h="307922">
                <a:tc>
                  <a:txBody>
                    <a:bodyPr/>
                    <a:lstStyle/>
                    <a:p>
                      <a:pPr>
                        <a:lnSpc>
                          <a:spcPct val="130000"/>
                        </a:lnSpc>
                        <a:spcAft>
                          <a:spcPts val="800"/>
                        </a:spcAft>
                      </a:pPr>
                      <a:r>
                        <a:rPr lang="en-GB" sz="800" kern="100">
                          <a:effectLst/>
                        </a:rPr>
                        <a:t>UI Designing</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4d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15/01/2024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18/01/2024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2277729693"/>
                  </a:ext>
                </a:extLst>
              </a:tr>
              <a:tr h="307922">
                <a:tc>
                  <a:txBody>
                    <a:bodyPr/>
                    <a:lstStyle/>
                    <a:p>
                      <a:pPr>
                        <a:lnSpc>
                          <a:spcPct val="130000"/>
                        </a:lnSpc>
                        <a:spcAft>
                          <a:spcPts val="800"/>
                        </a:spcAft>
                      </a:pPr>
                      <a:r>
                        <a:rPr lang="en-GB" sz="800" kern="100">
                          <a:effectLst/>
                        </a:rPr>
                        <a:t>Database Management</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4d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19/01/2024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22/01/2024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3257904497"/>
                  </a:ext>
                </a:extLst>
              </a:tr>
              <a:tr h="307922">
                <a:tc>
                  <a:txBody>
                    <a:bodyPr/>
                    <a:lstStyle/>
                    <a:p>
                      <a:pPr>
                        <a:lnSpc>
                          <a:spcPct val="130000"/>
                        </a:lnSpc>
                        <a:spcAft>
                          <a:spcPts val="800"/>
                        </a:spcAft>
                      </a:pPr>
                      <a:r>
                        <a:rPr lang="en-GB" sz="800" kern="100">
                          <a:effectLst/>
                        </a:rPr>
                        <a:t>Sprint#2 : Admin</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6d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23/01/2024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dirty="0">
                          <a:effectLst/>
                        </a:rPr>
                        <a:t>28/01/2024</a:t>
                      </a:r>
                      <a:endParaRPr lang="en-IN" sz="7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4278998871"/>
                  </a:ext>
                </a:extLst>
              </a:tr>
              <a:tr h="307922">
                <a:tc>
                  <a:txBody>
                    <a:bodyPr/>
                    <a:lstStyle/>
                    <a:p>
                      <a:pPr>
                        <a:lnSpc>
                          <a:spcPct val="130000"/>
                        </a:lnSpc>
                        <a:spcAft>
                          <a:spcPts val="800"/>
                        </a:spcAft>
                      </a:pPr>
                      <a:r>
                        <a:rPr lang="en-GB" sz="800" kern="100">
                          <a:effectLst/>
                        </a:rPr>
                        <a:t>Admin UI Designing</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29/01/2024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30/01/2024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3843352230"/>
                  </a:ext>
                </a:extLst>
              </a:tr>
              <a:tr h="307922">
                <a:tc>
                  <a:txBody>
                    <a:bodyPr/>
                    <a:lstStyle/>
                    <a:p>
                      <a:pPr>
                        <a:lnSpc>
                          <a:spcPct val="130000"/>
                        </a:lnSpc>
                        <a:spcAft>
                          <a:spcPts val="800"/>
                        </a:spcAft>
                      </a:pPr>
                      <a:r>
                        <a:rPr lang="en-GB" sz="800" kern="100">
                          <a:effectLst/>
                        </a:rPr>
                        <a:t>Sprint#3 : Login and Logout</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31/01/2024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31/01/2024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3957305621"/>
                  </a:ext>
                </a:extLst>
              </a:tr>
              <a:tr h="307922">
                <a:tc>
                  <a:txBody>
                    <a:bodyPr/>
                    <a:lstStyle/>
                    <a:p>
                      <a:pPr>
                        <a:lnSpc>
                          <a:spcPct val="130000"/>
                        </a:lnSpc>
                        <a:spcAft>
                          <a:spcPts val="800"/>
                        </a:spcAft>
                      </a:pPr>
                      <a:r>
                        <a:rPr lang="en-GB" sz="800" kern="100">
                          <a:effectLst/>
                        </a:rPr>
                        <a:t>Admin Login</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01/02/2024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01/02/2024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3148770580"/>
                  </a:ext>
                </a:extLst>
              </a:tr>
              <a:tr h="307922">
                <a:tc>
                  <a:txBody>
                    <a:bodyPr/>
                    <a:lstStyle/>
                    <a:p>
                      <a:pPr>
                        <a:lnSpc>
                          <a:spcPct val="130000"/>
                        </a:lnSpc>
                        <a:spcAft>
                          <a:spcPts val="800"/>
                        </a:spcAft>
                      </a:pPr>
                      <a:r>
                        <a:rPr lang="en-GB" sz="800" kern="100">
                          <a:effectLst/>
                        </a:rPr>
                        <a:t>Validation</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02/02/2024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03/02/2024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1067868134"/>
                  </a:ext>
                </a:extLst>
              </a:tr>
              <a:tr h="307922">
                <a:tc>
                  <a:txBody>
                    <a:bodyPr/>
                    <a:lstStyle/>
                    <a:p>
                      <a:pPr>
                        <a:lnSpc>
                          <a:spcPct val="130000"/>
                        </a:lnSpc>
                        <a:spcAft>
                          <a:spcPts val="800"/>
                        </a:spcAft>
                      </a:pPr>
                      <a:r>
                        <a:rPr lang="en-GB" sz="800" kern="100">
                          <a:effectLst/>
                        </a:rPr>
                        <a:t>Sprint#4 : Manage Brand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04/02/2024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05/02/2024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772897321"/>
                  </a:ext>
                </a:extLst>
              </a:tr>
              <a:tr h="307922">
                <a:tc>
                  <a:txBody>
                    <a:bodyPr/>
                    <a:lstStyle/>
                    <a:p>
                      <a:pPr>
                        <a:lnSpc>
                          <a:spcPct val="130000"/>
                        </a:lnSpc>
                        <a:spcAft>
                          <a:spcPts val="800"/>
                        </a:spcAft>
                      </a:pPr>
                      <a:r>
                        <a:rPr lang="en-GB" sz="800" kern="100">
                          <a:effectLst/>
                        </a:rPr>
                        <a:t>Add, Update, View, Delete, Search</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5d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06/02/2024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10/02/2024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224504819"/>
                  </a:ext>
                </a:extLst>
              </a:tr>
              <a:tr h="307922">
                <a:tc>
                  <a:txBody>
                    <a:bodyPr/>
                    <a:lstStyle/>
                    <a:p>
                      <a:pPr>
                        <a:lnSpc>
                          <a:spcPct val="130000"/>
                        </a:lnSpc>
                        <a:spcAft>
                          <a:spcPts val="800"/>
                        </a:spcAft>
                      </a:pPr>
                      <a:r>
                        <a:rPr lang="en-GB" sz="800" kern="100">
                          <a:effectLst/>
                        </a:rPr>
                        <a:t>UI Designing</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3d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11/02/2024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13/02/2024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3058854561"/>
                  </a:ext>
                </a:extLst>
              </a:tr>
              <a:tr h="307922">
                <a:tc>
                  <a:txBody>
                    <a:bodyPr/>
                    <a:lstStyle/>
                    <a:p>
                      <a:pPr>
                        <a:lnSpc>
                          <a:spcPct val="130000"/>
                        </a:lnSpc>
                        <a:spcAft>
                          <a:spcPts val="800"/>
                        </a:spcAft>
                      </a:pPr>
                      <a:r>
                        <a:rPr lang="en-GB" sz="800" kern="100">
                          <a:effectLst/>
                        </a:rPr>
                        <a:t>Sprint#5 : Manage Categories</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14/02/2024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15/02/2024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3352413782"/>
                  </a:ext>
                </a:extLst>
              </a:tr>
              <a:tr h="307922">
                <a:tc>
                  <a:txBody>
                    <a:bodyPr/>
                    <a:lstStyle/>
                    <a:p>
                      <a:pPr>
                        <a:lnSpc>
                          <a:spcPct val="130000"/>
                        </a:lnSpc>
                        <a:spcAft>
                          <a:spcPts val="800"/>
                        </a:spcAft>
                      </a:pPr>
                      <a:r>
                        <a:rPr lang="en-GB" sz="800" kern="100">
                          <a:effectLst/>
                        </a:rPr>
                        <a:t>Add, Update, View, Delete, Search</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5d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16/02/2024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20/02/2024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1436484089"/>
                  </a:ext>
                </a:extLst>
              </a:tr>
              <a:tr h="307922">
                <a:tc>
                  <a:txBody>
                    <a:bodyPr/>
                    <a:lstStyle/>
                    <a:p>
                      <a:pPr>
                        <a:lnSpc>
                          <a:spcPct val="130000"/>
                        </a:lnSpc>
                        <a:spcAft>
                          <a:spcPts val="800"/>
                        </a:spcAft>
                      </a:pPr>
                      <a:r>
                        <a:rPr lang="en-GB" sz="800" kern="100">
                          <a:effectLst/>
                        </a:rPr>
                        <a:t>UI Designing</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dirty="0">
                          <a:effectLst/>
                        </a:rPr>
                        <a:t>3d</a:t>
                      </a:r>
                      <a:endParaRPr lang="en-IN" sz="7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21/02/2024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23/02/2024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dirty="0">
                          <a:effectLst/>
                        </a:rPr>
                        <a:t>Completed</a:t>
                      </a:r>
                      <a:endParaRPr lang="en-IN" sz="7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247475218"/>
                  </a:ext>
                </a:extLst>
              </a:tr>
            </a:tbl>
          </a:graphicData>
        </a:graphic>
      </p:graphicFrame>
      <p:graphicFrame>
        <p:nvGraphicFramePr>
          <p:cNvPr id="6" name="Table 5">
            <a:extLst>
              <a:ext uri="{FF2B5EF4-FFF2-40B4-BE49-F238E27FC236}">
                <a16:creationId xmlns:a16="http://schemas.microsoft.com/office/drawing/2014/main" id="{4DB78F67-AF80-7D5D-F80C-4044130519D3}"/>
              </a:ext>
            </a:extLst>
          </p:cNvPr>
          <p:cNvGraphicFramePr>
            <a:graphicFrameLocks noGrp="1"/>
          </p:cNvGraphicFramePr>
          <p:nvPr>
            <p:extLst>
              <p:ext uri="{D42A27DB-BD31-4B8C-83A1-F6EECF244321}">
                <p14:modId xmlns:p14="http://schemas.microsoft.com/office/powerpoint/2010/main" val="3228543382"/>
              </p:ext>
            </p:extLst>
          </p:nvPr>
        </p:nvGraphicFramePr>
        <p:xfrm>
          <a:off x="6325385" y="1690687"/>
          <a:ext cx="5527249" cy="4483869"/>
        </p:xfrm>
        <a:graphic>
          <a:graphicData uri="http://schemas.openxmlformats.org/drawingml/2006/table">
            <a:tbl>
              <a:tblPr bandRow="1">
                <a:tableStyleId>{5C22544A-7EE6-4342-B048-85BDC9FD1C3A}</a:tableStyleId>
              </a:tblPr>
              <a:tblGrid>
                <a:gridCol w="1961335">
                  <a:extLst>
                    <a:ext uri="{9D8B030D-6E8A-4147-A177-3AD203B41FA5}">
                      <a16:colId xmlns:a16="http://schemas.microsoft.com/office/drawing/2014/main" val="1213495305"/>
                    </a:ext>
                  </a:extLst>
                </a:gridCol>
                <a:gridCol w="880451">
                  <a:extLst>
                    <a:ext uri="{9D8B030D-6E8A-4147-A177-3AD203B41FA5}">
                      <a16:colId xmlns:a16="http://schemas.microsoft.com/office/drawing/2014/main" val="326829433"/>
                    </a:ext>
                  </a:extLst>
                </a:gridCol>
                <a:gridCol w="793915">
                  <a:extLst>
                    <a:ext uri="{9D8B030D-6E8A-4147-A177-3AD203B41FA5}">
                      <a16:colId xmlns:a16="http://schemas.microsoft.com/office/drawing/2014/main" val="1897166972"/>
                    </a:ext>
                  </a:extLst>
                </a:gridCol>
                <a:gridCol w="873752">
                  <a:extLst>
                    <a:ext uri="{9D8B030D-6E8A-4147-A177-3AD203B41FA5}">
                      <a16:colId xmlns:a16="http://schemas.microsoft.com/office/drawing/2014/main" val="7289657"/>
                    </a:ext>
                  </a:extLst>
                </a:gridCol>
                <a:gridCol w="1017796">
                  <a:extLst>
                    <a:ext uri="{9D8B030D-6E8A-4147-A177-3AD203B41FA5}">
                      <a16:colId xmlns:a16="http://schemas.microsoft.com/office/drawing/2014/main" val="2623375954"/>
                    </a:ext>
                  </a:extLst>
                </a:gridCol>
              </a:tblGrid>
              <a:tr h="344913">
                <a:tc>
                  <a:txBody>
                    <a:bodyPr/>
                    <a:lstStyle/>
                    <a:p>
                      <a:pPr>
                        <a:lnSpc>
                          <a:spcPct val="130000"/>
                        </a:lnSpc>
                        <a:spcAft>
                          <a:spcPts val="800"/>
                        </a:spcAft>
                      </a:pPr>
                      <a:r>
                        <a:rPr lang="en-GB" sz="900" kern="100" dirty="0">
                          <a:effectLst/>
                        </a:rPr>
                        <a:t>Sprint#6 : Manage Product</a:t>
                      </a:r>
                      <a:endParaRPr lang="en-IN" sz="8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24/02/2024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25/02/2024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095593067"/>
                  </a:ext>
                </a:extLst>
              </a:tr>
              <a:tr h="344913">
                <a:tc>
                  <a:txBody>
                    <a:bodyPr/>
                    <a:lstStyle/>
                    <a:p>
                      <a:pPr>
                        <a:lnSpc>
                          <a:spcPct val="130000"/>
                        </a:lnSpc>
                        <a:spcAft>
                          <a:spcPts val="800"/>
                        </a:spcAft>
                      </a:pPr>
                      <a:r>
                        <a:rPr lang="en-GB" sz="900" kern="100" dirty="0">
                          <a:effectLst/>
                        </a:rPr>
                        <a:t>Add, Update, View, Delete, Search</a:t>
                      </a:r>
                      <a:endParaRPr lang="en-IN" sz="8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5d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26/02/2024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01/03/2024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693950947"/>
                  </a:ext>
                </a:extLst>
              </a:tr>
              <a:tr h="344913">
                <a:tc>
                  <a:txBody>
                    <a:bodyPr/>
                    <a:lstStyle/>
                    <a:p>
                      <a:pPr>
                        <a:lnSpc>
                          <a:spcPct val="130000"/>
                        </a:lnSpc>
                        <a:spcAft>
                          <a:spcPts val="800"/>
                        </a:spcAft>
                      </a:pPr>
                      <a:r>
                        <a:rPr lang="en-GB" sz="900" kern="100">
                          <a:effectLst/>
                        </a:rPr>
                        <a:t>UI Designing</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02/03/2024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dirty="0">
                          <a:effectLst/>
                        </a:rPr>
                        <a:t>04/03/2024</a:t>
                      </a:r>
                      <a:endParaRPr lang="en-IN" sz="8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dirty="0">
                          <a:effectLst/>
                        </a:rPr>
                        <a:t>Completed</a:t>
                      </a:r>
                      <a:endParaRPr lang="en-IN" sz="8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1422853060"/>
                  </a:ext>
                </a:extLst>
              </a:tr>
              <a:tr h="344913">
                <a:tc>
                  <a:txBody>
                    <a:bodyPr/>
                    <a:lstStyle/>
                    <a:p>
                      <a:pPr>
                        <a:lnSpc>
                          <a:spcPct val="130000"/>
                        </a:lnSpc>
                        <a:spcAft>
                          <a:spcPts val="800"/>
                        </a:spcAft>
                      </a:pPr>
                      <a:r>
                        <a:rPr lang="en-GB" sz="900" kern="100">
                          <a:effectLst/>
                        </a:rPr>
                        <a:t>Sprint#7 : Manage Invoice</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05/03/2024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06/03/2024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4097107569"/>
                  </a:ext>
                </a:extLst>
              </a:tr>
              <a:tr h="344913">
                <a:tc>
                  <a:txBody>
                    <a:bodyPr/>
                    <a:lstStyle/>
                    <a:p>
                      <a:pPr>
                        <a:lnSpc>
                          <a:spcPct val="130000"/>
                        </a:lnSpc>
                        <a:spcAft>
                          <a:spcPts val="800"/>
                        </a:spcAft>
                      </a:pPr>
                      <a:r>
                        <a:rPr lang="en-GB" sz="900" kern="100">
                          <a:effectLst/>
                        </a:rPr>
                        <a:t>Add, Update, View, Delete, Search</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5d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07/03/2024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11/03/2024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1838578337"/>
                  </a:ext>
                </a:extLst>
              </a:tr>
              <a:tr h="344913">
                <a:tc>
                  <a:txBody>
                    <a:bodyPr/>
                    <a:lstStyle/>
                    <a:p>
                      <a:pPr>
                        <a:lnSpc>
                          <a:spcPct val="130000"/>
                        </a:lnSpc>
                        <a:spcAft>
                          <a:spcPts val="800"/>
                        </a:spcAft>
                      </a:pPr>
                      <a:r>
                        <a:rPr lang="en-GB" sz="900" kern="100">
                          <a:effectLst/>
                        </a:rPr>
                        <a:t>UI Designing</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12/03/2024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14/03/2024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052925134"/>
                  </a:ext>
                </a:extLst>
              </a:tr>
              <a:tr h="344913">
                <a:tc>
                  <a:txBody>
                    <a:bodyPr/>
                    <a:lstStyle/>
                    <a:p>
                      <a:pPr>
                        <a:lnSpc>
                          <a:spcPct val="130000"/>
                        </a:lnSpc>
                        <a:spcAft>
                          <a:spcPts val="800"/>
                        </a:spcAft>
                      </a:pPr>
                      <a:r>
                        <a:rPr lang="en-GB" sz="900" kern="100">
                          <a:effectLst/>
                        </a:rPr>
                        <a:t>Sprint#8 : Manage report</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15/03/2024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16/03/2024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688049466"/>
                  </a:ext>
                </a:extLst>
              </a:tr>
              <a:tr h="344913">
                <a:tc>
                  <a:txBody>
                    <a:bodyPr/>
                    <a:lstStyle/>
                    <a:p>
                      <a:pPr>
                        <a:lnSpc>
                          <a:spcPct val="130000"/>
                        </a:lnSpc>
                        <a:spcAft>
                          <a:spcPts val="800"/>
                        </a:spcAft>
                      </a:pPr>
                      <a:r>
                        <a:rPr lang="en-GB" sz="900" kern="100">
                          <a:effectLst/>
                        </a:rPr>
                        <a:t>Search</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17/03/2024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18/03/2024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637146246"/>
                  </a:ext>
                </a:extLst>
              </a:tr>
              <a:tr h="344913">
                <a:tc>
                  <a:txBody>
                    <a:bodyPr/>
                    <a:lstStyle/>
                    <a:p>
                      <a:pPr>
                        <a:lnSpc>
                          <a:spcPct val="130000"/>
                        </a:lnSpc>
                        <a:spcAft>
                          <a:spcPts val="800"/>
                        </a:spcAft>
                      </a:pPr>
                      <a:r>
                        <a:rPr lang="en-GB" sz="900" kern="100">
                          <a:effectLst/>
                        </a:rPr>
                        <a:t>UI Designing</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19/03/2024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21/03/2024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080307503"/>
                  </a:ext>
                </a:extLst>
              </a:tr>
              <a:tr h="344913">
                <a:tc>
                  <a:txBody>
                    <a:bodyPr/>
                    <a:lstStyle/>
                    <a:p>
                      <a:pPr>
                        <a:lnSpc>
                          <a:spcPct val="130000"/>
                        </a:lnSpc>
                        <a:spcAft>
                          <a:spcPts val="800"/>
                        </a:spcAft>
                      </a:pPr>
                      <a:r>
                        <a:rPr lang="en-GB" sz="900" kern="100">
                          <a:effectLst/>
                        </a:rPr>
                        <a:t>Sprint#9 : Generate Invoice</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22/03/2024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24/03/2024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4267903172"/>
                  </a:ext>
                </a:extLst>
              </a:tr>
              <a:tr h="344913">
                <a:tc>
                  <a:txBody>
                    <a:bodyPr/>
                    <a:lstStyle/>
                    <a:p>
                      <a:pPr>
                        <a:lnSpc>
                          <a:spcPct val="130000"/>
                        </a:lnSpc>
                        <a:spcAft>
                          <a:spcPts val="800"/>
                        </a:spcAft>
                      </a:pPr>
                      <a:r>
                        <a:rPr lang="en-GB" sz="900" kern="100">
                          <a:effectLst/>
                        </a:rPr>
                        <a:t>Search</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25/03/2024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27/03/2024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356704542"/>
                  </a:ext>
                </a:extLst>
              </a:tr>
              <a:tr h="344913">
                <a:tc>
                  <a:txBody>
                    <a:bodyPr/>
                    <a:lstStyle/>
                    <a:p>
                      <a:pPr>
                        <a:lnSpc>
                          <a:spcPct val="130000"/>
                        </a:lnSpc>
                        <a:spcAft>
                          <a:spcPts val="800"/>
                        </a:spcAft>
                      </a:pPr>
                      <a:r>
                        <a:rPr lang="en-GB" sz="900" kern="100">
                          <a:effectLst/>
                        </a:rPr>
                        <a:t>Sprint#10 : Download Invoice</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5d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28/03/2024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01/04/2024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3547073253"/>
                  </a:ext>
                </a:extLst>
              </a:tr>
              <a:tr h="344913">
                <a:tc>
                  <a:txBody>
                    <a:bodyPr/>
                    <a:lstStyle/>
                    <a:p>
                      <a:pPr>
                        <a:lnSpc>
                          <a:spcPct val="130000"/>
                        </a:lnSpc>
                        <a:spcAft>
                          <a:spcPts val="800"/>
                        </a:spcAft>
                      </a:pPr>
                      <a:r>
                        <a:rPr lang="en-GB" sz="900" kern="100">
                          <a:effectLst/>
                        </a:rPr>
                        <a:t>Download as pdf</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4d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02/04/2024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05/04/2024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dirty="0">
                          <a:effectLst/>
                        </a:rPr>
                        <a:t>Completed</a:t>
                      </a:r>
                      <a:endParaRPr lang="en-IN" sz="8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3954888596"/>
                  </a:ext>
                </a:extLst>
              </a:tr>
            </a:tbl>
          </a:graphicData>
        </a:graphic>
      </p:graphicFrame>
    </p:spTree>
    <p:extLst>
      <p:ext uri="{BB962C8B-B14F-4D97-AF65-F5344CB8AC3E}">
        <p14:creationId xmlns:p14="http://schemas.microsoft.com/office/powerpoint/2010/main" val="30105373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2E12A-DDFD-B300-424A-786AEBBE45B4}"/>
              </a:ext>
            </a:extLst>
          </p:cNvPr>
          <p:cNvSpPr>
            <a:spLocks noGrp="1"/>
          </p:cNvSpPr>
          <p:nvPr>
            <p:ph type="title"/>
          </p:nvPr>
        </p:nvSpPr>
        <p:spPr/>
        <p:txBody>
          <a:bodyPr/>
          <a:lstStyle/>
          <a:p>
            <a:r>
              <a:rPr lang="en-IN" dirty="0"/>
              <a:t>5.4 Agile User Story:</a:t>
            </a:r>
          </a:p>
        </p:txBody>
      </p:sp>
      <p:graphicFrame>
        <p:nvGraphicFramePr>
          <p:cNvPr id="6" name="Content Placeholder 5">
            <a:extLst>
              <a:ext uri="{FF2B5EF4-FFF2-40B4-BE49-F238E27FC236}">
                <a16:creationId xmlns:a16="http://schemas.microsoft.com/office/drawing/2014/main" id="{D84E4CB4-ADA5-9042-1354-5F5E9A91B70A}"/>
              </a:ext>
            </a:extLst>
          </p:cNvPr>
          <p:cNvGraphicFramePr>
            <a:graphicFrameLocks noGrp="1"/>
          </p:cNvGraphicFramePr>
          <p:nvPr>
            <p:ph idx="1"/>
            <p:extLst>
              <p:ext uri="{D42A27DB-BD31-4B8C-83A1-F6EECF244321}">
                <p14:modId xmlns:p14="http://schemas.microsoft.com/office/powerpoint/2010/main" val="4045049483"/>
              </p:ext>
            </p:extLst>
          </p:nvPr>
        </p:nvGraphicFramePr>
        <p:xfrm>
          <a:off x="405115" y="1690687"/>
          <a:ext cx="11364854" cy="4936792"/>
        </p:xfrm>
        <a:graphic>
          <a:graphicData uri="http://schemas.openxmlformats.org/drawingml/2006/table">
            <a:tbl>
              <a:tblPr firstRow="1" firstCol="1" bandRow="1">
                <a:tableStyleId>{5C22544A-7EE6-4342-B048-85BDC9FD1C3A}</a:tableStyleId>
              </a:tblPr>
              <a:tblGrid>
                <a:gridCol w="951951">
                  <a:extLst>
                    <a:ext uri="{9D8B030D-6E8A-4147-A177-3AD203B41FA5}">
                      <a16:colId xmlns:a16="http://schemas.microsoft.com/office/drawing/2014/main" val="3594020863"/>
                    </a:ext>
                  </a:extLst>
                </a:gridCol>
                <a:gridCol w="2416496">
                  <a:extLst>
                    <a:ext uri="{9D8B030D-6E8A-4147-A177-3AD203B41FA5}">
                      <a16:colId xmlns:a16="http://schemas.microsoft.com/office/drawing/2014/main" val="3908187983"/>
                    </a:ext>
                  </a:extLst>
                </a:gridCol>
                <a:gridCol w="5156890">
                  <a:extLst>
                    <a:ext uri="{9D8B030D-6E8A-4147-A177-3AD203B41FA5}">
                      <a16:colId xmlns:a16="http://schemas.microsoft.com/office/drawing/2014/main" val="2921388629"/>
                    </a:ext>
                  </a:extLst>
                </a:gridCol>
                <a:gridCol w="2839517">
                  <a:extLst>
                    <a:ext uri="{9D8B030D-6E8A-4147-A177-3AD203B41FA5}">
                      <a16:colId xmlns:a16="http://schemas.microsoft.com/office/drawing/2014/main" val="3779846859"/>
                    </a:ext>
                  </a:extLst>
                </a:gridCol>
              </a:tblGrid>
              <a:tr h="527949">
                <a:tc>
                  <a:txBody>
                    <a:bodyPr/>
                    <a:lstStyle/>
                    <a:p>
                      <a:pPr marL="65405" algn="ctr">
                        <a:lnSpc>
                          <a:spcPct val="120000"/>
                        </a:lnSpc>
                        <a:spcAft>
                          <a:spcPts val="600"/>
                        </a:spcAft>
                      </a:pPr>
                      <a:r>
                        <a:rPr lang="en-GB" sz="1600" kern="100" dirty="0">
                          <a:effectLst/>
                        </a:rPr>
                        <a:t>User Story ID</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945" algn="ctr">
                        <a:lnSpc>
                          <a:spcPct val="120000"/>
                        </a:lnSpc>
                        <a:spcAft>
                          <a:spcPts val="600"/>
                        </a:spcAft>
                      </a:pPr>
                      <a:r>
                        <a:rPr lang="en-GB" sz="1600" kern="100" dirty="0">
                          <a:effectLst/>
                        </a:rPr>
                        <a:t>As a (type of user)</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945" marR="321945" algn="ctr">
                        <a:lnSpc>
                          <a:spcPct val="113000"/>
                        </a:lnSpc>
                        <a:spcAft>
                          <a:spcPts val="600"/>
                        </a:spcAft>
                      </a:pPr>
                      <a:r>
                        <a:rPr lang="en-GB" sz="1600" kern="100">
                          <a:effectLst/>
                        </a:rPr>
                        <a:t>I want to (perform some task)</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310" marR="142875" algn="ctr">
                        <a:lnSpc>
                          <a:spcPct val="113000"/>
                        </a:lnSpc>
                        <a:spcAft>
                          <a:spcPts val="600"/>
                        </a:spcAft>
                      </a:pPr>
                      <a:r>
                        <a:rPr lang="en-GB" sz="1600" kern="100">
                          <a:effectLst/>
                        </a:rPr>
                        <a:t>So that I can (achieve some goal)</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extLst>
                  <a:ext uri="{0D108BD9-81ED-4DB2-BD59-A6C34878D82A}">
                    <a16:rowId xmlns:a16="http://schemas.microsoft.com/office/drawing/2014/main" val="2401448813"/>
                  </a:ext>
                </a:extLst>
              </a:tr>
              <a:tr h="554043">
                <a:tc>
                  <a:txBody>
                    <a:bodyPr/>
                    <a:lstStyle/>
                    <a:p>
                      <a:pPr marL="65405">
                        <a:lnSpc>
                          <a:spcPct val="120000"/>
                        </a:lnSpc>
                        <a:spcAft>
                          <a:spcPts val="600"/>
                        </a:spcAft>
                      </a:pPr>
                      <a:r>
                        <a:rPr lang="en-GB" sz="1600" kern="100" dirty="0">
                          <a:effectLst/>
                        </a:rPr>
                        <a:t>1</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4770">
                        <a:lnSpc>
                          <a:spcPct val="120000"/>
                        </a:lnSpc>
                        <a:spcAft>
                          <a:spcPts val="600"/>
                        </a:spcAft>
                      </a:pPr>
                      <a:r>
                        <a:rPr lang="en-GB" sz="1600" kern="100" dirty="0">
                          <a:effectLst/>
                        </a:rPr>
                        <a:t>Admin</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945">
                        <a:lnSpc>
                          <a:spcPct val="120000"/>
                        </a:lnSpc>
                        <a:spcAft>
                          <a:spcPts val="600"/>
                        </a:spcAft>
                      </a:pPr>
                      <a:r>
                        <a:rPr lang="en-GB" sz="1600" kern="100">
                          <a:effectLst/>
                        </a:rPr>
                        <a:t>Manage Brand </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310" marR="250825">
                        <a:lnSpc>
                          <a:spcPct val="113000"/>
                        </a:lnSpc>
                        <a:spcAft>
                          <a:spcPts val="600"/>
                        </a:spcAft>
                      </a:pPr>
                      <a:r>
                        <a:rPr lang="en-GB" sz="1600" kern="100">
                          <a:effectLst/>
                        </a:rPr>
                        <a:t>Add, Update, Delete, Search and View the Brand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extLst>
                  <a:ext uri="{0D108BD9-81ED-4DB2-BD59-A6C34878D82A}">
                    <a16:rowId xmlns:a16="http://schemas.microsoft.com/office/drawing/2014/main" val="1900476755"/>
                  </a:ext>
                </a:extLst>
              </a:tr>
              <a:tr h="554043">
                <a:tc>
                  <a:txBody>
                    <a:bodyPr/>
                    <a:lstStyle/>
                    <a:p>
                      <a:pPr marL="65405">
                        <a:lnSpc>
                          <a:spcPct val="120000"/>
                        </a:lnSpc>
                        <a:spcAft>
                          <a:spcPts val="600"/>
                        </a:spcAft>
                      </a:pPr>
                      <a:r>
                        <a:rPr lang="en-GB" sz="1600" kern="100">
                          <a:effectLst/>
                        </a:rPr>
                        <a:t>2</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4770">
                        <a:lnSpc>
                          <a:spcPct val="120000"/>
                        </a:lnSpc>
                        <a:spcAft>
                          <a:spcPts val="600"/>
                        </a:spcAft>
                      </a:pPr>
                      <a:r>
                        <a:rPr lang="en-GB" sz="1600" kern="100" dirty="0">
                          <a:effectLst/>
                        </a:rPr>
                        <a:t>Admin</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945">
                        <a:lnSpc>
                          <a:spcPct val="120000"/>
                        </a:lnSpc>
                        <a:spcAft>
                          <a:spcPts val="600"/>
                        </a:spcAft>
                      </a:pPr>
                      <a:r>
                        <a:rPr lang="en-GB" sz="1600" kern="100">
                          <a:effectLst/>
                        </a:rPr>
                        <a:t>Manage Categories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310" marR="151130">
                        <a:lnSpc>
                          <a:spcPct val="113000"/>
                        </a:lnSpc>
                        <a:spcAft>
                          <a:spcPts val="600"/>
                        </a:spcAft>
                      </a:pPr>
                      <a:r>
                        <a:rPr lang="en-GB" sz="1600" kern="100">
                          <a:effectLst/>
                        </a:rPr>
                        <a:t>Add, Update, Delete, Search and View the Categories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extLst>
                  <a:ext uri="{0D108BD9-81ED-4DB2-BD59-A6C34878D82A}">
                    <a16:rowId xmlns:a16="http://schemas.microsoft.com/office/drawing/2014/main" val="2185023569"/>
                  </a:ext>
                </a:extLst>
              </a:tr>
              <a:tr h="554043">
                <a:tc>
                  <a:txBody>
                    <a:bodyPr/>
                    <a:lstStyle/>
                    <a:p>
                      <a:pPr marL="65405">
                        <a:lnSpc>
                          <a:spcPct val="113000"/>
                        </a:lnSpc>
                        <a:spcAft>
                          <a:spcPts val="600"/>
                        </a:spcAft>
                      </a:pPr>
                      <a:r>
                        <a:rPr lang="en-GB" sz="1600" kern="100">
                          <a:effectLst/>
                        </a:rPr>
                        <a:t>3</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4770">
                        <a:lnSpc>
                          <a:spcPct val="113000"/>
                        </a:lnSpc>
                        <a:spcAft>
                          <a:spcPts val="600"/>
                        </a:spcAft>
                      </a:pPr>
                      <a:r>
                        <a:rPr lang="en-GB" sz="1600" kern="100" dirty="0">
                          <a:effectLst/>
                        </a:rPr>
                        <a:t>Admin</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945">
                        <a:lnSpc>
                          <a:spcPct val="113000"/>
                        </a:lnSpc>
                        <a:spcAft>
                          <a:spcPts val="600"/>
                        </a:spcAft>
                      </a:pPr>
                      <a:r>
                        <a:rPr lang="en-GB" sz="1600" kern="100">
                          <a:effectLst/>
                        </a:rPr>
                        <a:t>Manage Product</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310" marR="298450">
                        <a:lnSpc>
                          <a:spcPct val="113000"/>
                        </a:lnSpc>
                        <a:spcAft>
                          <a:spcPts val="600"/>
                        </a:spcAft>
                      </a:pPr>
                      <a:r>
                        <a:rPr lang="en-GB" sz="1600" kern="100">
                          <a:effectLst/>
                        </a:rPr>
                        <a:t>Add, Update, Delete, Search and View the Product</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extLst>
                  <a:ext uri="{0D108BD9-81ED-4DB2-BD59-A6C34878D82A}">
                    <a16:rowId xmlns:a16="http://schemas.microsoft.com/office/drawing/2014/main" val="1355665638"/>
                  </a:ext>
                </a:extLst>
              </a:tr>
              <a:tr h="975403">
                <a:tc>
                  <a:txBody>
                    <a:bodyPr/>
                    <a:lstStyle/>
                    <a:p>
                      <a:pPr marL="65405">
                        <a:lnSpc>
                          <a:spcPct val="120000"/>
                        </a:lnSpc>
                        <a:spcAft>
                          <a:spcPts val="600"/>
                        </a:spcAft>
                      </a:pPr>
                      <a:r>
                        <a:rPr lang="en-GB" sz="1600" kern="100">
                          <a:effectLst/>
                        </a:rPr>
                        <a:t>4</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4770">
                        <a:lnSpc>
                          <a:spcPct val="120000"/>
                        </a:lnSpc>
                        <a:spcAft>
                          <a:spcPts val="600"/>
                        </a:spcAft>
                      </a:pPr>
                      <a:r>
                        <a:rPr lang="en-GB" sz="1600" kern="100">
                          <a:effectLst/>
                        </a:rPr>
                        <a:t>Admin</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945">
                        <a:lnSpc>
                          <a:spcPct val="120000"/>
                        </a:lnSpc>
                        <a:spcAft>
                          <a:spcPts val="600"/>
                        </a:spcAft>
                      </a:pPr>
                      <a:r>
                        <a:rPr lang="en-GB" sz="1600" kern="100" dirty="0">
                          <a:effectLst/>
                        </a:rPr>
                        <a:t>Manage Invoice</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310" marR="721995">
                        <a:lnSpc>
                          <a:spcPct val="113000"/>
                        </a:lnSpc>
                        <a:spcAft>
                          <a:spcPts val="600"/>
                        </a:spcAft>
                      </a:pPr>
                      <a:r>
                        <a:rPr lang="en-GB" sz="1600" kern="100" dirty="0">
                          <a:effectLst/>
                        </a:rPr>
                        <a:t>Add, Update, Delete, Search and View the Invoice</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extLst>
                  <a:ext uri="{0D108BD9-81ED-4DB2-BD59-A6C34878D82A}">
                    <a16:rowId xmlns:a16="http://schemas.microsoft.com/office/drawing/2014/main" val="739322250"/>
                  </a:ext>
                </a:extLst>
              </a:tr>
              <a:tr h="273137">
                <a:tc>
                  <a:txBody>
                    <a:bodyPr/>
                    <a:lstStyle/>
                    <a:p>
                      <a:pPr marL="65405">
                        <a:lnSpc>
                          <a:spcPct val="120000"/>
                        </a:lnSpc>
                        <a:spcAft>
                          <a:spcPts val="600"/>
                        </a:spcAft>
                      </a:pPr>
                      <a:r>
                        <a:rPr lang="en-GB" sz="1600" kern="100">
                          <a:effectLst/>
                        </a:rPr>
                        <a:t>5</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4770">
                        <a:lnSpc>
                          <a:spcPct val="120000"/>
                        </a:lnSpc>
                        <a:spcAft>
                          <a:spcPts val="600"/>
                        </a:spcAft>
                      </a:pPr>
                      <a:r>
                        <a:rPr lang="en-GB" sz="1600" kern="100">
                          <a:effectLst/>
                        </a:rPr>
                        <a:t>Admin</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945">
                        <a:lnSpc>
                          <a:spcPct val="120000"/>
                        </a:lnSpc>
                        <a:spcAft>
                          <a:spcPts val="600"/>
                        </a:spcAft>
                      </a:pPr>
                      <a:r>
                        <a:rPr lang="en-GB" sz="1600" kern="100" dirty="0">
                          <a:effectLst/>
                        </a:rPr>
                        <a:t>Generate Invoice</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310" marR="721995">
                        <a:lnSpc>
                          <a:spcPct val="113000"/>
                        </a:lnSpc>
                        <a:spcAft>
                          <a:spcPts val="600"/>
                        </a:spcAft>
                      </a:pPr>
                      <a:r>
                        <a:rPr lang="en-GB" sz="1600" kern="100">
                          <a:effectLst/>
                        </a:rPr>
                        <a:t>View Invoice</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extLst>
                  <a:ext uri="{0D108BD9-81ED-4DB2-BD59-A6C34878D82A}">
                    <a16:rowId xmlns:a16="http://schemas.microsoft.com/office/drawing/2014/main" val="3782446311"/>
                  </a:ext>
                </a:extLst>
              </a:tr>
              <a:tr h="273137">
                <a:tc>
                  <a:txBody>
                    <a:bodyPr/>
                    <a:lstStyle/>
                    <a:p>
                      <a:pPr marL="65405">
                        <a:lnSpc>
                          <a:spcPct val="120000"/>
                        </a:lnSpc>
                        <a:spcAft>
                          <a:spcPts val="600"/>
                        </a:spcAft>
                      </a:pPr>
                      <a:r>
                        <a:rPr lang="en-GB" sz="1600" kern="100">
                          <a:effectLst/>
                        </a:rPr>
                        <a:t>6</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4770">
                        <a:lnSpc>
                          <a:spcPct val="120000"/>
                        </a:lnSpc>
                        <a:spcAft>
                          <a:spcPts val="600"/>
                        </a:spcAft>
                      </a:pPr>
                      <a:r>
                        <a:rPr lang="en-GB" sz="1600" kern="100">
                          <a:effectLst/>
                        </a:rPr>
                        <a:t>Admin</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945">
                        <a:lnSpc>
                          <a:spcPct val="120000"/>
                        </a:lnSpc>
                        <a:spcAft>
                          <a:spcPts val="600"/>
                        </a:spcAft>
                      </a:pPr>
                      <a:r>
                        <a:rPr lang="en-GB" sz="1600" kern="100" dirty="0">
                          <a:effectLst/>
                        </a:rPr>
                        <a:t>Download Invoice</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310" marR="82550">
                        <a:lnSpc>
                          <a:spcPct val="113000"/>
                        </a:lnSpc>
                        <a:spcAft>
                          <a:spcPts val="600"/>
                        </a:spcAft>
                      </a:pPr>
                      <a:r>
                        <a:rPr lang="en-GB" sz="1600" kern="100">
                          <a:effectLst/>
                        </a:rPr>
                        <a:t>Download the invoice as pdf </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extLst>
                  <a:ext uri="{0D108BD9-81ED-4DB2-BD59-A6C34878D82A}">
                    <a16:rowId xmlns:a16="http://schemas.microsoft.com/office/drawing/2014/main" val="2834032881"/>
                  </a:ext>
                </a:extLst>
              </a:tr>
              <a:tr h="554043">
                <a:tc>
                  <a:txBody>
                    <a:bodyPr/>
                    <a:lstStyle/>
                    <a:p>
                      <a:pPr marL="65405">
                        <a:lnSpc>
                          <a:spcPct val="120000"/>
                        </a:lnSpc>
                        <a:spcAft>
                          <a:spcPts val="600"/>
                        </a:spcAft>
                      </a:pPr>
                      <a:r>
                        <a:rPr lang="en-GB" sz="1600" kern="100">
                          <a:effectLst/>
                        </a:rPr>
                        <a:t>7</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4770">
                        <a:lnSpc>
                          <a:spcPct val="120000"/>
                        </a:lnSpc>
                        <a:spcAft>
                          <a:spcPts val="600"/>
                        </a:spcAft>
                      </a:pPr>
                      <a:r>
                        <a:rPr lang="en-GB" sz="1600" kern="100">
                          <a:effectLst/>
                        </a:rPr>
                        <a:t>Admin</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55880">
                        <a:lnSpc>
                          <a:spcPct val="120000"/>
                        </a:lnSpc>
                        <a:spcAft>
                          <a:spcPts val="600"/>
                        </a:spcAft>
                      </a:pPr>
                      <a:r>
                        <a:rPr lang="en-GB" sz="1600" kern="100" dirty="0">
                          <a:effectLst/>
                        </a:rPr>
                        <a:t>Generate Report</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310" marR="164465">
                        <a:lnSpc>
                          <a:spcPct val="113000"/>
                        </a:lnSpc>
                        <a:spcAft>
                          <a:spcPts val="600"/>
                        </a:spcAft>
                      </a:pPr>
                      <a:r>
                        <a:rPr lang="en-GB" sz="1600" kern="100">
                          <a:effectLst/>
                        </a:rPr>
                        <a:t>View report of sales from particular date or month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extLst>
                  <a:ext uri="{0D108BD9-81ED-4DB2-BD59-A6C34878D82A}">
                    <a16:rowId xmlns:a16="http://schemas.microsoft.com/office/drawing/2014/main" val="2428824254"/>
                  </a:ext>
                </a:extLst>
              </a:tr>
              <a:tr h="633285">
                <a:tc>
                  <a:txBody>
                    <a:bodyPr/>
                    <a:lstStyle/>
                    <a:p>
                      <a:pPr marL="65405">
                        <a:lnSpc>
                          <a:spcPct val="120000"/>
                        </a:lnSpc>
                        <a:spcAft>
                          <a:spcPts val="600"/>
                        </a:spcAft>
                      </a:pPr>
                      <a:r>
                        <a:rPr lang="en-GB" sz="1600" kern="100">
                          <a:effectLst/>
                        </a:rPr>
                        <a:t>8</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4770">
                        <a:lnSpc>
                          <a:spcPct val="120000"/>
                        </a:lnSpc>
                        <a:spcAft>
                          <a:spcPts val="600"/>
                        </a:spcAft>
                      </a:pPr>
                      <a:r>
                        <a:rPr lang="en-GB" sz="1600" kern="100">
                          <a:effectLst/>
                        </a:rPr>
                        <a:t>Admin</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945">
                        <a:lnSpc>
                          <a:spcPct val="120000"/>
                        </a:lnSpc>
                        <a:spcAft>
                          <a:spcPts val="600"/>
                        </a:spcAft>
                      </a:pPr>
                      <a:r>
                        <a:rPr lang="en-GB" sz="1600" kern="100">
                          <a:effectLst/>
                        </a:rPr>
                        <a:t>Download Report</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310">
                        <a:lnSpc>
                          <a:spcPct val="130000"/>
                        </a:lnSpc>
                        <a:spcAft>
                          <a:spcPts val="600"/>
                        </a:spcAft>
                      </a:pPr>
                      <a:r>
                        <a:rPr lang="en-GB" sz="1600" kern="100" dirty="0">
                          <a:effectLst/>
                        </a:rPr>
                        <a:t>Download report of sales from particular date or month</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extLst>
                  <a:ext uri="{0D108BD9-81ED-4DB2-BD59-A6C34878D82A}">
                    <a16:rowId xmlns:a16="http://schemas.microsoft.com/office/drawing/2014/main" val="793666240"/>
                  </a:ext>
                </a:extLst>
              </a:tr>
            </a:tbl>
          </a:graphicData>
        </a:graphic>
      </p:graphicFrame>
      <p:sp>
        <p:nvSpPr>
          <p:cNvPr id="7" name="Rectangle 2">
            <a:extLst>
              <a:ext uri="{FF2B5EF4-FFF2-40B4-BE49-F238E27FC236}">
                <a16:creationId xmlns:a16="http://schemas.microsoft.com/office/drawing/2014/main" id="{9F7B932F-3EF1-221E-5E8E-FB5D017E60F9}"/>
              </a:ext>
            </a:extLst>
          </p:cNvPr>
          <p:cNvSpPr>
            <a:spLocks noChangeArrowheads="1"/>
          </p:cNvSpPr>
          <p:nvPr/>
        </p:nvSpPr>
        <p:spPr bwMode="auto">
          <a:xfrm>
            <a:off x="-6881661" y="1838632"/>
            <a:ext cx="2811084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0291754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91DD3-BC27-09FD-C86C-F8DD65AA976E}"/>
              </a:ext>
            </a:extLst>
          </p:cNvPr>
          <p:cNvSpPr>
            <a:spLocks noGrp="1"/>
          </p:cNvSpPr>
          <p:nvPr>
            <p:ph type="title"/>
          </p:nvPr>
        </p:nvSpPr>
        <p:spPr/>
        <p:txBody>
          <a:bodyPr/>
          <a:lstStyle/>
          <a:p>
            <a:r>
              <a:rPr lang="en-IN" dirty="0"/>
              <a:t>5.5 Agile Release Plan: </a:t>
            </a:r>
          </a:p>
        </p:txBody>
      </p:sp>
      <p:graphicFrame>
        <p:nvGraphicFramePr>
          <p:cNvPr id="4" name="Content Placeholder 3">
            <a:extLst>
              <a:ext uri="{FF2B5EF4-FFF2-40B4-BE49-F238E27FC236}">
                <a16:creationId xmlns:a16="http://schemas.microsoft.com/office/drawing/2014/main" id="{DAFE93BB-17E9-2C64-3DB9-E35BB736F7F8}"/>
              </a:ext>
            </a:extLst>
          </p:cNvPr>
          <p:cNvGraphicFramePr>
            <a:graphicFrameLocks noGrp="1"/>
          </p:cNvGraphicFramePr>
          <p:nvPr>
            <p:ph idx="1"/>
            <p:extLst>
              <p:ext uri="{D42A27DB-BD31-4B8C-83A1-F6EECF244321}">
                <p14:modId xmlns:p14="http://schemas.microsoft.com/office/powerpoint/2010/main" val="2919179714"/>
              </p:ext>
            </p:extLst>
          </p:nvPr>
        </p:nvGraphicFramePr>
        <p:xfrm>
          <a:off x="348618" y="1690688"/>
          <a:ext cx="5747382" cy="4616109"/>
        </p:xfrm>
        <a:graphic>
          <a:graphicData uri="http://schemas.openxmlformats.org/drawingml/2006/table">
            <a:tbl>
              <a:tblPr bandRow="1">
                <a:tableStyleId>{5C22544A-7EE6-4342-B048-85BDC9FD1C3A}</a:tableStyleId>
              </a:tblPr>
              <a:tblGrid>
                <a:gridCol w="2039449">
                  <a:extLst>
                    <a:ext uri="{9D8B030D-6E8A-4147-A177-3AD203B41FA5}">
                      <a16:colId xmlns:a16="http://schemas.microsoft.com/office/drawing/2014/main" val="1481284092"/>
                    </a:ext>
                  </a:extLst>
                </a:gridCol>
                <a:gridCol w="915518">
                  <a:extLst>
                    <a:ext uri="{9D8B030D-6E8A-4147-A177-3AD203B41FA5}">
                      <a16:colId xmlns:a16="http://schemas.microsoft.com/office/drawing/2014/main" val="1767855321"/>
                    </a:ext>
                  </a:extLst>
                </a:gridCol>
                <a:gridCol w="825534">
                  <a:extLst>
                    <a:ext uri="{9D8B030D-6E8A-4147-A177-3AD203B41FA5}">
                      <a16:colId xmlns:a16="http://schemas.microsoft.com/office/drawing/2014/main" val="4169204040"/>
                    </a:ext>
                  </a:extLst>
                </a:gridCol>
                <a:gridCol w="908551">
                  <a:extLst>
                    <a:ext uri="{9D8B030D-6E8A-4147-A177-3AD203B41FA5}">
                      <a16:colId xmlns:a16="http://schemas.microsoft.com/office/drawing/2014/main" val="2241888467"/>
                    </a:ext>
                  </a:extLst>
                </a:gridCol>
                <a:gridCol w="1058330">
                  <a:extLst>
                    <a:ext uri="{9D8B030D-6E8A-4147-A177-3AD203B41FA5}">
                      <a16:colId xmlns:a16="http://schemas.microsoft.com/office/drawing/2014/main" val="2135929915"/>
                    </a:ext>
                  </a:extLst>
                </a:gridCol>
              </a:tblGrid>
              <a:tr h="343295">
                <a:tc>
                  <a:txBody>
                    <a:bodyPr/>
                    <a:lstStyle/>
                    <a:p>
                      <a:pPr algn="ctr">
                        <a:lnSpc>
                          <a:spcPct val="130000"/>
                        </a:lnSpc>
                        <a:spcAft>
                          <a:spcPts val="800"/>
                        </a:spcAft>
                      </a:pPr>
                      <a:r>
                        <a:rPr lang="en-GB" sz="800" kern="100">
                          <a:effectLst/>
                        </a:rPr>
                        <a:t>Task Name</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gn="ctr">
                        <a:lnSpc>
                          <a:spcPct val="130000"/>
                        </a:lnSpc>
                        <a:spcAft>
                          <a:spcPts val="800"/>
                        </a:spcAft>
                      </a:pPr>
                      <a:r>
                        <a:rPr lang="en-GB" sz="800" kern="100">
                          <a:effectLst/>
                        </a:rPr>
                        <a:t>Duration</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gn="ctr">
                        <a:lnSpc>
                          <a:spcPct val="130000"/>
                        </a:lnSpc>
                        <a:spcAft>
                          <a:spcPts val="800"/>
                        </a:spcAft>
                      </a:pPr>
                      <a:r>
                        <a:rPr lang="en-GB" sz="800" kern="100">
                          <a:effectLst/>
                        </a:rPr>
                        <a:t>Start</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gn="ctr">
                        <a:lnSpc>
                          <a:spcPct val="130000"/>
                        </a:lnSpc>
                        <a:spcAft>
                          <a:spcPts val="800"/>
                        </a:spcAft>
                      </a:pPr>
                      <a:r>
                        <a:rPr lang="en-GB" sz="800" kern="100">
                          <a:effectLst/>
                        </a:rPr>
                        <a:t>Finish</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gn="ctr">
                        <a:lnSpc>
                          <a:spcPct val="130000"/>
                        </a:lnSpc>
                        <a:spcAft>
                          <a:spcPts val="800"/>
                        </a:spcAft>
                      </a:pPr>
                      <a:r>
                        <a:rPr lang="en-GB" sz="800" kern="100">
                          <a:effectLst/>
                        </a:rPr>
                        <a:t>Release</a:t>
                      </a:r>
                      <a:r>
                        <a:rPr lang="en-GB" sz="900" kern="100">
                          <a:effectLst/>
                        </a:rPr>
                        <a:t> Date</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3681817494"/>
                  </a:ext>
                </a:extLst>
              </a:tr>
              <a:tr h="305201">
                <a:tc>
                  <a:txBody>
                    <a:bodyPr/>
                    <a:lstStyle/>
                    <a:p>
                      <a:pPr>
                        <a:lnSpc>
                          <a:spcPct val="130000"/>
                        </a:lnSpc>
                        <a:spcAft>
                          <a:spcPts val="800"/>
                        </a:spcAft>
                      </a:pPr>
                      <a:r>
                        <a:rPr lang="en-GB" sz="800" kern="100">
                          <a:effectLst/>
                        </a:rPr>
                        <a:t>Sprint#1 : Project Structure</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6d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09/01/2024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14/01/2024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14/01/2024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1050369604"/>
                  </a:ext>
                </a:extLst>
              </a:tr>
              <a:tr h="305201">
                <a:tc>
                  <a:txBody>
                    <a:bodyPr/>
                    <a:lstStyle/>
                    <a:p>
                      <a:pPr>
                        <a:lnSpc>
                          <a:spcPct val="130000"/>
                        </a:lnSpc>
                        <a:spcAft>
                          <a:spcPts val="800"/>
                        </a:spcAft>
                      </a:pPr>
                      <a:r>
                        <a:rPr lang="en-GB" sz="800" kern="100">
                          <a:effectLst/>
                        </a:rPr>
                        <a:t>UI Designing</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4d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15/01/2024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18/01/2024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18/01/2024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2999870300"/>
                  </a:ext>
                </a:extLst>
              </a:tr>
              <a:tr h="305201">
                <a:tc>
                  <a:txBody>
                    <a:bodyPr/>
                    <a:lstStyle/>
                    <a:p>
                      <a:pPr>
                        <a:lnSpc>
                          <a:spcPct val="130000"/>
                        </a:lnSpc>
                        <a:spcAft>
                          <a:spcPts val="800"/>
                        </a:spcAft>
                      </a:pPr>
                      <a:r>
                        <a:rPr lang="en-GB" sz="800" kern="100">
                          <a:effectLst/>
                        </a:rPr>
                        <a:t>Database Management</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4d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19/01/2024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22/01/2024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22/01/2024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52138612"/>
                  </a:ext>
                </a:extLst>
              </a:tr>
              <a:tr h="305201">
                <a:tc>
                  <a:txBody>
                    <a:bodyPr/>
                    <a:lstStyle/>
                    <a:p>
                      <a:pPr>
                        <a:lnSpc>
                          <a:spcPct val="130000"/>
                        </a:lnSpc>
                        <a:spcAft>
                          <a:spcPts val="800"/>
                        </a:spcAft>
                      </a:pPr>
                      <a:r>
                        <a:rPr lang="en-GB" sz="800" kern="100">
                          <a:effectLst/>
                        </a:rPr>
                        <a:t>Sprint#2 : Admin</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6d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23/01/2024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28/01/2024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28/01/2024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572711912"/>
                  </a:ext>
                </a:extLst>
              </a:tr>
              <a:tr h="305201">
                <a:tc>
                  <a:txBody>
                    <a:bodyPr/>
                    <a:lstStyle/>
                    <a:p>
                      <a:pPr>
                        <a:lnSpc>
                          <a:spcPct val="130000"/>
                        </a:lnSpc>
                        <a:spcAft>
                          <a:spcPts val="800"/>
                        </a:spcAft>
                      </a:pPr>
                      <a:r>
                        <a:rPr lang="en-GB" sz="800" kern="100">
                          <a:effectLst/>
                        </a:rPr>
                        <a:t>Admin UI Designing</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29/01/2024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30/01/2024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30/01/2024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4228053361"/>
                  </a:ext>
                </a:extLst>
              </a:tr>
              <a:tr h="305201">
                <a:tc>
                  <a:txBody>
                    <a:bodyPr/>
                    <a:lstStyle/>
                    <a:p>
                      <a:pPr>
                        <a:lnSpc>
                          <a:spcPct val="130000"/>
                        </a:lnSpc>
                        <a:spcAft>
                          <a:spcPts val="800"/>
                        </a:spcAft>
                      </a:pPr>
                      <a:r>
                        <a:rPr lang="en-GB" sz="800" kern="100">
                          <a:effectLst/>
                        </a:rPr>
                        <a:t>Sprint#3 : Login and Logout</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31/01/2024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31/01/2024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31/01/2024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3728135837"/>
                  </a:ext>
                </a:extLst>
              </a:tr>
              <a:tr h="305201">
                <a:tc>
                  <a:txBody>
                    <a:bodyPr/>
                    <a:lstStyle/>
                    <a:p>
                      <a:pPr>
                        <a:lnSpc>
                          <a:spcPct val="130000"/>
                        </a:lnSpc>
                        <a:spcAft>
                          <a:spcPts val="800"/>
                        </a:spcAft>
                      </a:pPr>
                      <a:r>
                        <a:rPr lang="en-GB" sz="800" kern="100">
                          <a:effectLst/>
                        </a:rPr>
                        <a:t>Admin Login</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01/02/2024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01/02/2024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01/02/2024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19852102"/>
                  </a:ext>
                </a:extLst>
              </a:tr>
              <a:tr h="305201">
                <a:tc>
                  <a:txBody>
                    <a:bodyPr/>
                    <a:lstStyle/>
                    <a:p>
                      <a:pPr>
                        <a:lnSpc>
                          <a:spcPct val="130000"/>
                        </a:lnSpc>
                        <a:spcAft>
                          <a:spcPts val="800"/>
                        </a:spcAft>
                      </a:pPr>
                      <a:r>
                        <a:rPr lang="en-GB" sz="800" kern="100">
                          <a:effectLst/>
                        </a:rPr>
                        <a:t>Validation</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02/02/2024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03/02/2024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03/02/2024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3789635052"/>
                  </a:ext>
                </a:extLst>
              </a:tr>
              <a:tr h="305201">
                <a:tc>
                  <a:txBody>
                    <a:bodyPr/>
                    <a:lstStyle/>
                    <a:p>
                      <a:pPr>
                        <a:lnSpc>
                          <a:spcPct val="130000"/>
                        </a:lnSpc>
                        <a:spcAft>
                          <a:spcPts val="800"/>
                        </a:spcAft>
                      </a:pPr>
                      <a:r>
                        <a:rPr lang="en-GB" sz="800" kern="100">
                          <a:effectLst/>
                        </a:rPr>
                        <a:t>Sprint#4 : Manage Brand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04/02/2024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05/02/2024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05/02/2024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2025858315"/>
                  </a:ext>
                </a:extLst>
              </a:tr>
              <a:tr h="305201">
                <a:tc>
                  <a:txBody>
                    <a:bodyPr/>
                    <a:lstStyle/>
                    <a:p>
                      <a:pPr>
                        <a:lnSpc>
                          <a:spcPct val="130000"/>
                        </a:lnSpc>
                        <a:spcAft>
                          <a:spcPts val="800"/>
                        </a:spcAft>
                      </a:pPr>
                      <a:r>
                        <a:rPr lang="en-GB" sz="800" kern="100">
                          <a:effectLst/>
                        </a:rPr>
                        <a:t>Add, Update, View, Delete, Search</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5d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06/02/2024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10/02/2024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10/02/2024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492089456"/>
                  </a:ext>
                </a:extLst>
              </a:tr>
              <a:tr h="305201">
                <a:tc>
                  <a:txBody>
                    <a:bodyPr/>
                    <a:lstStyle/>
                    <a:p>
                      <a:pPr>
                        <a:lnSpc>
                          <a:spcPct val="130000"/>
                        </a:lnSpc>
                        <a:spcAft>
                          <a:spcPts val="800"/>
                        </a:spcAft>
                      </a:pPr>
                      <a:r>
                        <a:rPr lang="en-GB" sz="800" kern="100">
                          <a:effectLst/>
                        </a:rPr>
                        <a:t>UI Designing</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3d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11/02/2024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13/02/2024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13/02/2024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3992666302"/>
                  </a:ext>
                </a:extLst>
              </a:tr>
              <a:tr h="305201">
                <a:tc>
                  <a:txBody>
                    <a:bodyPr/>
                    <a:lstStyle/>
                    <a:p>
                      <a:pPr>
                        <a:lnSpc>
                          <a:spcPct val="130000"/>
                        </a:lnSpc>
                        <a:spcAft>
                          <a:spcPts val="800"/>
                        </a:spcAft>
                      </a:pPr>
                      <a:r>
                        <a:rPr lang="en-GB" sz="800" kern="100">
                          <a:effectLst/>
                        </a:rPr>
                        <a:t>Sprint#5 : Manage Categories</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14/02/2024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15/02/2024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15/02/2024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2351343884"/>
                  </a:ext>
                </a:extLst>
              </a:tr>
              <a:tr h="305201">
                <a:tc>
                  <a:txBody>
                    <a:bodyPr/>
                    <a:lstStyle/>
                    <a:p>
                      <a:pPr>
                        <a:lnSpc>
                          <a:spcPct val="130000"/>
                        </a:lnSpc>
                        <a:spcAft>
                          <a:spcPts val="800"/>
                        </a:spcAft>
                      </a:pPr>
                      <a:r>
                        <a:rPr lang="en-GB" sz="800" kern="100">
                          <a:effectLst/>
                        </a:rPr>
                        <a:t>Add, Update, View, Delete, Search</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5d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16/02/2024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20/02/2024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20/02/2024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999685009"/>
                  </a:ext>
                </a:extLst>
              </a:tr>
              <a:tr h="305201">
                <a:tc>
                  <a:txBody>
                    <a:bodyPr/>
                    <a:lstStyle/>
                    <a:p>
                      <a:pPr>
                        <a:lnSpc>
                          <a:spcPct val="130000"/>
                        </a:lnSpc>
                        <a:spcAft>
                          <a:spcPts val="800"/>
                        </a:spcAft>
                      </a:pPr>
                      <a:r>
                        <a:rPr lang="en-GB" sz="800" kern="100">
                          <a:effectLst/>
                        </a:rPr>
                        <a:t>UI Designing</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3d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21/02/2024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23/02/2024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dirty="0">
                          <a:effectLst/>
                        </a:rPr>
                        <a:t>23/02/2024</a:t>
                      </a:r>
                      <a:endParaRPr lang="en-IN" sz="7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2107130257"/>
                  </a:ext>
                </a:extLst>
              </a:tr>
            </a:tbl>
          </a:graphicData>
        </a:graphic>
      </p:graphicFrame>
      <p:graphicFrame>
        <p:nvGraphicFramePr>
          <p:cNvPr id="5" name="Table 4">
            <a:extLst>
              <a:ext uri="{FF2B5EF4-FFF2-40B4-BE49-F238E27FC236}">
                <a16:creationId xmlns:a16="http://schemas.microsoft.com/office/drawing/2014/main" id="{AD2A97B7-7869-C4ED-611B-CA602970035F}"/>
              </a:ext>
            </a:extLst>
          </p:cNvPr>
          <p:cNvGraphicFramePr>
            <a:graphicFrameLocks noGrp="1"/>
          </p:cNvGraphicFramePr>
          <p:nvPr>
            <p:extLst>
              <p:ext uri="{D42A27DB-BD31-4B8C-83A1-F6EECF244321}">
                <p14:modId xmlns:p14="http://schemas.microsoft.com/office/powerpoint/2010/main" val="994418422"/>
              </p:ext>
            </p:extLst>
          </p:nvPr>
        </p:nvGraphicFramePr>
        <p:xfrm>
          <a:off x="6339841" y="1690691"/>
          <a:ext cx="5623558" cy="4616105"/>
        </p:xfrm>
        <a:graphic>
          <a:graphicData uri="http://schemas.openxmlformats.org/drawingml/2006/table">
            <a:tbl>
              <a:tblPr bandRow="1">
                <a:tableStyleId>{5C22544A-7EE6-4342-B048-85BDC9FD1C3A}</a:tableStyleId>
              </a:tblPr>
              <a:tblGrid>
                <a:gridCol w="1995510">
                  <a:extLst>
                    <a:ext uri="{9D8B030D-6E8A-4147-A177-3AD203B41FA5}">
                      <a16:colId xmlns:a16="http://schemas.microsoft.com/office/drawing/2014/main" val="3331737847"/>
                    </a:ext>
                  </a:extLst>
                </a:gridCol>
                <a:gridCol w="895793">
                  <a:extLst>
                    <a:ext uri="{9D8B030D-6E8A-4147-A177-3AD203B41FA5}">
                      <a16:colId xmlns:a16="http://schemas.microsoft.com/office/drawing/2014/main" val="2651899617"/>
                    </a:ext>
                  </a:extLst>
                </a:gridCol>
                <a:gridCol w="807748">
                  <a:extLst>
                    <a:ext uri="{9D8B030D-6E8A-4147-A177-3AD203B41FA5}">
                      <a16:colId xmlns:a16="http://schemas.microsoft.com/office/drawing/2014/main" val="3183352296"/>
                    </a:ext>
                  </a:extLst>
                </a:gridCol>
                <a:gridCol w="888977">
                  <a:extLst>
                    <a:ext uri="{9D8B030D-6E8A-4147-A177-3AD203B41FA5}">
                      <a16:colId xmlns:a16="http://schemas.microsoft.com/office/drawing/2014/main" val="3538028090"/>
                    </a:ext>
                  </a:extLst>
                </a:gridCol>
                <a:gridCol w="1035530">
                  <a:extLst>
                    <a:ext uri="{9D8B030D-6E8A-4147-A177-3AD203B41FA5}">
                      <a16:colId xmlns:a16="http://schemas.microsoft.com/office/drawing/2014/main" val="2738855971"/>
                    </a:ext>
                  </a:extLst>
                </a:gridCol>
              </a:tblGrid>
              <a:tr h="355085">
                <a:tc>
                  <a:txBody>
                    <a:bodyPr/>
                    <a:lstStyle/>
                    <a:p>
                      <a:pPr>
                        <a:lnSpc>
                          <a:spcPct val="130000"/>
                        </a:lnSpc>
                        <a:spcAft>
                          <a:spcPts val="800"/>
                        </a:spcAft>
                      </a:pPr>
                      <a:r>
                        <a:rPr lang="en-GB" sz="900" kern="100">
                          <a:effectLst/>
                        </a:rPr>
                        <a:t>Sprint#6 : Manage Product</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24/02/2024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25/02/2024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25/02/2024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1915685251"/>
                  </a:ext>
                </a:extLst>
              </a:tr>
              <a:tr h="355085">
                <a:tc>
                  <a:txBody>
                    <a:bodyPr/>
                    <a:lstStyle/>
                    <a:p>
                      <a:pPr>
                        <a:lnSpc>
                          <a:spcPct val="130000"/>
                        </a:lnSpc>
                        <a:spcAft>
                          <a:spcPts val="800"/>
                        </a:spcAft>
                      </a:pPr>
                      <a:r>
                        <a:rPr lang="en-GB" sz="900" kern="100">
                          <a:effectLst/>
                        </a:rPr>
                        <a:t>Add, Update, View, Delete, Search</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5d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26/02/2024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01/03/2024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01/03/2024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801276426"/>
                  </a:ext>
                </a:extLst>
              </a:tr>
              <a:tr h="355085">
                <a:tc>
                  <a:txBody>
                    <a:bodyPr/>
                    <a:lstStyle/>
                    <a:p>
                      <a:pPr>
                        <a:lnSpc>
                          <a:spcPct val="130000"/>
                        </a:lnSpc>
                        <a:spcAft>
                          <a:spcPts val="800"/>
                        </a:spcAft>
                      </a:pPr>
                      <a:r>
                        <a:rPr lang="en-GB" sz="900" kern="100">
                          <a:effectLst/>
                        </a:rPr>
                        <a:t>UI Designing</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02/03/2024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04/03/2024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04/03/2024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682118406"/>
                  </a:ext>
                </a:extLst>
              </a:tr>
              <a:tr h="355085">
                <a:tc>
                  <a:txBody>
                    <a:bodyPr/>
                    <a:lstStyle/>
                    <a:p>
                      <a:pPr>
                        <a:lnSpc>
                          <a:spcPct val="130000"/>
                        </a:lnSpc>
                        <a:spcAft>
                          <a:spcPts val="800"/>
                        </a:spcAft>
                      </a:pPr>
                      <a:r>
                        <a:rPr lang="en-GB" sz="900" kern="100">
                          <a:effectLst/>
                        </a:rPr>
                        <a:t>Sprint#7 : Manage Invoice</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05/03/2024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06/03/2024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06/03/2024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1897836815"/>
                  </a:ext>
                </a:extLst>
              </a:tr>
              <a:tr h="355085">
                <a:tc>
                  <a:txBody>
                    <a:bodyPr/>
                    <a:lstStyle/>
                    <a:p>
                      <a:pPr>
                        <a:lnSpc>
                          <a:spcPct val="130000"/>
                        </a:lnSpc>
                        <a:spcAft>
                          <a:spcPts val="800"/>
                        </a:spcAft>
                      </a:pPr>
                      <a:r>
                        <a:rPr lang="en-GB" sz="900" kern="100">
                          <a:effectLst/>
                        </a:rPr>
                        <a:t>Add, Update, View, Delete, Search</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5d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07/03/2024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11/03/2024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11/03/2024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730500452"/>
                  </a:ext>
                </a:extLst>
              </a:tr>
              <a:tr h="355085">
                <a:tc>
                  <a:txBody>
                    <a:bodyPr/>
                    <a:lstStyle/>
                    <a:p>
                      <a:pPr>
                        <a:lnSpc>
                          <a:spcPct val="130000"/>
                        </a:lnSpc>
                        <a:spcAft>
                          <a:spcPts val="800"/>
                        </a:spcAft>
                      </a:pPr>
                      <a:r>
                        <a:rPr lang="en-GB" sz="900" kern="100">
                          <a:effectLst/>
                        </a:rPr>
                        <a:t>UI Designing</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12/03/2024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14/03/2024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14/03/2024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3230570978"/>
                  </a:ext>
                </a:extLst>
              </a:tr>
              <a:tr h="355085">
                <a:tc>
                  <a:txBody>
                    <a:bodyPr/>
                    <a:lstStyle/>
                    <a:p>
                      <a:pPr>
                        <a:lnSpc>
                          <a:spcPct val="130000"/>
                        </a:lnSpc>
                        <a:spcAft>
                          <a:spcPts val="800"/>
                        </a:spcAft>
                      </a:pPr>
                      <a:r>
                        <a:rPr lang="en-GB" sz="900" kern="100">
                          <a:effectLst/>
                        </a:rPr>
                        <a:t>Sprint#8 : Manage report</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15/03/2024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16/03/2024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16/03/2024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960405648"/>
                  </a:ext>
                </a:extLst>
              </a:tr>
              <a:tr h="355085">
                <a:tc>
                  <a:txBody>
                    <a:bodyPr/>
                    <a:lstStyle/>
                    <a:p>
                      <a:pPr>
                        <a:lnSpc>
                          <a:spcPct val="130000"/>
                        </a:lnSpc>
                        <a:spcAft>
                          <a:spcPts val="800"/>
                        </a:spcAft>
                      </a:pPr>
                      <a:r>
                        <a:rPr lang="en-GB" sz="900" kern="100">
                          <a:effectLst/>
                        </a:rPr>
                        <a:t>Search</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17/03/2024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18/03/2024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18/03/2024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1502143757"/>
                  </a:ext>
                </a:extLst>
              </a:tr>
              <a:tr h="355085">
                <a:tc>
                  <a:txBody>
                    <a:bodyPr/>
                    <a:lstStyle/>
                    <a:p>
                      <a:pPr>
                        <a:lnSpc>
                          <a:spcPct val="130000"/>
                        </a:lnSpc>
                        <a:spcAft>
                          <a:spcPts val="800"/>
                        </a:spcAft>
                      </a:pPr>
                      <a:r>
                        <a:rPr lang="en-GB" sz="900" kern="100">
                          <a:effectLst/>
                        </a:rPr>
                        <a:t>UI Designing</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19/03/2024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21/03/2024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21/03/2024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4008484339"/>
                  </a:ext>
                </a:extLst>
              </a:tr>
              <a:tr h="355085">
                <a:tc>
                  <a:txBody>
                    <a:bodyPr/>
                    <a:lstStyle/>
                    <a:p>
                      <a:pPr>
                        <a:lnSpc>
                          <a:spcPct val="130000"/>
                        </a:lnSpc>
                        <a:spcAft>
                          <a:spcPts val="800"/>
                        </a:spcAft>
                      </a:pPr>
                      <a:r>
                        <a:rPr lang="en-GB" sz="900" kern="100">
                          <a:effectLst/>
                        </a:rPr>
                        <a:t>Sprint#9 : Generate Invoice</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22/03/2024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24/03/2024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24/03/2024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3620812993"/>
                  </a:ext>
                </a:extLst>
              </a:tr>
              <a:tr h="355085">
                <a:tc>
                  <a:txBody>
                    <a:bodyPr/>
                    <a:lstStyle/>
                    <a:p>
                      <a:pPr>
                        <a:lnSpc>
                          <a:spcPct val="130000"/>
                        </a:lnSpc>
                        <a:spcAft>
                          <a:spcPts val="800"/>
                        </a:spcAft>
                      </a:pPr>
                      <a:r>
                        <a:rPr lang="en-GB" sz="900" kern="100">
                          <a:effectLst/>
                        </a:rPr>
                        <a:t>Search</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25/03/2024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27/03/2024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27/03/2024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3992194493"/>
                  </a:ext>
                </a:extLst>
              </a:tr>
              <a:tr h="355085">
                <a:tc>
                  <a:txBody>
                    <a:bodyPr/>
                    <a:lstStyle/>
                    <a:p>
                      <a:pPr>
                        <a:lnSpc>
                          <a:spcPct val="130000"/>
                        </a:lnSpc>
                        <a:spcAft>
                          <a:spcPts val="800"/>
                        </a:spcAft>
                      </a:pPr>
                      <a:r>
                        <a:rPr lang="en-GB" sz="900" kern="100">
                          <a:effectLst/>
                        </a:rPr>
                        <a:t>Sprint#10 : Download Invoice</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5d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28/03/2024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01/04/2024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01/04/2024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914043185"/>
                  </a:ext>
                </a:extLst>
              </a:tr>
              <a:tr h="355085">
                <a:tc>
                  <a:txBody>
                    <a:bodyPr/>
                    <a:lstStyle/>
                    <a:p>
                      <a:pPr>
                        <a:lnSpc>
                          <a:spcPct val="130000"/>
                        </a:lnSpc>
                        <a:spcAft>
                          <a:spcPts val="800"/>
                        </a:spcAft>
                      </a:pPr>
                      <a:r>
                        <a:rPr lang="en-GB" sz="900" kern="100">
                          <a:effectLst/>
                        </a:rPr>
                        <a:t>Download as pdf</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4d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02/04/2024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05/04/2024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dirty="0">
                          <a:effectLst/>
                        </a:rPr>
                        <a:t>05/04/2024</a:t>
                      </a:r>
                      <a:endParaRPr lang="en-IN" sz="8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235925128"/>
                  </a:ext>
                </a:extLst>
              </a:tr>
            </a:tbl>
          </a:graphicData>
        </a:graphic>
      </p:graphicFrame>
      <p:sp>
        <p:nvSpPr>
          <p:cNvPr id="6" name="Rectangle 1">
            <a:extLst>
              <a:ext uri="{FF2B5EF4-FFF2-40B4-BE49-F238E27FC236}">
                <a16:creationId xmlns:a16="http://schemas.microsoft.com/office/drawing/2014/main" id="{AA02FB13-8D58-6E7E-7BD3-C651891DE692}"/>
              </a:ext>
            </a:extLst>
          </p:cNvPr>
          <p:cNvSpPr>
            <a:spLocks noChangeArrowheads="1"/>
          </p:cNvSpPr>
          <p:nvPr/>
        </p:nvSpPr>
        <p:spPr bwMode="auto">
          <a:xfrm>
            <a:off x="5243443" y="1690337"/>
            <a:ext cx="18546492" cy="412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6339316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E5BCD-DCCC-425E-3160-D83003F411DD}"/>
              </a:ext>
            </a:extLst>
          </p:cNvPr>
          <p:cNvSpPr>
            <a:spLocks noGrp="1"/>
          </p:cNvSpPr>
          <p:nvPr>
            <p:ph type="title"/>
          </p:nvPr>
        </p:nvSpPr>
        <p:spPr>
          <a:xfrm>
            <a:off x="838200" y="0"/>
            <a:ext cx="10515600" cy="1325563"/>
          </a:xfrm>
        </p:spPr>
        <p:txBody>
          <a:bodyPr/>
          <a:lstStyle/>
          <a:p>
            <a:r>
              <a:rPr lang="en-IN" dirty="0"/>
              <a:t>5.6 Agile Sprint Backlog:</a:t>
            </a:r>
          </a:p>
        </p:txBody>
      </p:sp>
      <p:graphicFrame>
        <p:nvGraphicFramePr>
          <p:cNvPr id="4" name="Content Placeholder 3">
            <a:extLst>
              <a:ext uri="{FF2B5EF4-FFF2-40B4-BE49-F238E27FC236}">
                <a16:creationId xmlns:a16="http://schemas.microsoft.com/office/drawing/2014/main" id="{EB4EB993-FEF6-1D3F-4E7C-7D179BCA8A9A}"/>
              </a:ext>
            </a:extLst>
          </p:cNvPr>
          <p:cNvGraphicFramePr>
            <a:graphicFrameLocks noGrp="1"/>
          </p:cNvGraphicFramePr>
          <p:nvPr>
            <p:ph idx="1"/>
            <p:extLst>
              <p:ext uri="{D42A27DB-BD31-4B8C-83A1-F6EECF244321}">
                <p14:modId xmlns:p14="http://schemas.microsoft.com/office/powerpoint/2010/main" val="638894968"/>
              </p:ext>
            </p:extLst>
          </p:nvPr>
        </p:nvGraphicFramePr>
        <p:xfrm>
          <a:off x="0" y="1059634"/>
          <a:ext cx="6999684" cy="5567656"/>
        </p:xfrm>
        <a:graphic>
          <a:graphicData uri="http://schemas.openxmlformats.org/drawingml/2006/table">
            <a:tbl>
              <a:tblPr>
                <a:tableStyleId>{5C22544A-7EE6-4342-B048-85BDC9FD1C3A}</a:tableStyleId>
              </a:tblPr>
              <a:tblGrid>
                <a:gridCol w="2558158">
                  <a:extLst>
                    <a:ext uri="{9D8B030D-6E8A-4147-A177-3AD203B41FA5}">
                      <a16:colId xmlns:a16="http://schemas.microsoft.com/office/drawing/2014/main" val="3930674941"/>
                    </a:ext>
                  </a:extLst>
                </a:gridCol>
                <a:gridCol w="702020">
                  <a:extLst>
                    <a:ext uri="{9D8B030D-6E8A-4147-A177-3AD203B41FA5}">
                      <a16:colId xmlns:a16="http://schemas.microsoft.com/office/drawing/2014/main" val="3699875379"/>
                    </a:ext>
                  </a:extLst>
                </a:gridCol>
                <a:gridCol w="771254">
                  <a:extLst>
                    <a:ext uri="{9D8B030D-6E8A-4147-A177-3AD203B41FA5}">
                      <a16:colId xmlns:a16="http://schemas.microsoft.com/office/drawing/2014/main" val="4231670042"/>
                    </a:ext>
                  </a:extLst>
                </a:gridCol>
                <a:gridCol w="871010">
                  <a:extLst>
                    <a:ext uri="{9D8B030D-6E8A-4147-A177-3AD203B41FA5}">
                      <a16:colId xmlns:a16="http://schemas.microsoft.com/office/drawing/2014/main" val="3198269318"/>
                    </a:ext>
                  </a:extLst>
                </a:gridCol>
                <a:gridCol w="1216135">
                  <a:extLst>
                    <a:ext uri="{9D8B030D-6E8A-4147-A177-3AD203B41FA5}">
                      <a16:colId xmlns:a16="http://schemas.microsoft.com/office/drawing/2014/main" val="1220113796"/>
                    </a:ext>
                  </a:extLst>
                </a:gridCol>
                <a:gridCol w="881107">
                  <a:extLst>
                    <a:ext uri="{9D8B030D-6E8A-4147-A177-3AD203B41FA5}">
                      <a16:colId xmlns:a16="http://schemas.microsoft.com/office/drawing/2014/main" val="1456916446"/>
                    </a:ext>
                  </a:extLst>
                </a:gridCol>
              </a:tblGrid>
              <a:tr h="734975">
                <a:tc>
                  <a:txBody>
                    <a:bodyPr/>
                    <a:lstStyle/>
                    <a:p>
                      <a:pPr marL="65405">
                        <a:lnSpc>
                          <a:spcPct val="133000"/>
                        </a:lnSpc>
                        <a:spcAft>
                          <a:spcPts val="600"/>
                        </a:spcAft>
                      </a:pPr>
                      <a:r>
                        <a:rPr lang="en-GB" sz="1600" kern="100" dirty="0">
                          <a:effectLst/>
                        </a:rPr>
                        <a:t>Task Name</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3000"/>
                        </a:lnSpc>
                        <a:spcAft>
                          <a:spcPts val="600"/>
                        </a:spcAft>
                      </a:pPr>
                      <a:r>
                        <a:rPr lang="en-GB" sz="1600" kern="100">
                          <a:effectLst/>
                        </a:rPr>
                        <a:t>Story</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marR="92075">
                        <a:lnSpc>
                          <a:spcPct val="114000"/>
                        </a:lnSpc>
                        <a:spcAft>
                          <a:spcPts val="600"/>
                        </a:spcAft>
                      </a:pPr>
                      <a:r>
                        <a:rPr lang="en-GB" sz="1600" kern="100">
                          <a:effectLst/>
                        </a:rPr>
                        <a:t>Sprint Ready</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3000"/>
                        </a:lnSpc>
                        <a:spcAft>
                          <a:spcPts val="600"/>
                        </a:spcAft>
                      </a:pPr>
                      <a:r>
                        <a:rPr lang="en-GB" sz="1600" kern="100">
                          <a:effectLst/>
                        </a:rPr>
                        <a:t>Priority</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3000"/>
                        </a:lnSpc>
                        <a:spcAft>
                          <a:spcPts val="600"/>
                        </a:spcAft>
                      </a:pPr>
                      <a:r>
                        <a:rPr lang="en-GB" sz="1600" kern="100" dirty="0">
                          <a:effectLst/>
                        </a:rPr>
                        <a:t>Status</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marR="254000">
                        <a:lnSpc>
                          <a:spcPct val="114000"/>
                        </a:lnSpc>
                        <a:spcAft>
                          <a:spcPts val="600"/>
                        </a:spcAft>
                      </a:pPr>
                      <a:r>
                        <a:rPr lang="en-GB" sz="1600" kern="100" dirty="0">
                          <a:effectLst/>
                        </a:rPr>
                        <a:t>Story Point</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4083174679"/>
                  </a:ext>
                </a:extLst>
              </a:tr>
              <a:tr h="247657">
                <a:tc>
                  <a:txBody>
                    <a:bodyPr/>
                    <a:lstStyle/>
                    <a:p>
                      <a:pPr marL="109220">
                        <a:lnSpc>
                          <a:spcPct val="133000"/>
                        </a:lnSpc>
                        <a:spcAft>
                          <a:spcPts val="600"/>
                        </a:spcAft>
                      </a:pPr>
                      <a:r>
                        <a:rPr lang="en-GB" sz="1600" kern="100">
                          <a:effectLst/>
                        </a:rPr>
                        <a:t>Sprint#1 : Project Structure</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29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29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29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29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29000"/>
                        </a:lnSpc>
                        <a:spcAft>
                          <a:spcPts val="600"/>
                        </a:spcAft>
                      </a:pPr>
                      <a:r>
                        <a:rPr lang="en-GB" sz="1600" kern="100">
                          <a:effectLst/>
                        </a:rPr>
                        <a:t>2</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898159606"/>
                  </a:ext>
                </a:extLst>
              </a:tr>
              <a:tr h="243048">
                <a:tc>
                  <a:txBody>
                    <a:bodyPr/>
                    <a:lstStyle/>
                    <a:p>
                      <a:pPr marL="65405">
                        <a:lnSpc>
                          <a:spcPct val="130000"/>
                        </a:lnSpc>
                        <a:spcAft>
                          <a:spcPts val="600"/>
                        </a:spcAft>
                      </a:pPr>
                      <a:r>
                        <a:rPr lang="en-GB" sz="1600" kern="100">
                          <a:effectLst/>
                        </a:rPr>
                        <a:t>UI Designing</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0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0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0000"/>
                        </a:lnSpc>
                        <a:spcAft>
                          <a:spcPts val="600"/>
                        </a:spcAft>
                      </a:pPr>
                      <a:r>
                        <a:rPr lang="en-GB" sz="1600" kern="100">
                          <a:effectLst/>
                        </a:rPr>
                        <a:t>2</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1310793884"/>
                  </a:ext>
                </a:extLst>
              </a:tr>
              <a:tr h="243048">
                <a:tc>
                  <a:txBody>
                    <a:bodyPr/>
                    <a:lstStyle/>
                    <a:p>
                      <a:pPr marL="65405">
                        <a:lnSpc>
                          <a:spcPct val="130000"/>
                        </a:lnSpc>
                        <a:spcAft>
                          <a:spcPts val="600"/>
                        </a:spcAft>
                      </a:pPr>
                      <a:r>
                        <a:rPr lang="en-GB" sz="1600" kern="100">
                          <a:effectLst/>
                        </a:rPr>
                        <a:t>Database Management</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0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0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0000"/>
                        </a:lnSpc>
                        <a:spcAft>
                          <a:spcPts val="600"/>
                        </a:spcAft>
                      </a:pPr>
                      <a:r>
                        <a:rPr lang="en-GB" sz="1600" kern="100">
                          <a:effectLst/>
                        </a:rPr>
                        <a:t>1</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182769987"/>
                  </a:ext>
                </a:extLst>
              </a:tr>
              <a:tr h="244585">
                <a:tc>
                  <a:txBody>
                    <a:bodyPr/>
                    <a:lstStyle/>
                    <a:p>
                      <a:pPr marL="65405">
                        <a:lnSpc>
                          <a:spcPct val="131000"/>
                        </a:lnSpc>
                        <a:spcAft>
                          <a:spcPts val="600"/>
                        </a:spcAft>
                      </a:pPr>
                      <a:r>
                        <a:rPr lang="en-GB" sz="1600" kern="100" dirty="0">
                          <a:effectLst/>
                        </a:rPr>
                        <a:t>Sprint#2 : Admin</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0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0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0000"/>
                        </a:lnSpc>
                        <a:spcAft>
                          <a:spcPts val="600"/>
                        </a:spcAft>
                      </a:pPr>
                      <a:r>
                        <a:rPr lang="en-GB" sz="1600" kern="100">
                          <a:effectLst/>
                        </a:rPr>
                        <a:t>2</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3300634058"/>
                  </a:ext>
                </a:extLst>
              </a:tr>
              <a:tr h="388629">
                <a:tc>
                  <a:txBody>
                    <a:bodyPr/>
                    <a:lstStyle/>
                    <a:p>
                      <a:pPr marL="65405">
                        <a:lnSpc>
                          <a:spcPct val="131000"/>
                        </a:lnSpc>
                        <a:spcAft>
                          <a:spcPts val="600"/>
                        </a:spcAft>
                      </a:pPr>
                      <a:r>
                        <a:rPr lang="en-GB" sz="1600" kern="100" dirty="0">
                          <a:effectLst/>
                        </a:rPr>
                        <a:t>Admin UI Designing</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0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0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0000"/>
                        </a:lnSpc>
                        <a:spcAft>
                          <a:spcPts val="600"/>
                        </a:spcAft>
                      </a:pPr>
                      <a:r>
                        <a:rPr lang="en-GB" sz="1600" kern="100">
                          <a:effectLst/>
                        </a:rPr>
                        <a:t>2</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128509726"/>
                  </a:ext>
                </a:extLst>
              </a:tr>
              <a:tr h="244585">
                <a:tc>
                  <a:txBody>
                    <a:bodyPr/>
                    <a:lstStyle/>
                    <a:p>
                      <a:pPr marL="65405">
                        <a:lnSpc>
                          <a:spcPct val="131000"/>
                        </a:lnSpc>
                        <a:spcAft>
                          <a:spcPts val="600"/>
                        </a:spcAft>
                      </a:pPr>
                      <a:r>
                        <a:rPr lang="en-GB" sz="1600" kern="100">
                          <a:effectLst/>
                        </a:rPr>
                        <a:t>Sprint#3 : Login and Logout</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1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1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1000"/>
                        </a:lnSpc>
                        <a:spcAft>
                          <a:spcPts val="600"/>
                        </a:spcAft>
                      </a:pPr>
                      <a:r>
                        <a:rPr lang="en-GB" sz="1600" kern="100">
                          <a:effectLst/>
                        </a:rPr>
                        <a:t>1</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3735835070"/>
                  </a:ext>
                </a:extLst>
              </a:tr>
              <a:tr h="244585">
                <a:tc>
                  <a:txBody>
                    <a:bodyPr/>
                    <a:lstStyle/>
                    <a:p>
                      <a:pPr marL="65405">
                        <a:lnSpc>
                          <a:spcPct val="131000"/>
                        </a:lnSpc>
                        <a:spcAft>
                          <a:spcPts val="600"/>
                        </a:spcAft>
                      </a:pPr>
                      <a:r>
                        <a:rPr lang="en-GB" sz="1600" kern="100">
                          <a:effectLst/>
                        </a:rPr>
                        <a:t>Admin Login</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1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1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1000"/>
                        </a:lnSpc>
                        <a:spcAft>
                          <a:spcPts val="600"/>
                        </a:spcAft>
                      </a:pPr>
                      <a:r>
                        <a:rPr lang="en-GB" sz="1600" kern="100">
                          <a:effectLst/>
                        </a:rPr>
                        <a:t>1</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3569176284"/>
                  </a:ext>
                </a:extLst>
              </a:tr>
              <a:tr h="244585">
                <a:tc>
                  <a:txBody>
                    <a:bodyPr/>
                    <a:lstStyle/>
                    <a:p>
                      <a:pPr marL="65405">
                        <a:lnSpc>
                          <a:spcPct val="130000"/>
                        </a:lnSpc>
                        <a:spcAft>
                          <a:spcPts val="600"/>
                        </a:spcAft>
                      </a:pPr>
                      <a:r>
                        <a:rPr lang="en-GB" sz="1600" kern="100">
                          <a:effectLst/>
                        </a:rPr>
                        <a:t>Validation</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1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1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1000"/>
                        </a:lnSpc>
                        <a:spcAft>
                          <a:spcPts val="600"/>
                        </a:spcAft>
                      </a:pPr>
                      <a:r>
                        <a:rPr lang="en-GB" sz="1600" kern="100">
                          <a:effectLst/>
                        </a:rPr>
                        <a:t>1</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2030088118"/>
                  </a:ext>
                </a:extLst>
              </a:tr>
              <a:tr h="244585">
                <a:tc>
                  <a:txBody>
                    <a:bodyPr/>
                    <a:lstStyle/>
                    <a:p>
                      <a:pPr marL="65405">
                        <a:lnSpc>
                          <a:spcPct val="130000"/>
                        </a:lnSpc>
                        <a:spcAft>
                          <a:spcPts val="600"/>
                        </a:spcAft>
                      </a:pPr>
                      <a:r>
                        <a:rPr lang="en-GB" sz="1600" kern="100">
                          <a:effectLst/>
                        </a:rPr>
                        <a:t>Sprint#4 : Manage Brand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1000"/>
                        </a:lnSpc>
                        <a:spcAft>
                          <a:spcPts val="600"/>
                        </a:spcAft>
                      </a:pPr>
                      <a:r>
                        <a:rPr lang="en-GB" sz="1600" kern="100">
                          <a:effectLst/>
                        </a:rPr>
                        <a:t>Medium</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1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1000"/>
                        </a:lnSpc>
                        <a:spcAft>
                          <a:spcPts val="600"/>
                        </a:spcAft>
                      </a:pPr>
                      <a:r>
                        <a:rPr lang="en-GB" sz="1600" kern="100">
                          <a:effectLst/>
                        </a:rPr>
                        <a:t>3</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963291243"/>
                  </a:ext>
                </a:extLst>
              </a:tr>
              <a:tr h="511048">
                <a:tc>
                  <a:txBody>
                    <a:bodyPr/>
                    <a:lstStyle/>
                    <a:p>
                      <a:pPr marL="65405">
                        <a:lnSpc>
                          <a:spcPct val="131000"/>
                        </a:lnSpc>
                        <a:spcAft>
                          <a:spcPts val="600"/>
                        </a:spcAft>
                      </a:pPr>
                      <a:r>
                        <a:rPr lang="en-GB" sz="1600" kern="100">
                          <a:effectLst/>
                        </a:rPr>
                        <a:t>Add, Update, View, Delete, Search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1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1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1000"/>
                        </a:lnSpc>
                        <a:spcAft>
                          <a:spcPts val="600"/>
                        </a:spcAft>
                      </a:pPr>
                      <a:r>
                        <a:rPr lang="en-GB" sz="1600" kern="100">
                          <a:effectLst/>
                        </a:rPr>
                        <a:t>2</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276733040"/>
                  </a:ext>
                </a:extLst>
              </a:tr>
              <a:tr h="244585">
                <a:tc>
                  <a:txBody>
                    <a:bodyPr/>
                    <a:lstStyle/>
                    <a:p>
                      <a:pPr>
                        <a:lnSpc>
                          <a:spcPct val="130000"/>
                        </a:lnSpc>
                        <a:spcAft>
                          <a:spcPts val="800"/>
                        </a:spcAft>
                      </a:pPr>
                      <a:r>
                        <a:rPr lang="en-GB" sz="1600" kern="100">
                          <a:effectLst/>
                        </a:rPr>
                        <a:t>UI Designing</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1000"/>
                        </a:lnSpc>
                        <a:spcAft>
                          <a:spcPts val="600"/>
                        </a:spcAft>
                      </a:pPr>
                      <a:r>
                        <a:rPr lang="en-GB" sz="1600" kern="100">
                          <a:effectLst/>
                        </a:rPr>
                        <a:t>Medium</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1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1000"/>
                        </a:lnSpc>
                        <a:spcAft>
                          <a:spcPts val="600"/>
                        </a:spcAft>
                      </a:pPr>
                      <a:r>
                        <a:rPr lang="en-GB" sz="1600" kern="100">
                          <a:effectLst/>
                        </a:rPr>
                        <a:t>3</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3329088023"/>
                  </a:ext>
                </a:extLst>
              </a:tr>
              <a:tr h="243048">
                <a:tc>
                  <a:txBody>
                    <a:bodyPr/>
                    <a:lstStyle/>
                    <a:p>
                      <a:pPr>
                        <a:lnSpc>
                          <a:spcPct val="130000"/>
                        </a:lnSpc>
                        <a:spcAft>
                          <a:spcPts val="800"/>
                        </a:spcAft>
                      </a:pPr>
                      <a:r>
                        <a:rPr lang="en-GB" sz="1600" kern="100">
                          <a:effectLst/>
                        </a:rPr>
                        <a:t>Sprint#5 : Manage Categories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0000"/>
                        </a:lnSpc>
                        <a:spcAft>
                          <a:spcPts val="600"/>
                        </a:spcAft>
                      </a:pPr>
                      <a:r>
                        <a:rPr lang="en-GB" sz="1600" kern="100">
                          <a:effectLst/>
                        </a:rPr>
                        <a:t>Medium</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0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0000"/>
                        </a:lnSpc>
                        <a:spcAft>
                          <a:spcPts val="600"/>
                        </a:spcAft>
                      </a:pPr>
                      <a:r>
                        <a:rPr lang="en-GB" sz="1600" kern="100">
                          <a:effectLst/>
                        </a:rPr>
                        <a:t>3</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1605294286"/>
                  </a:ext>
                </a:extLst>
              </a:tr>
              <a:tr h="507498">
                <a:tc>
                  <a:txBody>
                    <a:bodyPr/>
                    <a:lstStyle/>
                    <a:p>
                      <a:pPr>
                        <a:lnSpc>
                          <a:spcPct val="130000"/>
                        </a:lnSpc>
                        <a:spcAft>
                          <a:spcPts val="800"/>
                        </a:spcAft>
                      </a:pPr>
                      <a:r>
                        <a:rPr lang="en-GB" sz="1600" kern="100">
                          <a:effectLst/>
                        </a:rPr>
                        <a:t>Add, Update, View, Delete, Search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1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1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1000"/>
                        </a:lnSpc>
                        <a:spcAft>
                          <a:spcPts val="600"/>
                        </a:spcAft>
                      </a:pPr>
                      <a:r>
                        <a:rPr lang="en-GB" sz="1600" kern="100">
                          <a:effectLst/>
                        </a:rPr>
                        <a:t>2</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3419864835"/>
                  </a:ext>
                </a:extLst>
              </a:tr>
              <a:tr h="244585">
                <a:tc>
                  <a:txBody>
                    <a:bodyPr/>
                    <a:lstStyle/>
                    <a:p>
                      <a:pPr>
                        <a:lnSpc>
                          <a:spcPct val="130000"/>
                        </a:lnSpc>
                        <a:spcAft>
                          <a:spcPts val="800"/>
                        </a:spcAft>
                      </a:pPr>
                      <a:r>
                        <a:rPr lang="en-GB" sz="1600" kern="100">
                          <a:effectLst/>
                        </a:rPr>
                        <a:t>UI Designing</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1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1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1000"/>
                        </a:lnSpc>
                        <a:spcAft>
                          <a:spcPts val="600"/>
                        </a:spcAft>
                      </a:pPr>
                      <a:r>
                        <a:rPr lang="en-GB" sz="1600" kern="100" dirty="0">
                          <a:effectLst/>
                        </a:rPr>
                        <a:t>2</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2993546176"/>
                  </a:ext>
                </a:extLst>
              </a:tr>
            </a:tbl>
          </a:graphicData>
        </a:graphic>
      </p:graphicFrame>
      <p:graphicFrame>
        <p:nvGraphicFramePr>
          <p:cNvPr id="5" name="Table 4">
            <a:extLst>
              <a:ext uri="{FF2B5EF4-FFF2-40B4-BE49-F238E27FC236}">
                <a16:creationId xmlns:a16="http://schemas.microsoft.com/office/drawing/2014/main" id="{CC22C7C3-6D8F-56A5-A8A7-1E600E65B025}"/>
              </a:ext>
            </a:extLst>
          </p:cNvPr>
          <p:cNvGraphicFramePr>
            <a:graphicFrameLocks noGrp="1"/>
          </p:cNvGraphicFramePr>
          <p:nvPr>
            <p:extLst>
              <p:ext uri="{D42A27DB-BD31-4B8C-83A1-F6EECF244321}">
                <p14:modId xmlns:p14="http://schemas.microsoft.com/office/powerpoint/2010/main" val="209024532"/>
              </p:ext>
            </p:extLst>
          </p:nvPr>
        </p:nvGraphicFramePr>
        <p:xfrm>
          <a:off x="6999684" y="-5237"/>
          <a:ext cx="4992226" cy="6910273"/>
        </p:xfrm>
        <a:graphic>
          <a:graphicData uri="http://schemas.openxmlformats.org/drawingml/2006/table">
            <a:tbl>
              <a:tblPr>
                <a:tableStyleId>{5C22544A-7EE6-4342-B048-85BDC9FD1C3A}</a:tableStyleId>
              </a:tblPr>
              <a:tblGrid>
                <a:gridCol w="1646605">
                  <a:extLst>
                    <a:ext uri="{9D8B030D-6E8A-4147-A177-3AD203B41FA5}">
                      <a16:colId xmlns:a16="http://schemas.microsoft.com/office/drawing/2014/main" val="2366675686"/>
                    </a:ext>
                  </a:extLst>
                </a:gridCol>
                <a:gridCol w="544010">
                  <a:extLst>
                    <a:ext uri="{9D8B030D-6E8A-4147-A177-3AD203B41FA5}">
                      <a16:colId xmlns:a16="http://schemas.microsoft.com/office/drawing/2014/main" val="562885074"/>
                    </a:ext>
                  </a:extLst>
                </a:gridCol>
                <a:gridCol w="497711">
                  <a:extLst>
                    <a:ext uri="{9D8B030D-6E8A-4147-A177-3AD203B41FA5}">
                      <a16:colId xmlns:a16="http://schemas.microsoft.com/office/drawing/2014/main" val="2194049905"/>
                    </a:ext>
                  </a:extLst>
                </a:gridCol>
                <a:gridCol w="601884">
                  <a:extLst>
                    <a:ext uri="{9D8B030D-6E8A-4147-A177-3AD203B41FA5}">
                      <a16:colId xmlns:a16="http://schemas.microsoft.com/office/drawing/2014/main" val="596868421"/>
                    </a:ext>
                  </a:extLst>
                </a:gridCol>
                <a:gridCol w="1018572">
                  <a:extLst>
                    <a:ext uri="{9D8B030D-6E8A-4147-A177-3AD203B41FA5}">
                      <a16:colId xmlns:a16="http://schemas.microsoft.com/office/drawing/2014/main" val="2082482917"/>
                    </a:ext>
                  </a:extLst>
                </a:gridCol>
                <a:gridCol w="683444">
                  <a:extLst>
                    <a:ext uri="{9D8B030D-6E8A-4147-A177-3AD203B41FA5}">
                      <a16:colId xmlns:a16="http://schemas.microsoft.com/office/drawing/2014/main" val="1531845852"/>
                    </a:ext>
                  </a:extLst>
                </a:gridCol>
              </a:tblGrid>
              <a:tr h="527941">
                <a:tc>
                  <a:txBody>
                    <a:bodyPr/>
                    <a:lstStyle/>
                    <a:p>
                      <a:pPr>
                        <a:lnSpc>
                          <a:spcPct val="130000"/>
                        </a:lnSpc>
                        <a:spcAft>
                          <a:spcPts val="800"/>
                        </a:spcAft>
                      </a:pPr>
                      <a:r>
                        <a:rPr lang="en-GB" sz="1400" kern="100" dirty="0">
                          <a:effectLst/>
                        </a:rPr>
                        <a:t>Sprint#6 : Manage Product</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dirty="0">
                          <a:effectLst/>
                        </a:rPr>
                        <a:t>2</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3729708481"/>
                  </a:ext>
                </a:extLst>
              </a:tr>
              <a:tr h="527941">
                <a:tc>
                  <a:txBody>
                    <a:bodyPr/>
                    <a:lstStyle/>
                    <a:p>
                      <a:pPr>
                        <a:lnSpc>
                          <a:spcPct val="130000"/>
                        </a:lnSpc>
                        <a:spcAft>
                          <a:spcPts val="800"/>
                        </a:spcAft>
                      </a:pPr>
                      <a:r>
                        <a:rPr lang="en-GB" sz="1400" kern="100" dirty="0">
                          <a:effectLst/>
                        </a:rPr>
                        <a:t>Add, Update, View, Delete, Search</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1</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827759324"/>
                  </a:ext>
                </a:extLst>
              </a:tr>
              <a:tr h="527941">
                <a:tc>
                  <a:txBody>
                    <a:bodyPr/>
                    <a:lstStyle/>
                    <a:p>
                      <a:pPr>
                        <a:lnSpc>
                          <a:spcPct val="130000"/>
                        </a:lnSpc>
                        <a:spcAft>
                          <a:spcPts val="800"/>
                        </a:spcAft>
                      </a:pPr>
                      <a:r>
                        <a:rPr lang="en-GB" sz="1400" kern="100">
                          <a:effectLst/>
                        </a:rPr>
                        <a:t>UI Designing</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2</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3744404835"/>
                  </a:ext>
                </a:extLst>
              </a:tr>
              <a:tr h="527941">
                <a:tc>
                  <a:txBody>
                    <a:bodyPr/>
                    <a:lstStyle/>
                    <a:p>
                      <a:pPr>
                        <a:lnSpc>
                          <a:spcPct val="130000"/>
                        </a:lnSpc>
                        <a:spcAft>
                          <a:spcPts val="800"/>
                        </a:spcAft>
                      </a:pPr>
                      <a:r>
                        <a:rPr lang="en-GB" sz="1400" kern="100">
                          <a:effectLst/>
                        </a:rPr>
                        <a:t>Sprint#7 : Manage Invoice</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dirty="0">
                          <a:effectLst/>
                        </a:rPr>
                        <a:t>Yes</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dirty="0">
                          <a:effectLst/>
                        </a:rPr>
                        <a:t>High</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dirty="0">
                          <a:effectLst/>
                        </a:rPr>
                        <a:t>Completed</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2</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2176558154"/>
                  </a:ext>
                </a:extLst>
              </a:tr>
              <a:tr h="527941">
                <a:tc>
                  <a:txBody>
                    <a:bodyPr/>
                    <a:lstStyle/>
                    <a:p>
                      <a:pPr>
                        <a:lnSpc>
                          <a:spcPct val="130000"/>
                        </a:lnSpc>
                        <a:spcAft>
                          <a:spcPts val="800"/>
                        </a:spcAft>
                      </a:pPr>
                      <a:r>
                        <a:rPr lang="en-GB" sz="1400" kern="100">
                          <a:effectLst/>
                        </a:rPr>
                        <a:t>Add, Update, View, Delete, Search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2</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2844097506"/>
                  </a:ext>
                </a:extLst>
              </a:tr>
              <a:tr h="527941">
                <a:tc>
                  <a:txBody>
                    <a:bodyPr/>
                    <a:lstStyle/>
                    <a:p>
                      <a:pPr>
                        <a:lnSpc>
                          <a:spcPct val="130000"/>
                        </a:lnSpc>
                        <a:spcAft>
                          <a:spcPts val="800"/>
                        </a:spcAft>
                      </a:pPr>
                      <a:r>
                        <a:rPr lang="en-GB" sz="1400" kern="100">
                          <a:effectLst/>
                        </a:rPr>
                        <a:t>UI Designing</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Medium</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2</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4167894581"/>
                  </a:ext>
                </a:extLst>
              </a:tr>
              <a:tr h="527941">
                <a:tc>
                  <a:txBody>
                    <a:bodyPr/>
                    <a:lstStyle/>
                    <a:p>
                      <a:pPr>
                        <a:lnSpc>
                          <a:spcPct val="130000"/>
                        </a:lnSpc>
                        <a:spcAft>
                          <a:spcPts val="800"/>
                        </a:spcAft>
                      </a:pPr>
                      <a:r>
                        <a:rPr lang="en-GB" sz="1400" kern="100">
                          <a:effectLst/>
                        </a:rPr>
                        <a:t>Sprint#8 : Manage report</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dirty="0">
                          <a:effectLst/>
                        </a:rPr>
                        <a:t>2</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725201569"/>
                  </a:ext>
                </a:extLst>
              </a:tr>
              <a:tr h="527941">
                <a:tc>
                  <a:txBody>
                    <a:bodyPr/>
                    <a:lstStyle/>
                    <a:p>
                      <a:pPr>
                        <a:lnSpc>
                          <a:spcPct val="130000"/>
                        </a:lnSpc>
                        <a:spcAft>
                          <a:spcPts val="800"/>
                        </a:spcAft>
                      </a:pPr>
                      <a:r>
                        <a:rPr lang="en-GB" sz="1400" kern="100">
                          <a:effectLst/>
                        </a:rPr>
                        <a:t>Search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2</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3782419876"/>
                  </a:ext>
                </a:extLst>
              </a:tr>
              <a:tr h="527941">
                <a:tc>
                  <a:txBody>
                    <a:bodyPr/>
                    <a:lstStyle/>
                    <a:p>
                      <a:pPr>
                        <a:lnSpc>
                          <a:spcPct val="130000"/>
                        </a:lnSpc>
                        <a:spcAft>
                          <a:spcPts val="800"/>
                        </a:spcAft>
                      </a:pPr>
                      <a:r>
                        <a:rPr lang="en-GB" sz="1400" kern="100">
                          <a:effectLst/>
                        </a:rPr>
                        <a:t>UI Designing</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Medium</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3</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4160055718"/>
                  </a:ext>
                </a:extLst>
              </a:tr>
              <a:tr h="527941">
                <a:tc>
                  <a:txBody>
                    <a:bodyPr/>
                    <a:lstStyle/>
                    <a:p>
                      <a:pPr>
                        <a:lnSpc>
                          <a:spcPct val="130000"/>
                        </a:lnSpc>
                        <a:spcAft>
                          <a:spcPts val="800"/>
                        </a:spcAft>
                      </a:pPr>
                      <a:r>
                        <a:rPr lang="en-GB" sz="1400" kern="100">
                          <a:effectLst/>
                        </a:rPr>
                        <a:t>Sprint#9 : Generate Invoice</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2</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1843245125"/>
                  </a:ext>
                </a:extLst>
              </a:tr>
              <a:tr h="527941">
                <a:tc>
                  <a:txBody>
                    <a:bodyPr/>
                    <a:lstStyle/>
                    <a:p>
                      <a:pPr>
                        <a:lnSpc>
                          <a:spcPct val="130000"/>
                        </a:lnSpc>
                        <a:spcAft>
                          <a:spcPts val="800"/>
                        </a:spcAft>
                      </a:pPr>
                      <a:r>
                        <a:rPr lang="en-GB" sz="1400" kern="100">
                          <a:effectLst/>
                        </a:rPr>
                        <a:t>Search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2</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1426743781"/>
                  </a:ext>
                </a:extLst>
              </a:tr>
              <a:tr h="527941">
                <a:tc>
                  <a:txBody>
                    <a:bodyPr/>
                    <a:lstStyle/>
                    <a:p>
                      <a:pPr>
                        <a:lnSpc>
                          <a:spcPct val="130000"/>
                        </a:lnSpc>
                        <a:spcAft>
                          <a:spcPts val="800"/>
                        </a:spcAft>
                      </a:pPr>
                      <a:r>
                        <a:rPr lang="en-GB" sz="1400" kern="100">
                          <a:effectLst/>
                        </a:rPr>
                        <a:t>Sprint#10 : Download Invoice</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2</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900507772"/>
                  </a:ext>
                </a:extLst>
              </a:tr>
              <a:tr h="527941">
                <a:tc>
                  <a:txBody>
                    <a:bodyPr/>
                    <a:lstStyle/>
                    <a:p>
                      <a:pPr>
                        <a:lnSpc>
                          <a:spcPct val="130000"/>
                        </a:lnSpc>
                        <a:spcAft>
                          <a:spcPts val="800"/>
                        </a:spcAft>
                      </a:pPr>
                      <a:r>
                        <a:rPr lang="en-GB" sz="1400" kern="100" dirty="0">
                          <a:effectLst/>
                        </a:rPr>
                        <a:t>Download as pdf</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dirty="0">
                          <a:effectLst/>
                        </a:rPr>
                        <a:t>2</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2240136128"/>
                  </a:ext>
                </a:extLst>
              </a:tr>
            </a:tbl>
          </a:graphicData>
        </a:graphic>
      </p:graphicFrame>
    </p:spTree>
    <p:extLst>
      <p:ext uri="{BB962C8B-B14F-4D97-AF65-F5344CB8AC3E}">
        <p14:creationId xmlns:p14="http://schemas.microsoft.com/office/powerpoint/2010/main" val="34281755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13951-BCC2-1FA4-DD60-B922128A5251}"/>
              </a:ext>
            </a:extLst>
          </p:cNvPr>
          <p:cNvSpPr>
            <a:spLocks noGrp="1"/>
          </p:cNvSpPr>
          <p:nvPr>
            <p:ph type="title"/>
          </p:nvPr>
        </p:nvSpPr>
        <p:spPr/>
        <p:txBody>
          <a:bodyPr/>
          <a:lstStyle/>
          <a:p>
            <a:r>
              <a:rPr lang="en-IN" dirty="0"/>
              <a:t>5.7 Agile Test Plan:</a:t>
            </a:r>
          </a:p>
        </p:txBody>
      </p:sp>
      <p:graphicFrame>
        <p:nvGraphicFramePr>
          <p:cNvPr id="4" name="Content Placeholder 3">
            <a:extLst>
              <a:ext uri="{FF2B5EF4-FFF2-40B4-BE49-F238E27FC236}">
                <a16:creationId xmlns:a16="http://schemas.microsoft.com/office/drawing/2014/main" id="{9C1DCBDA-118C-8D3D-5B9F-B3448CEA9D63}"/>
              </a:ext>
            </a:extLst>
          </p:cNvPr>
          <p:cNvGraphicFramePr>
            <a:graphicFrameLocks noGrp="1"/>
          </p:cNvGraphicFramePr>
          <p:nvPr>
            <p:ph idx="1"/>
            <p:extLst>
              <p:ext uri="{D42A27DB-BD31-4B8C-83A1-F6EECF244321}">
                <p14:modId xmlns:p14="http://schemas.microsoft.com/office/powerpoint/2010/main" val="3238973109"/>
              </p:ext>
            </p:extLst>
          </p:nvPr>
        </p:nvGraphicFramePr>
        <p:xfrm>
          <a:off x="359394" y="1666842"/>
          <a:ext cx="4968240" cy="3524315"/>
        </p:xfrm>
        <a:graphic>
          <a:graphicData uri="http://schemas.openxmlformats.org/drawingml/2006/table">
            <a:tbl>
              <a:tblPr>
                <a:tableStyleId>{5C22544A-7EE6-4342-B048-85BDC9FD1C3A}</a:tableStyleId>
              </a:tblPr>
              <a:tblGrid>
                <a:gridCol w="2434118">
                  <a:extLst>
                    <a:ext uri="{9D8B030D-6E8A-4147-A177-3AD203B41FA5}">
                      <a16:colId xmlns:a16="http://schemas.microsoft.com/office/drawing/2014/main" val="1381704845"/>
                    </a:ext>
                  </a:extLst>
                </a:gridCol>
                <a:gridCol w="2534122">
                  <a:extLst>
                    <a:ext uri="{9D8B030D-6E8A-4147-A177-3AD203B41FA5}">
                      <a16:colId xmlns:a16="http://schemas.microsoft.com/office/drawing/2014/main" val="3161244054"/>
                    </a:ext>
                  </a:extLst>
                </a:gridCol>
              </a:tblGrid>
              <a:tr h="296545">
                <a:tc>
                  <a:txBody>
                    <a:bodyPr/>
                    <a:lstStyle/>
                    <a:p>
                      <a:pPr marL="65405" algn="ctr">
                        <a:lnSpc>
                          <a:spcPct val="132000"/>
                        </a:lnSpc>
                        <a:spcAft>
                          <a:spcPts val="600"/>
                        </a:spcAft>
                      </a:pPr>
                      <a:r>
                        <a:rPr lang="en-GB" sz="1300" kern="100">
                          <a:effectLst/>
                        </a:rPr>
                        <a:t>Test Case ID : 101</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65405" algn="ctr">
                        <a:lnSpc>
                          <a:spcPct val="132000"/>
                        </a:lnSpc>
                        <a:spcAft>
                          <a:spcPts val="600"/>
                        </a:spcAft>
                      </a:pPr>
                      <a:r>
                        <a:rPr lang="en-GB" sz="1300" kern="100">
                          <a:effectLst/>
                        </a:rPr>
                        <a:t>Test Case Name : Admin Login</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238605982"/>
                  </a:ext>
                </a:extLst>
              </a:tr>
              <a:tr h="179070">
                <a:tc>
                  <a:txBody>
                    <a:bodyPr/>
                    <a:lstStyle/>
                    <a:p>
                      <a:pPr marL="65405" algn="ctr">
                        <a:lnSpc>
                          <a:spcPct val="113000"/>
                        </a:lnSpc>
                        <a:spcAft>
                          <a:spcPts val="600"/>
                        </a:spcAft>
                      </a:pPr>
                      <a:r>
                        <a:rPr lang="en-GB" sz="1400" kern="100">
                          <a:effectLst/>
                        </a:rPr>
                        <a:t>Designed by : Lakshmi Renju</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65405" algn="ctr">
                        <a:lnSpc>
                          <a:spcPct val="113000"/>
                        </a:lnSpc>
                        <a:spcAft>
                          <a:spcPts val="600"/>
                        </a:spcAft>
                      </a:pPr>
                      <a:r>
                        <a:rPr lang="en-GB" sz="1400" kern="100">
                          <a:effectLst/>
                        </a:rPr>
                        <a:t>Design Date :- 28/01/2024</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606685841"/>
                  </a:ext>
                </a:extLst>
              </a:tr>
              <a:tr h="179070">
                <a:tc>
                  <a:txBody>
                    <a:bodyPr/>
                    <a:lstStyle/>
                    <a:p>
                      <a:pPr marL="65405" algn="ctr">
                        <a:lnSpc>
                          <a:spcPct val="113000"/>
                        </a:lnSpc>
                        <a:spcAft>
                          <a:spcPts val="600"/>
                        </a:spcAft>
                      </a:pPr>
                      <a:r>
                        <a:rPr lang="en-GB" sz="1400" kern="100">
                          <a:effectLst/>
                        </a:rPr>
                        <a:t>Module Name : Users</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65405" algn="ctr">
                        <a:lnSpc>
                          <a:spcPct val="113000"/>
                        </a:lnSpc>
                        <a:spcAft>
                          <a:spcPts val="600"/>
                        </a:spcAft>
                      </a:pPr>
                      <a:r>
                        <a:rPr lang="en-GB" sz="1400" kern="100">
                          <a:effectLst/>
                        </a:rPr>
                        <a:t>Sub Module Name : Login</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891933256"/>
                  </a:ext>
                </a:extLst>
              </a:tr>
              <a:tr h="178435">
                <a:tc>
                  <a:txBody>
                    <a:bodyPr/>
                    <a:lstStyle/>
                    <a:p>
                      <a:pPr marL="65405" algn="ctr">
                        <a:lnSpc>
                          <a:spcPct val="112000"/>
                        </a:lnSpc>
                        <a:spcAft>
                          <a:spcPts val="600"/>
                        </a:spcAft>
                      </a:pPr>
                      <a:r>
                        <a:rPr lang="en-GB" sz="1400" kern="100">
                          <a:effectLst/>
                        </a:rPr>
                        <a:t>Executed by : Lakshmi Renju</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65405" algn="ctr">
                        <a:lnSpc>
                          <a:spcPct val="112000"/>
                        </a:lnSpc>
                        <a:spcAft>
                          <a:spcPts val="600"/>
                        </a:spcAft>
                      </a:pPr>
                      <a:r>
                        <a:rPr lang="en-GB" sz="1400" kern="100">
                          <a:effectLst/>
                        </a:rPr>
                        <a:t>Execution Date : 01/02/2023</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044219072"/>
                  </a:ext>
                </a:extLst>
              </a:tr>
              <a:tr h="550545">
                <a:tc>
                  <a:txBody>
                    <a:bodyPr/>
                    <a:lstStyle/>
                    <a:p>
                      <a:pPr marL="65405" algn="ctr">
                        <a:lnSpc>
                          <a:spcPct val="121000"/>
                        </a:lnSpc>
                        <a:spcAft>
                          <a:spcPts val="600"/>
                        </a:spcAft>
                      </a:pPr>
                      <a:r>
                        <a:rPr lang="en-GB" sz="1400" kern="100">
                          <a:effectLst/>
                        </a:rPr>
                        <a:t>Brief Description : Admin Login</a:t>
                      </a:r>
                      <a:endParaRPr lang="en-IN" sz="1050" kern="100">
                        <a:effectLst/>
                      </a:endParaRPr>
                    </a:p>
                    <a:p>
                      <a:pPr marL="65405" marR="631190" indent="34925" algn="ctr">
                        <a:lnSpc>
                          <a:spcPct val="114000"/>
                        </a:lnSpc>
                        <a:spcAft>
                          <a:spcPts val="600"/>
                        </a:spcAft>
                      </a:pPr>
                      <a:r>
                        <a:rPr lang="en-GB" sz="1400" kern="100">
                          <a:effectLst/>
                        </a:rPr>
                        <a:t>(with Data : “user name: admin &amp; password: rootadmin”)</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65405" algn="ctr">
                        <a:lnSpc>
                          <a:spcPct val="121000"/>
                        </a:lnSpc>
                        <a:spcAft>
                          <a:spcPts val="600"/>
                        </a:spcAft>
                      </a:pPr>
                      <a:r>
                        <a:rPr lang="en-GB" sz="1400" kern="100">
                          <a:effectLst/>
                        </a:rPr>
                        <a:t>Test Priority (Low/Medium/High) : High</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262260232"/>
                  </a:ext>
                </a:extLst>
              </a:tr>
              <a:tr h="179070">
                <a:tc>
                  <a:txBody>
                    <a:bodyPr/>
                    <a:lstStyle/>
                    <a:p>
                      <a:pPr marL="65405" algn="ctr">
                        <a:lnSpc>
                          <a:spcPct val="113000"/>
                        </a:lnSpc>
                        <a:spcAft>
                          <a:spcPts val="600"/>
                        </a:spcAft>
                      </a:pPr>
                      <a:r>
                        <a:rPr lang="en-GB" sz="1400" kern="100">
                          <a:effectLst/>
                        </a:rPr>
                        <a:t>Pre-Conditions: Admin username and password should be correct</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111125" algn="ctr">
                        <a:lnSpc>
                          <a:spcPct val="113000"/>
                        </a:lnSpc>
                        <a:spcAft>
                          <a:spcPts val="600"/>
                        </a:spcAft>
                      </a:pPr>
                      <a:r>
                        <a:rPr lang="en-GB" sz="1400" kern="100">
                          <a:effectLst/>
                        </a:rPr>
                        <a:t>Correct Username &amp; Password.</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035209979"/>
                  </a:ext>
                </a:extLst>
              </a:tr>
              <a:tr h="284480">
                <a:tc>
                  <a:txBody>
                    <a:bodyPr/>
                    <a:lstStyle/>
                    <a:p>
                      <a:pPr marL="65405" algn="ctr">
                        <a:lnSpc>
                          <a:spcPct val="121000"/>
                        </a:lnSpc>
                        <a:spcAft>
                          <a:spcPts val="600"/>
                        </a:spcAft>
                      </a:pPr>
                      <a:r>
                        <a:rPr lang="en-GB" sz="1400" kern="100">
                          <a:effectLst/>
                        </a:rPr>
                        <a:t>Dependencies : None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55880" algn="ctr">
                        <a:lnSpc>
                          <a:spcPct val="114000"/>
                        </a:lnSpc>
                        <a:spcAft>
                          <a:spcPts val="600"/>
                        </a:spcAft>
                      </a:pPr>
                      <a:r>
                        <a:rPr lang="en-GB" sz="1400" kern="100" dirty="0">
                          <a:effectLst/>
                        </a:rPr>
                        <a:t> </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101817930"/>
                  </a:ext>
                </a:extLst>
              </a:tr>
            </a:tbl>
          </a:graphicData>
        </a:graphic>
      </p:graphicFrame>
      <p:sp>
        <p:nvSpPr>
          <p:cNvPr id="5" name="Rectangle 1">
            <a:extLst>
              <a:ext uri="{FF2B5EF4-FFF2-40B4-BE49-F238E27FC236}">
                <a16:creationId xmlns:a16="http://schemas.microsoft.com/office/drawing/2014/main" id="{5335FEDE-379D-C236-203D-AF5C7EB422DF}"/>
              </a:ext>
            </a:extLst>
          </p:cNvPr>
          <p:cNvSpPr>
            <a:spLocks noChangeArrowheads="1"/>
          </p:cNvSpPr>
          <p:nvPr/>
        </p:nvSpPr>
        <p:spPr bwMode="auto">
          <a:xfrm>
            <a:off x="-3252486" y="-33512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8" name="Table 7">
            <a:extLst>
              <a:ext uri="{FF2B5EF4-FFF2-40B4-BE49-F238E27FC236}">
                <a16:creationId xmlns:a16="http://schemas.microsoft.com/office/drawing/2014/main" id="{25E43787-98DC-31BF-3EB3-F5F7BBA4F9BE}"/>
              </a:ext>
            </a:extLst>
          </p:cNvPr>
          <p:cNvGraphicFramePr>
            <a:graphicFrameLocks noGrp="1"/>
          </p:cNvGraphicFramePr>
          <p:nvPr>
            <p:extLst>
              <p:ext uri="{D42A27DB-BD31-4B8C-83A1-F6EECF244321}">
                <p14:modId xmlns:p14="http://schemas.microsoft.com/office/powerpoint/2010/main" val="3408464387"/>
              </p:ext>
            </p:extLst>
          </p:nvPr>
        </p:nvGraphicFramePr>
        <p:xfrm>
          <a:off x="5642468" y="1635731"/>
          <a:ext cx="6190719" cy="4351338"/>
        </p:xfrm>
        <a:graphic>
          <a:graphicData uri="http://schemas.openxmlformats.org/drawingml/2006/table">
            <a:tbl>
              <a:tblPr>
                <a:tableStyleId>{5C22544A-7EE6-4342-B048-85BDC9FD1C3A}</a:tableStyleId>
              </a:tblPr>
              <a:tblGrid>
                <a:gridCol w="417913">
                  <a:extLst>
                    <a:ext uri="{9D8B030D-6E8A-4147-A177-3AD203B41FA5}">
                      <a16:colId xmlns:a16="http://schemas.microsoft.com/office/drawing/2014/main" val="1743481013"/>
                    </a:ext>
                  </a:extLst>
                </a:gridCol>
                <a:gridCol w="890316">
                  <a:extLst>
                    <a:ext uri="{9D8B030D-6E8A-4147-A177-3AD203B41FA5}">
                      <a16:colId xmlns:a16="http://schemas.microsoft.com/office/drawing/2014/main" val="1481468370"/>
                    </a:ext>
                  </a:extLst>
                </a:gridCol>
                <a:gridCol w="1034323">
                  <a:extLst>
                    <a:ext uri="{9D8B030D-6E8A-4147-A177-3AD203B41FA5}">
                      <a16:colId xmlns:a16="http://schemas.microsoft.com/office/drawing/2014/main" val="2576443196"/>
                    </a:ext>
                  </a:extLst>
                </a:gridCol>
                <a:gridCol w="1220714">
                  <a:extLst>
                    <a:ext uri="{9D8B030D-6E8A-4147-A177-3AD203B41FA5}">
                      <a16:colId xmlns:a16="http://schemas.microsoft.com/office/drawing/2014/main" val="882062354"/>
                    </a:ext>
                  </a:extLst>
                </a:gridCol>
                <a:gridCol w="957033">
                  <a:extLst>
                    <a:ext uri="{9D8B030D-6E8A-4147-A177-3AD203B41FA5}">
                      <a16:colId xmlns:a16="http://schemas.microsoft.com/office/drawing/2014/main" val="3472477899"/>
                    </a:ext>
                  </a:extLst>
                </a:gridCol>
                <a:gridCol w="1670420">
                  <a:extLst>
                    <a:ext uri="{9D8B030D-6E8A-4147-A177-3AD203B41FA5}">
                      <a16:colId xmlns:a16="http://schemas.microsoft.com/office/drawing/2014/main" val="3553004770"/>
                    </a:ext>
                  </a:extLst>
                </a:gridCol>
              </a:tblGrid>
              <a:tr h="866314">
                <a:tc>
                  <a:txBody>
                    <a:bodyPr/>
                    <a:lstStyle/>
                    <a:p>
                      <a:pPr algn="l">
                        <a:lnSpc>
                          <a:spcPct val="130000"/>
                        </a:lnSpc>
                        <a:spcAft>
                          <a:spcPts val="800"/>
                        </a:spcAft>
                      </a:pPr>
                      <a:r>
                        <a:rPr lang="en-GB" sz="1200" kern="100">
                          <a:effectLst/>
                        </a:rPr>
                        <a:t>Test Step</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74295" marR="344170" indent="635" algn="l">
                        <a:lnSpc>
                          <a:spcPct val="116000"/>
                        </a:lnSpc>
                        <a:spcBef>
                          <a:spcPts val="20"/>
                        </a:spcBef>
                        <a:spcAft>
                          <a:spcPts val="600"/>
                        </a:spcAft>
                        <a:tabLst>
                          <a:tab pos="814705" algn="l"/>
                        </a:tabLst>
                      </a:pPr>
                      <a:r>
                        <a:rPr lang="en-GB" sz="1200" kern="100">
                          <a:effectLst/>
                        </a:rPr>
                        <a:t>Test Data</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332740" marR="224790" indent="-97790" algn="l">
                        <a:lnSpc>
                          <a:spcPct val="116000"/>
                        </a:lnSpc>
                        <a:spcBef>
                          <a:spcPts val="20"/>
                        </a:spcBef>
                        <a:spcAft>
                          <a:spcPts val="600"/>
                        </a:spcAft>
                      </a:pPr>
                      <a:r>
                        <a:rPr lang="en-GB" sz="1200" kern="100">
                          <a:effectLst/>
                        </a:rPr>
                        <a:t>Expected Result</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107315" marR="107315" algn="ctr">
                        <a:lnSpc>
                          <a:spcPct val="114000"/>
                        </a:lnSpc>
                        <a:spcAft>
                          <a:spcPts val="600"/>
                        </a:spcAft>
                      </a:pPr>
                      <a:r>
                        <a:rPr lang="en-GB" sz="1200" kern="100">
                          <a:effectLst/>
                        </a:rPr>
                        <a:t>Actual Result</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62865" marR="48895" indent="170180" algn="l">
                        <a:lnSpc>
                          <a:spcPct val="116000"/>
                        </a:lnSpc>
                        <a:spcBef>
                          <a:spcPts val="20"/>
                        </a:spcBef>
                        <a:spcAft>
                          <a:spcPts val="600"/>
                        </a:spcAft>
                      </a:pPr>
                      <a:r>
                        <a:rPr lang="en-GB" sz="1200" kern="100">
                          <a:effectLst/>
                        </a:rPr>
                        <a:t>Status (Pass/Fail)</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66675" marR="65405" algn="ctr">
                        <a:lnSpc>
                          <a:spcPct val="114000"/>
                        </a:lnSpc>
                        <a:spcAft>
                          <a:spcPts val="600"/>
                        </a:spcAft>
                      </a:pPr>
                      <a:r>
                        <a:rPr lang="en-GB" sz="1200" kern="100" dirty="0">
                          <a:effectLst/>
                        </a:rPr>
                        <a:t>Remarks</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extLst>
                  <a:ext uri="{0D108BD9-81ED-4DB2-BD59-A6C34878D82A}">
                    <a16:rowId xmlns:a16="http://schemas.microsoft.com/office/drawing/2014/main" val="4114431254"/>
                  </a:ext>
                </a:extLst>
              </a:tr>
              <a:tr h="1550981">
                <a:tc>
                  <a:txBody>
                    <a:bodyPr/>
                    <a:lstStyle/>
                    <a:p>
                      <a:pPr marL="182880" algn="just">
                        <a:lnSpc>
                          <a:spcPct val="116000"/>
                        </a:lnSpc>
                        <a:spcAft>
                          <a:spcPts val="600"/>
                        </a:spcAft>
                      </a:pPr>
                      <a:r>
                        <a:rPr lang="en-GB" sz="1200" kern="100">
                          <a:effectLst/>
                        </a:rPr>
                        <a:t>1</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71755" algn="just">
                        <a:lnSpc>
                          <a:spcPct val="116000"/>
                        </a:lnSpc>
                        <a:spcAft>
                          <a:spcPts val="600"/>
                        </a:spcAft>
                      </a:pPr>
                      <a:r>
                        <a:rPr lang="en-GB" sz="1200" kern="100">
                          <a:effectLst/>
                        </a:rPr>
                        <a:t>UserName: admin</a:t>
                      </a:r>
                      <a:endParaRPr lang="en-IN" sz="1000" kern="100">
                        <a:effectLst/>
                      </a:endParaRPr>
                    </a:p>
                    <a:p>
                      <a:pPr marL="55880" algn="just">
                        <a:lnSpc>
                          <a:spcPct val="114000"/>
                        </a:lnSpc>
                        <a:spcBef>
                          <a:spcPts val="10"/>
                        </a:spcBef>
                        <a:spcAft>
                          <a:spcPts val="600"/>
                        </a:spcAft>
                      </a:pPr>
                      <a:r>
                        <a:rPr lang="en-GB" sz="1200" kern="100">
                          <a:effectLst/>
                        </a:rPr>
                        <a:t>  Password: rootadmin</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159385" marR="159385" algn="just">
                        <a:lnSpc>
                          <a:spcPct val="114000"/>
                        </a:lnSpc>
                        <a:spcAft>
                          <a:spcPts val="600"/>
                        </a:spcAft>
                      </a:pPr>
                      <a:r>
                        <a:rPr lang="en-GB" sz="1200" kern="100">
                          <a:effectLst/>
                        </a:rPr>
                        <a:t>Successfully login &amp; redirect to</a:t>
                      </a:r>
                      <a:endParaRPr lang="en-IN" sz="1000" kern="100">
                        <a:effectLst/>
                      </a:endParaRPr>
                    </a:p>
                    <a:p>
                      <a:pPr marL="159385" marR="159385" algn="just">
                        <a:lnSpc>
                          <a:spcPct val="107000"/>
                        </a:lnSpc>
                        <a:spcAft>
                          <a:spcPts val="600"/>
                        </a:spcAft>
                      </a:pPr>
                      <a:r>
                        <a:rPr lang="en-GB" sz="1200" kern="100">
                          <a:effectLst/>
                        </a:rPr>
                        <a:t>Home Page.</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107315" marR="107950" algn="just">
                        <a:lnSpc>
                          <a:spcPct val="116000"/>
                        </a:lnSpc>
                        <a:spcAft>
                          <a:spcPts val="600"/>
                        </a:spcAft>
                      </a:pPr>
                      <a:r>
                        <a:rPr lang="en-GB" sz="1200" kern="100">
                          <a:effectLst/>
                        </a:rPr>
                        <a:t>Login Successful.</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305435" algn="just">
                        <a:lnSpc>
                          <a:spcPct val="116000"/>
                        </a:lnSpc>
                        <a:spcAft>
                          <a:spcPts val="600"/>
                        </a:spcAft>
                      </a:pPr>
                      <a:r>
                        <a:rPr lang="en-GB" sz="1200" kern="100">
                          <a:effectLst/>
                        </a:rPr>
                        <a:t>Pass</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65405" marR="65405" algn="just">
                        <a:lnSpc>
                          <a:spcPct val="116000"/>
                        </a:lnSpc>
                        <a:spcAft>
                          <a:spcPts val="600"/>
                        </a:spcAft>
                      </a:pPr>
                      <a:r>
                        <a:rPr lang="en-GB" sz="1200" kern="100">
                          <a:effectLst/>
                        </a:rPr>
                        <a:t>None</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extLst>
                  <a:ext uri="{0D108BD9-81ED-4DB2-BD59-A6C34878D82A}">
                    <a16:rowId xmlns:a16="http://schemas.microsoft.com/office/drawing/2014/main" val="1138483131"/>
                  </a:ext>
                </a:extLst>
              </a:tr>
              <a:tr h="1934043">
                <a:tc>
                  <a:txBody>
                    <a:bodyPr/>
                    <a:lstStyle/>
                    <a:p>
                      <a:pPr marL="182880" algn="just">
                        <a:lnSpc>
                          <a:spcPct val="115000"/>
                        </a:lnSpc>
                        <a:spcAft>
                          <a:spcPts val="600"/>
                        </a:spcAft>
                      </a:pPr>
                      <a:r>
                        <a:rPr lang="en-GB" sz="1200" kern="100">
                          <a:effectLst/>
                        </a:rPr>
                        <a:t>2</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71755" algn="just">
                        <a:lnSpc>
                          <a:spcPct val="116000"/>
                        </a:lnSpc>
                        <a:spcAft>
                          <a:spcPts val="600"/>
                        </a:spcAft>
                      </a:pPr>
                      <a:r>
                        <a:rPr lang="en-GB" sz="1200" kern="100">
                          <a:effectLst/>
                        </a:rPr>
                        <a:t>UserName: adminn</a:t>
                      </a:r>
                      <a:endParaRPr lang="en-IN" sz="1000" kern="100">
                        <a:effectLst/>
                      </a:endParaRPr>
                    </a:p>
                    <a:p>
                      <a:pPr marL="55880" algn="just">
                        <a:lnSpc>
                          <a:spcPct val="117000"/>
                        </a:lnSpc>
                        <a:spcAft>
                          <a:spcPts val="600"/>
                        </a:spcAft>
                      </a:pPr>
                      <a:r>
                        <a:rPr lang="en-GB" sz="1200" kern="100">
                          <a:effectLst/>
                        </a:rPr>
                        <a:t>  Password: rootadminn</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140970" marR="90170" indent="-34925" algn="just">
                        <a:lnSpc>
                          <a:spcPct val="114000"/>
                        </a:lnSpc>
                        <a:spcAft>
                          <a:spcPts val="600"/>
                        </a:spcAft>
                      </a:pPr>
                      <a:r>
                        <a:rPr lang="en-GB" sz="1200" kern="100">
                          <a:effectLst/>
                        </a:rPr>
                        <a:t>Show “Invalid Credentials.”</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375920" marR="365125" indent="17145" algn="just">
                        <a:lnSpc>
                          <a:spcPct val="114000"/>
                        </a:lnSpc>
                        <a:spcAft>
                          <a:spcPts val="600"/>
                        </a:spcAft>
                      </a:pPr>
                      <a:r>
                        <a:rPr lang="en-GB" sz="1200" kern="100">
                          <a:effectLst/>
                        </a:rPr>
                        <a:t>Login Not Successful</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331470" algn="just">
                        <a:lnSpc>
                          <a:spcPct val="115000"/>
                        </a:lnSpc>
                        <a:spcAft>
                          <a:spcPts val="600"/>
                        </a:spcAft>
                      </a:pPr>
                      <a:r>
                        <a:rPr lang="en-GB" sz="1200" kern="100">
                          <a:effectLst/>
                        </a:rPr>
                        <a:t>Fail</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215265" marR="130175" indent="-73660" algn="just">
                        <a:lnSpc>
                          <a:spcPct val="114000"/>
                        </a:lnSpc>
                        <a:spcAft>
                          <a:spcPts val="600"/>
                        </a:spcAft>
                      </a:pPr>
                      <a:r>
                        <a:rPr lang="en-GB" sz="1200" kern="100" dirty="0">
                          <a:effectLst/>
                        </a:rPr>
                        <a:t>Need to Show Error</a:t>
                      </a:r>
                      <a:endParaRPr lang="en-IN" sz="1000" kern="100" dirty="0">
                        <a:effectLst/>
                      </a:endParaRPr>
                    </a:p>
                    <a:p>
                      <a:pPr marL="100965" algn="just">
                        <a:lnSpc>
                          <a:spcPct val="108000"/>
                        </a:lnSpc>
                        <a:spcAft>
                          <a:spcPts val="600"/>
                        </a:spcAft>
                      </a:pPr>
                      <a:r>
                        <a:rPr lang="en-GB" sz="1200" kern="100" dirty="0">
                          <a:effectLst/>
                        </a:rPr>
                        <a:t>Message.</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extLst>
                  <a:ext uri="{0D108BD9-81ED-4DB2-BD59-A6C34878D82A}">
                    <a16:rowId xmlns:a16="http://schemas.microsoft.com/office/drawing/2014/main" val="1378029556"/>
                  </a:ext>
                </a:extLst>
              </a:tr>
            </a:tbl>
          </a:graphicData>
        </a:graphic>
      </p:graphicFrame>
      <p:sp>
        <p:nvSpPr>
          <p:cNvPr id="9" name="Rectangle 3">
            <a:extLst>
              <a:ext uri="{FF2B5EF4-FFF2-40B4-BE49-F238E27FC236}">
                <a16:creationId xmlns:a16="http://schemas.microsoft.com/office/drawing/2014/main" id="{600CEA3E-C0B9-FA19-DAD9-21F5D8CEC2B8}"/>
              </a:ext>
            </a:extLst>
          </p:cNvPr>
          <p:cNvSpPr>
            <a:spLocks noChangeArrowheads="1"/>
          </p:cNvSpPr>
          <p:nvPr/>
        </p:nvSpPr>
        <p:spPr bwMode="auto">
          <a:xfrm>
            <a:off x="5806440" y="166752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7572264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B6BEA-E7DD-D894-9141-DBF4B808D8FF}"/>
              </a:ext>
            </a:extLst>
          </p:cNvPr>
          <p:cNvSpPr>
            <a:spLocks noGrp="1"/>
          </p:cNvSpPr>
          <p:nvPr>
            <p:ph type="title"/>
          </p:nvPr>
        </p:nvSpPr>
        <p:spPr/>
        <p:txBody>
          <a:bodyPr/>
          <a:lstStyle/>
          <a:p>
            <a:endParaRPr lang="en-IN" dirty="0"/>
          </a:p>
        </p:txBody>
      </p:sp>
      <p:graphicFrame>
        <p:nvGraphicFramePr>
          <p:cNvPr id="4" name="Content Placeholder 3">
            <a:extLst>
              <a:ext uri="{FF2B5EF4-FFF2-40B4-BE49-F238E27FC236}">
                <a16:creationId xmlns:a16="http://schemas.microsoft.com/office/drawing/2014/main" id="{5F857485-FCAB-C4D3-B435-D404EA6265A9}"/>
              </a:ext>
            </a:extLst>
          </p:cNvPr>
          <p:cNvGraphicFramePr>
            <a:graphicFrameLocks noGrp="1"/>
          </p:cNvGraphicFramePr>
          <p:nvPr>
            <p:ph idx="1"/>
            <p:extLst>
              <p:ext uri="{D42A27DB-BD31-4B8C-83A1-F6EECF244321}">
                <p14:modId xmlns:p14="http://schemas.microsoft.com/office/powerpoint/2010/main" val="1229940888"/>
              </p:ext>
            </p:extLst>
          </p:nvPr>
        </p:nvGraphicFramePr>
        <p:xfrm>
          <a:off x="521400" y="1870612"/>
          <a:ext cx="4753245" cy="2909734"/>
        </p:xfrm>
        <a:graphic>
          <a:graphicData uri="http://schemas.openxmlformats.org/drawingml/2006/table">
            <a:tbl>
              <a:tblPr>
                <a:tableStyleId>{5C22544A-7EE6-4342-B048-85BDC9FD1C3A}</a:tableStyleId>
              </a:tblPr>
              <a:tblGrid>
                <a:gridCol w="162560">
                  <a:extLst>
                    <a:ext uri="{9D8B030D-6E8A-4147-A177-3AD203B41FA5}">
                      <a16:colId xmlns:a16="http://schemas.microsoft.com/office/drawing/2014/main" val="2103859185"/>
                    </a:ext>
                  </a:extLst>
                </a:gridCol>
                <a:gridCol w="2196851">
                  <a:extLst>
                    <a:ext uri="{9D8B030D-6E8A-4147-A177-3AD203B41FA5}">
                      <a16:colId xmlns:a16="http://schemas.microsoft.com/office/drawing/2014/main" val="264399573"/>
                    </a:ext>
                  </a:extLst>
                </a:gridCol>
                <a:gridCol w="2393834">
                  <a:extLst>
                    <a:ext uri="{9D8B030D-6E8A-4147-A177-3AD203B41FA5}">
                      <a16:colId xmlns:a16="http://schemas.microsoft.com/office/drawing/2014/main" val="3441804831"/>
                    </a:ext>
                  </a:extLst>
                </a:gridCol>
              </a:tblGrid>
              <a:tr h="359804">
                <a:tc>
                  <a:txBody>
                    <a:bodyPr/>
                    <a:lstStyle/>
                    <a:p>
                      <a:pPr>
                        <a:lnSpc>
                          <a:spcPct val="115000"/>
                        </a:lnSpc>
                        <a:spcAft>
                          <a:spcPts val="800"/>
                        </a:spcAft>
                      </a:pPr>
                      <a:r>
                        <a:rPr lang="en-GB" sz="12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08000"/>
                        </a:lnSpc>
                        <a:spcAft>
                          <a:spcPts val="600"/>
                        </a:spcAft>
                      </a:pPr>
                      <a:r>
                        <a:rPr lang="en-GB" sz="1300" kern="100">
                          <a:effectLst/>
                        </a:rPr>
                        <a:t>Test Case ID : 102</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7310" algn="ctr">
                        <a:lnSpc>
                          <a:spcPct val="108000"/>
                        </a:lnSpc>
                        <a:spcAft>
                          <a:spcPts val="600"/>
                        </a:spcAft>
                      </a:pPr>
                      <a:r>
                        <a:rPr lang="en-GB" sz="1300" kern="100">
                          <a:effectLst/>
                        </a:rPr>
                        <a:t>Test Case Name : Add Invoice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451067572"/>
                  </a:ext>
                </a:extLst>
              </a:tr>
              <a:tr h="331366">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14000"/>
                        </a:lnSpc>
                        <a:spcAft>
                          <a:spcPts val="600"/>
                        </a:spcAft>
                      </a:pPr>
                      <a:r>
                        <a:rPr lang="en-GB" sz="1300" kern="100">
                          <a:effectLst/>
                        </a:rPr>
                        <a:t>Designed by : Bansil Pabari</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2865" algn="ctr">
                        <a:lnSpc>
                          <a:spcPct val="134000"/>
                        </a:lnSpc>
                        <a:spcAft>
                          <a:spcPts val="600"/>
                        </a:spcAft>
                      </a:pPr>
                      <a:r>
                        <a:rPr lang="en-GB" sz="1300" kern="100">
                          <a:effectLst/>
                        </a:rPr>
                        <a:t>Design Date :05/03/2024</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424689774"/>
                  </a:ext>
                </a:extLst>
              </a:tr>
              <a:tr h="292786">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13000"/>
                        </a:lnSpc>
                        <a:spcAft>
                          <a:spcPts val="600"/>
                        </a:spcAft>
                      </a:pPr>
                      <a:r>
                        <a:rPr lang="en-GB" sz="1300" kern="100">
                          <a:effectLst/>
                        </a:rPr>
                        <a:t>Module Name : Orders</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2865" algn="ctr">
                        <a:lnSpc>
                          <a:spcPct val="113000"/>
                        </a:lnSpc>
                        <a:spcAft>
                          <a:spcPts val="600"/>
                        </a:spcAft>
                      </a:pPr>
                      <a:r>
                        <a:rPr lang="en-GB" sz="1300" kern="100">
                          <a:effectLst/>
                        </a:rPr>
                        <a:t>Sub Module Name : Orde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164528991"/>
                  </a:ext>
                </a:extLst>
              </a:tr>
              <a:tr h="292786">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13000"/>
                        </a:lnSpc>
                        <a:spcAft>
                          <a:spcPts val="600"/>
                        </a:spcAft>
                      </a:pPr>
                      <a:r>
                        <a:rPr lang="en-GB" sz="1300" kern="100">
                          <a:effectLst/>
                        </a:rPr>
                        <a:t>Executed by : Bansil Pabari</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2865" algn="ctr">
                        <a:lnSpc>
                          <a:spcPct val="113000"/>
                        </a:lnSpc>
                        <a:spcAft>
                          <a:spcPts val="600"/>
                        </a:spcAft>
                      </a:pPr>
                      <a:r>
                        <a:rPr lang="en-GB" sz="1300" kern="100">
                          <a:effectLst/>
                        </a:rPr>
                        <a:t>Execution Date : 11/03/2024</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339313774"/>
                  </a:ext>
                </a:extLst>
              </a:tr>
              <a:tr h="1047420">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21000"/>
                        </a:lnSpc>
                        <a:spcAft>
                          <a:spcPts val="600"/>
                        </a:spcAft>
                      </a:pPr>
                      <a:r>
                        <a:rPr lang="en-GB" sz="1300" kern="100">
                          <a:effectLst/>
                        </a:rPr>
                        <a:t>Brief Description: Admin can Add the</a:t>
                      </a:r>
                      <a:endParaRPr lang="en-IN" sz="1050" kern="100">
                        <a:effectLst/>
                      </a:endParaRPr>
                    </a:p>
                    <a:p>
                      <a:pPr marL="65405" algn="ctr">
                        <a:lnSpc>
                          <a:spcPct val="113000"/>
                        </a:lnSpc>
                        <a:spcAft>
                          <a:spcPts val="600"/>
                        </a:spcAft>
                      </a:pPr>
                      <a:r>
                        <a:rPr lang="en-GB" sz="1300" kern="100">
                          <a:effectLst/>
                        </a:rPr>
                        <a:t>Invoice.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2865" algn="ctr">
                        <a:lnSpc>
                          <a:spcPct val="121000"/>
                        </a:lnSpc>
                        <a:spcAft>
                          <a:spcPts val="600"/>
                        </a:spcAft>
                      </a:pPr>
                      <a:r>
                        <a:rPr lang="en-GB" sz="1300" kern="100" dirty="0">
                          <a:effectLst/>
                        </a:rPr>
                        <a:t>Test Priority (Low/Medium/High) : High</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365415893"/>
                  </a:ext>
                </a:extLst>
              </a:tr>
              <a:tr h="292786">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L="65405" algn="ctr">
                        <a:lnSpc>
                          <a:spcPct val="112000"/>
                        </a:lnSpc>
                        <a:spcAft>
                          <a:spcPts val="600"/>
                        </a:spcAft>
                      </a:pPr>
                      <a:r>
                        <a:rPr lang="en-GB" sz="1300" kern="100">
                          <a:effectLst/>
                        </a:rPr>
                        <a:t>Pre-conditions : Admin must be Logged in.</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IN"/>
                    </a:p>
                  </a:txBody>
                  <a:tcPr/>
                </a:tc>
                <a:extLst>
                  <a:ext uri="{0D108BD9-81ED-4DB2-BD59-A6C34878D82A}">
                    <a16:rowId xmlns:a16="http://schemas.microsoft.com/office/drawing/2014/main" val="3366564320"/>
                  </a:ext>
                </a:extLst>
              </a:tr>
              <a:tr h="292786">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L="65405" algn="ctr">
                        <a:lnSpc>
                          <a:spcPct val="113000"/>
                        </a:lnSpc>
                        <a:spcAft>
                          <a:spcPts val="600"/>
                        </a:spcAft>
                      </a:pPr>
                      <a:r>
                        <a:rPr lang="en-GB" sz="1300" kern="100" dirty="0">
                          <a:effectLst/>
                        </a:rPr>
                        <a:t>Dependencies : None</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IN"/>
                    </a:p>
                  </a:txBody>
                  <a:tcPr/>
                </a:tc>
                <a:extLst>
                  <a:ext uri="{0D108BD9-81ED-4DB2-BD59-A6C34878D82A}">
                    <a16:rowId xmlns:a16="http://schemas.microsoft.com/office/drawing/2014/main" val="2058856287"/>
                  </a:ext>
                </a:extLst>
              </a:tr>
            </a:tbl>
          </a:graphicData>
        </a:graphic>
      </p:graphicFrame>
      <p:graphicFrame>
        <p:nvGraphicFramePr>
          <p:cNvPr id="5" name="Table 4">
            <a:extLst>
              <a:ext uri="{FF2B5EF4-FFF2-40B4-BE49-F238E27FC236}">
                <a16:creationId xmlns:a16="http://schemas.microsoft.com/office/drawing/2014/main" id="{E346C99A-9954-0B4C-BBF5-B460185D1308}"/>
              </a:ext>
            </a:extLst>
          </p:cNvPr>
          <p:cNvGraphicFramePr>
            <a:graphicFrameLocks noGrp="1"/>
          </p:cNvGraphicFramePr>
          <p:nvPr>
            <p:extLst>
              <p:ext uri="{D42A27DB-BD31-4B8C-83A1-F6EECF244321}">
                <p14:modId xmlns:p14="http://schemas.microsoft.com/office/powerpoint/2010/main" val="3388229899"/>
              </p:ext>
            </p:extLst>
          </p:nvPr>
        </p:nvGraphicFramePr>
        <p:xfrm>
          <a:off x="5393802" y="1826069"/>
          <a:ext cx="6493398" cy="4351337"/>
        </p:xfrm>
        <a:graphic>
          <a:graphicData uri="http://schemas.openxmlformats.org/drawingml/2006/table">
            <a:tbl>
              <a:tblPr>
                <a:tableStyleId>{5C22544A-7EE6-4342-B048-85BDC9FD1C3A}</a:tableStyleId>
              </a:tblPr>
              <a:tblGrid>
                <a:gridCol w="891251">
                  <a:extLst>
                    <a:ext uri="{9D8B030D-6E8A-4147-A177-3AD203B41FA5}">
                      <a16:colId xmlns:a16="http://schemas.microsoft.com/office/drawing/2014/main" val="3819111787"/>
                    </a:ext>
                  </a:extLst>
                </a:gridCol>
                <a:gridCol w="983848">
                  <a:extLst>
                    <a:ext uri="{9D8B030D-6E8A-4147-A177-3AD203B41FA5}">
                      <a16:colId xmlns:a16="http://schemas.microsoft.com/office/drawing/2014/main" val="2150524329"/>
                    </a:ext>
                  </a:extLst>
                </a:gridCol>
                <a:gridCol w="1307939">
                  <a:extLst>
                    <a:ext uri="{9D8B030D-6E8A-4147-A177-3AD203B41FA5}">
                      <a16:colId xmlns:a16="http://schemas.microsoft.com/office/drawing/2014/main" val="3568475503"/>
                    </a:ext>
                  </a:extLst>
                </a:gridCol>
                <a:gridCol w="1053296">
                  <a:extLst>
                    <a:ext uri="{9D8B030D-6E8A-4147-A177-3AD203B41FA5}">
                      <a16:colId xmlns:a16="http://schemas.microsoft.com/office/drawing/2014/main" val="2998139068"/>
                    </a:ext>
                  </a:extLst>
                </a:gridCol>
                <a:gridCol w="971945">
                  <a:extLst>
                    <a:ext uri="{9D8B030D-6E8A-4147-A177-3AD203B41FA5}">
                      <a16:colId xmlns:a16="http://schemas.microsoft.com/office/drawing/2014/main" val="2901336342"/>
                    </a:ext>
                  </a:extLst>
                </a:gridCol>
                <a:gridCol w="1285119">
                  <a:extLst>
                    <a:ext uri="{9D8B030D-6E8A-4147-A177-3AD203B41FA5}">
                      <a16:colId xmlns:a16="http://schemas.microsoft.com/office/drawing/2014/main" val="3501045910"/>
                    </a:ext>
                  </a:extLst>
                </a:gridCol>
              </a:tblGrid>
              <a:tr h="777617">
                <a:tc>
                  <a:txBody>
                    <a:bodyPr/>
                    <a:lstStyle/>
                    <a:p>
                      <a:pPr marL="50165" marR="37465" algn="ctr">
                        <a:lnSpc>
                          <a:spcPct val="114000"/>
                        </a:lnSpc>
                        <a:spcAft>
                          <a:spcPts val="600"/>
                        </a:spcAft>
                      </a:pPr>
                      <a:r>
                        <a:rPr lang="en-GB" sz="1100" kern="100" dirty="0">
                          <a:effectLst/>
                        </a:rPr>
                        <a:t>Test</a:t>
                      </a:r>
                      <a:endParaRPr lang="en-IN"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99060" marR="120650" algn="ctr">
                        <a:lnSpc>
                          <a:spcPct val="114000"/>
                        </a:lnSpc>
                        <a:spcAft>
                          <a:spcPts val="600"/>
                        </a:spcAft>
                      </a:pPr>
                      <a:r>
                        <a:rPr lang="en-GB" sz="1100" kern="100">
                          <a:effectLst/>
                        </a:rPr>
                        <a:t>Test Step</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246380">
                        <a:lnSpc>
                          <a:spcPct val="114000"/>
                        </a:lnSpc>
                        <a:spcAft>
                          <a:spcPts val="600"/>
                        </a:spcAft>
                      </a:pPr>
                      <a:r>
                        <a:rPr lang="en-GB" sz="1100" kern="100">
                          <a:effectLst/>
                        </a:rPr>
                        <a:t>Action</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423545" marR="76200" indent="-104140">
                        <a:lnSpc>
                          <a:spcPct val="114000"/>
                        </a:lnSpc>
                        <a:spcAft>
                          <a:spcPts val="600"/>
                        </a:spcAft>
                      </a:pPr>
                      <a:r>
                        <a:rPr lang="en-GB" sz="1100" kern="100">
                          <a:effectLst/>
                        </a:rPr>
                        <a:t>Expected Result</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109220">
                        <a:lnSpc>
                          <a:spcPct val="114000"/>
                        </a:lnSpc>
                        <a:spcAft>
                          <a:spcPts val="600"/>
                        </a:spcAft>
                      </a:pPr>
                      <a:r>
                        <a:rPr lang="en-GB" sz="1100" kern="100">
                          <a:effectLst/>
                        </a:rPr>
                        <a:t>Actual Result</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106680" indent="186690">
                        <a:lnSpc>
                          <a:spcPct val="114000"/>
                        </a:lnSpc>
                        <a:spcAft>
                          <a:spcPts val="600"/>
                        </a:spcAft>
                      </a:pPr>
                      <a:r>
                        <a:rPr lang="en-GB" sz="1100" kern="100" dirty="0">
                          <a:effectLst/>
                        </a:rPr>
                        <a:t>Status (Pass/Fail)</a:t>
                      </a:r>
                      <a:endParaRPr lang="en-IN"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extLst>
                  <a:ext uri="{0D108BD9-81ED-4DB2-BD59-A6C34878D82A}">
                    <a16:rowId xmlns:a16="http://schemas.microsoft.com/office/drawing/2014/main" val="4211866451"/>
                  </a:ext>
                </a:extLst>
              </a:tr>
              <a:tr h="1031198">
                <a:tc>
                  <a:txBody>
                    <a:bodyPr/>
                    <a:lstStyle/>
                    <a:p>
                      <a:pPr marL="11430" algn="ctr">
                        <a:lnSpc>
                          <a:spcPct val="112000"/>
                        </a:lnSpc>
                        <a:spcAft>
                          <a:spcPts val="600"/>
                        </a:spcAft>
                      </a:pPr>
                      <a:r>
                        <a:rPr lang="en-GB" sz="1100" kern="100">
                          <a:effectLst/>
                        </a:rPr>
                        <a:t>1</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97790" marR="106680" algn="ctr">
                        <a:lnSpc>
                          <a:spcPct val="112000"/>
                        </a:lnSpc>
                        <a:spcAft>
                          <a:spcPts val="600"/>
                        </a:spcAft>
                      </a:pPr>
                      <a:r>
                        <a:rPr lang="en-GB" sz="1100" kern="100">
                          <a:effectLst/>
                        </a:rPr>
                        <a:t>Click on Add</a:t>
                      </a:r>
                      <a:endParaRPr lang="en-IN" sz="900" kern="100">
                        <a:effectLst/>
                      </a:endParaRPr>
                    </a:p>
                    <a:p>
                      <a:pPr marL="97790" marR="103505" algn="ctr">
                        <a:lnSpc>
                          <a:spcPct val="114000"/>
                        </a:lnSpc>
                        <a:spcAft>
                          <a:spcPts val="600"/>
                        </a:spcAft>
                      </a:pPr>
                      <a:r>
                        <a:rPr lang="en-GB" sz="1100" kern="100">
                          <a:effectLst/>
                        </a:rPr>
                        <a:t>Invoice </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55880" marR="300355" algn="ctr">
                        <a:lnSpc>
                          <a:spcPct val="112000"/>
                        </a:lnSpc>
                        <a:spcAft>
                          <a:spcPts val="600"/>
                        </a:spcAft>
                      </a:pPr>
                      <a:r>
                        <a:rPr lang="en-GB" sz="1100" kern="100">
                          <a:effectLst/>
                        </a:rPr>
                        <a:t>Open Add Invoice Page</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213995" algn="ctr">
                        <a:lnSpc>
                          <a:spcPct val="112000"/>
                        </a:lnSpc>
                        <a:spcAft>
                          <a:spcPts val="600"/>
                        </a:spcAft>
                      </a:pPr>
                      <a:r>
                        <a:rPr lang="en-GB" sz="1100" kern="100">
                          <a:effectLst/>
                        </a:rPr>
                        <a:t>Show form for</a:t>
                      </a:r>
                      <a:endParaRPr lang="en-IN" sz="900" kern="100">
                        <a:effectLst/>
                      </a:endParaRPr>
                    </a:p>
                    <a:p>
                      <a:pPr marL="177800" algn="ctr">
                        <a:lnSpc>
                          <a:spcPct val="114000"/>
                        </a:lnSpc>
                        <a:spcAft>
                          <a:spcPts val="600"/>
                        </a:spcAft>
                      </a:pPr>
                      <a:r>
                        <a:rPr lang="en-GB" sz="1100" kern="100">
                          <a:effectLst/>
                        </a:rPr>
                        <a:t>Entering details</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161290" algn="ctr">
                        <a:lnSpc>
                          <a:spcPct val="112000"/>
                        </a:lnSpc>
                        <a:spcAft>
                          <a:spcPts val="600"/>
                        </a:spcAft>
                      </a:pPr>
                      <a:r>
                        <a:rPr lang="en-GB" sz="1100" kern="100">
                          <a:effectLst/>
                        </a:rPr>
                        <a:t>Show form for</a:t>
                      </a:r>
                      <a:endParaRPr lang="en-IN" sz="900" kern="100">
                        <a:effectLst/>
                      </a:endParaRPr>
                    </a:p>
                    <a:p>
                      <a:pPr marL="124460" algn="ctr">
                        <a:lnSpc>
                          <a:spcPct val="114000"/>
                        </a:lnSpc>
                        <a:spcAft>
                          <a:spcPts val="600"/>
                        </a:spcAft>
                      </a:pPr>
                      <a:r>
                        <a:rPr lang="en-GB" sz="1100" kern="100">
                          <a:effectLst/>
                        </a:rPr>
                        <a:t>Entering details</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372745" marR="361950" algn="ctr">
                        <a:lnSpc>
                          <a:spcPct val="112000"/>
                        </a:lnSpc>
                        <a:spcAft>
                          <a:spcPts val="600"/>
                        </a:spcAft>
                      </a:pPr>
                      <a:r>
                        <a:rPr lang="en-GB" sz="1100" kern="100">
                          <a:effectLst/>
                        </a:rPr>
                        <a:t>Pass</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extLst>
                  <a:ext uri="{0D108BD9-81ED-4DB2-BD59-A6C34878D82A}">
                    <a16:rowId xmlns:a16="http://schemas.microsoft.com/office/drawing/2014/main" val="3682036952"/>
                  </a:ext>
                </a:extLst>
              </a:tr>
              <a:tr h="1172532">
                <a:tc>
                  <a:txBody>
                    <a:bodyPr/>
                    <a:lstStyle/>
                    <a:p>
                      <a:pPr marL="11430" algn="ctr">
                        <a:lnSpc>
                          <a:spcPct val="121000"/>
                        </a:lnSpc>
                        <a:spcAft>
                          <a:spcPts val="600"/>
                        </a:spcAft>
                      </a:pPr>
                      <a:r>
                        <a:rPr lang="en-GB" sz="1100" kern="100">
                          <a:effectLst/>
                        </a:rPr>
                        <a:t>2</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259080" marR="146685" indent="-117475" algn="ctr">
                        <a:lnSpc>
                          <a:spcPct val="114000"/>
                        </a:lnSpc>
                        <a:spcAft>
                          <a:spcPts val="600"/>
                        </a:spcAft>
                      </a:pPr>
                      <a:r>
                        <a:rPr lang="en-GB" sz="1100" kern="100">
                          <a:effectLst/>
                        </a:rPr>
                        <a:t>Fill course Details.</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116840" marR="117475" algn="ctr">
                        <a:lnSpc>
                          <a:spcPct val="114000"/>
                        </a:lnSpc>
                        <a:spcAft>
                          <a:spcPts val="600"/>
                        </a:spcAft>
                      </a:pPr>
                      <a:r>
                        <a:rPr lang="en-GB" sz="1100" kern="100">
                          <a:effectLst/>
                        </a:rPr>
                        <a:t>Taking Valid</a:t>
                      </a:r>
                      <a:endParaRPr lang="en-IN" sz="900" kern="100">
                        <a:effectLst/>
                      </a:endParaRPr>
                    </a:p>
                    <a:p>
                      <a:pPr marL="116840" marR="116205" algn="ctr">
                        <a:lnSpc>
                          <a:spcPct val="112000"/>
                        </a:lnSpc>
                        <a:spcAft>
                          <a:spcPts val="600"/>
                        </a:spcAft>
                      </a:pPr>
                      <a:r>
                        <a:rPr lang="en-GB" sz="1100" kern="100">
                          <a:effectLst/>
                        </a:rPr>
                        <a:t>details</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527050" marR="76200" indent="-438150" algn="ctr">
                        <a:lnSpc>
                          <a:spcPct val="114000"/>
                        </a:lnSpc>
                        <a:spcAft>
                          <a:spcPts val="600"/>
                        </a:spcAft>
                      </a:pPr>
                      <a:r>
                        <a:rPr lang="en-GB" sz="1100" kern="100">
                          <a:effectLst/>
                        </a:rPr>
                        <a:t>Validation of input data</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290830" marR="201295" indent="-76200" algn="ctr">
                        <a:lnSpc>
                          <a:spcPct val="114000"/>
                        </a:lnSpc>
                        <a:spcAft>
                          <a:spcPts val="600"/>
                        </a:spcAft>
                      </a:pPr>
                      <a:r>
                        <a:rPr lang="en-GB" sz="1100" kern="100">
                          <a:effectLst/>
                        </a:rPr>
                        <a:t>Validation of input data</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379095" marR="365125" algn="ctr">
                        <a:lnSpc>
                          <a:spcPct val="121000"/>
                        </a:lnSpc>
                        <a:spcAft>
                          <a:spcPts val="600"/>
                        </a:spcAft>
                      </a:pPr>
                      <a:r>
                        <a:rPr lang="en-GB" sz="1100" kern="100">
                          <a:effectLst/>
                        </a:rPr>
                        <a:t>Pass</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extLst>
                  <a:ext uri="{0D108BD9-81ED-4DB2-BD59-A6C34878D82A}">
                    <a16:rowId xmlns:a16="http://schemas.microsoft.com/office/drawing/2014/main" val="2997549765"/>
                  </a:ext>
                </a:extLst>
              </a:tr>
              <a:tr h="1369990">
                <a:tc>
                  <a:txBody>
                    <a:bodyPr/>
                    <a:lstStyle/>
                    <a:p>
                      <a:pPr marL="11430" algn="ctr">
                        <a:lnSpc>
                          <a:spcPct val="120000"/>
                        </a:lnSpc>
                        <a:spcAft>
                          <a:spcPts val="600"/>
                        </a:spcAft>
                      </a:pPr>
                      <a:r>
                        <a:rPr lang="en-GB" sz="1100" kern="100">
                          <a:effectLst/>
                        </a:rPr>
                        <a:t>3</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102870" marR="120650" algn="ctr">
                        <a:lnSpc>
                          <a:spcPct val="120000"/>
                        </a:lnSpc>
                        <a:spcAft>
                          <a:spcPts val="600"/>
                        </a:spcAft>
                      </a:pPr>
                      <a:r>
                        <a:rPr lang="en-GB" sz="1100" kern="100" dirty="0">
                          <a:effectLst/>
                        </a:rPr>
                        <a:t>Submit data</a:t>
                      </a:r>
                      <a:endParaRPr lang="en-IN"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280035" marR="83185" indent="-184785" algn="ctr">
                        <a:lnSpc>
                          <a:spcPct val="114000"/>
                        </a:lnSpc>
                        <a:spcAft>
                          <a:spcPts val="600"/>
                        </a:spcAft>
                      </a:pPr>
                      <a:r>
                        <a:rPr lang="en-GB" sz="1100" kern="100">
                          <a:effectLst/>
                        </a:rPr>
                        <a:t>Click on Submit button</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146050" marR="130175" indent="-1905" algn="ctr">
                        <a:lnSpc>
                          <a:spcPct val="114000"/>
                        </a:lnSpc>
                        <a:spcAft>
                          <a:spcPts val="600"/>
                        </a:spcAft>
                      </a:pPr>
                      <a:r>
                        <a:rPr lang="en-GB" sz="1100" kern="100">
                          <a:effectLst/>
                        </a:rPr>
                        <a:t>Add Invoice and show it in invoice page</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91440" marR="74930" indent="-1905" algn="ctr">
                        <a:lnSpc>
                          <a:spcPct val="114000"/>
                        </a:lnSpc>
                        <a:spcAft>
                          <a:spcPts val="600"/>
                        </a:spcAft>
                      </a:pPr>
                      <a:r>
                        <a:rPr lang="en-GB" sz="1100" kern="100">
                          <a:effectLst/>
                        </a:rPr>
                        <a:t>Add Invoice and show it in invoice page</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379095" marR="365125" algn="ctr">
                        <a:lnSpc>
                          <a:spcPct val="120000"/>
                        </a:lnSpc>
                        <a:spcAft>
                          <a:spcPts val="600"/>
                        </a:spcAft>
                      </a:pPr>
                      <a:r>
                        <a:rPr lang="en-GB" sz="1100" kern="100" dirty="0">
                          <a:effectLst/>
                        </a:rPr>
                        <a:t>Pass</a:t>
                      </a:r>
                      <a:endParaRPr lang="en-IN"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extLst>
                  <a:ext uri="{0D108BD9-81ED-4DB2-BD59-A6C34878D82A}">
                    <a16:rowId xmlns:a16="http://schemas.microsoft.com/office/drawing/2014/main" val="2973286108"/>
                  </a:ext>
                </a:extLst>
              </a:tr>
            </a:tbl>
          </a:graphicData>
        </a:graphic>
      </p:graphicFrame>
      <p:sp>
        <p:nvSpPr>
          <p:cNvPr id="6" name="Rectangle 1">
            <a:extLst>
              <a:ext uri="{FF2B5EF4-FFF2-40B4-BE49-F238E27FC236}">
                <a16:creationId xmlns:a16="http://schemas.microsoft.com/office/drawing/2014/main" id="{BD03F221-3695-3CD4-7ADC-2CF6D644BC2D}"/>
              </a:ext>
            </a:extLst>
          </p:cNvPr>
          <p:cNvSpPr>
            <a:spLocks noChangeArrowheads="1"/>
          </p:cNvSpPr>
          <p:nvPr/>
        </p:nvSpPr>
        <p:spPr bwMode="auto">
          <a:xfrm>
            <a:off x="3402957"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679155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031A779-F25C-EB1D-A473-E0DE50EAE358}"/>
              </a:ext>
            </a:extLst>
          </p:cNvPr>
          <p:cNvGraphicFramePr>
            <a:graphicFrameLocks noGrp="1"/>
          </p:cNvGraphicFramePr>
          <p:nvPr>
            <p:ph idx="1"/>
            <p:extLst>
              <p:ext uri="{D42A27DB-BD31-4B8C-83A1-F6EECF244321}">
                <p14:modId xmlns:p14="http://schemas.microsoft.com/office/powerpoint/2010/main" val="2690786088"/>
              </p:ext>
            </p:extLst>
          </p:nvPr>
        </p:nvGraphicFramePr>
        <p:xfrm>
          <a:off x="362719" y="1719071"/>
          <a:ext cx="4753245" cy="2285685"/>
        </p:xfrm>
        <a:graphic>
          <a:graphicData uri="http://schemas.openxmlformats.org/drawingml/2006/table">
            <a:tbl>
              <a:tblPr>
                <a:tableStyleId>{5C22544A-7EE6-4342-B048-85BDC9FD1C3A}</a:tableStyleId>
              </a:tblPr>
              <a:tblGrid>
                <a:gridCol w="162560">
                  <a:extLst>
                    <a:ext uri="{9D8B030D-6E8A-4147-A177-3AD203B41FA5}">
                      <a16:colId xmlns:a16="http://schemas.microsoft.com/office/drawing/2014/main" val="1687679026"/>
                    </a:ext>
                  </a:extLst>
                </a:gridCol>
                <a:gridCol w="2196851">
                  <a:extLst>
                    <a:ext uri="{9D8B030D-6E8A-4147-A177-3AD203B41FA5}">
                      <a16:colId xmlns:a16="http://schemas.microsoft.com/office/drawing/2014/main" val="2377249074"/>
                    </a:ext>
                  </a:extLst>
                </a:gridCol>
                <a:gridCol w="2393834">
                  <a:extLst>
                    <a:ext uri="{9D8B030D-6E8A-4147-A177-3AD203B41FA5}">
                      <a16:colId xmlns:a16="http://schemas.microsoft.com/office/drawing/2014/main" val="2158042230"/>
                    </a:ext>
                  </a:extLst>
                </a:gridCol>
              </a:tblGrid>
              <a:tr h="263525">
                <a:tc>
                  <a:txBody>
                    <a:bodyPr/>
                    <a:lstStyle/>
                    <a:p>
                      <a:pPr>
                        <a:lnSpc>
                          <a:spcPct val="115000"/>
                        </a:lnSpc>
                        <a:spcAft>
                          <a:spcPts val="800"/>
                        </a:spcAft>
                      </a:pPr>
                      <a:r>
                        <a:rPr lang="en-GB" sz="12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08000"/>
                        </a:lnSpc>
                        <a:spcAft>
                          <a:spcPts val="600"/>
                        </a:spcAft>
                      </a:pPr>
                      <a:r>
                        <a:rPr lang="en-GB" sz="1300" kern="100">
                          <a:effectLst/>
                        </a:rPr>
                        <a:t>Test Case ID : 103</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7310" algn="ctr">
                        <a:lnSpc>
                          <a:spcPct val="108000"/>
                        </a:lnSpc>
                        <a:spcAft>
                          <a:spcPts val="600"/>
                        </a:spcAft>
                      </a:pPr>
                      <a:r>
                        <a:rPr lang="en-GB" sz="1300" kern="100">
                          <a:effectLst/>
                        </a:rPr>
                        <a:t>Test Case Name : Download Invoice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214436746"/>
                  </a:ext>
                </a:extLst>
              </a:tr>
              <a:tr h="217805">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14000"/>
                        </a:lnSpc>
                        <a:spcAft>
                          <a:spcPts val="600"/>
                        </a:spcAft>
                      </a:pPr>
                      <a:r>
                        <a:rPr lang="en-GB" sz="1300" kern="100">
                          <a:effectLst/>
                        </a:rPr>
                        <a:t>Designed by : Lakshmi Renju</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2865" algn="ctr">
                        <a:lnSpc>
                          <a:spcPct val="134000"/>
                        </a:lnSpc>
                        <a:spcAft>
                          <a:spcPts val="600"/>
                        </a:spcAft>
                      </a:pPr>
                      <a:r>
                        <a:rPr lang="en-GB" sz="1300" kern="100" dirty="0">
                          <a:effectLst/>
                        </a:rPr>
                        <a:t>Design Date :28/03/2024</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685173223"/>
                  </a:ext>
                </a:extLst>
              </a:tr>
              <a:tr h="185420">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13000"/>
                        </a:lnSpc>
                        <a:spcAft>
                          <a:spcPts val="600"/>
                        </a:spcAft>
                      </a:pPr>
                      <a:r>
                        <a:rPr lang="en-GB" sz="1300" kern="100">
                          <a:effectLst/>
                        </a:rPr>
                        <a:t>Module Name : Orders</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2865" algn="ctr">
                        <a:lnSpc>
                          <a:spcPct val="113000"/>
                        </a:lnSpc>
                        <a:spcAft>
                          <a:spcPts val="600"/>
                        </a:spcAft>
                      </a:pPr>
                      <a:r>
                        <a:rPr lang="en-GB" sz="1300" kern="100">
                          <a:effectLst/>
                        </a:rPr>
                        <a:t>Sub Module Name : Orde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35359688"/>
                  </a:ext>
                </a:extLst>
              </a:tr>
              <a:tr h="185420">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13000"/>
                        </a:lnSpc>
                        <a:spcAft>
                          <a:spcPts val="600"/>
                        </a:spcAft>
                      </a:pPr>
                      <a:r>
                        <a:rPr lang="en-GB" sz="1300" kern="100">
                          <a:effectLst/>
                        </a:rPr>
                        <a:t>Executed by : Bansil Pabari</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2865" algn="ctr">
                        <a:lnSpc>
                          <a:spcPct val="113000"/>
                        </a:lnSpc>
                        <a:spcAft>
                          <a:spcPts val="600"/>
                        </a:spcAft>
                      </a:pPr>
                      <a:r>
                        <a:rPr lang="en-GB" sz="1300" kern="100">
                          <a:effectLst/>
                        </a:rPr>
                        <a:t>Execution Date : 05/04/2024</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753737866"/>
                  </a:ext>
                </a:extLst>
              </a:tr>
              <a:tr h="370205">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21000"/>
                        </a:lnSpc>
                        <a:spcAft>
                          <a:spcPts val="600"/>
                        </a:spcAft>
                      </a:pPr>
                      <a:r>
                        <a:rPr lang="en-GB" sz="1300" kern="100">
                          <a:effectLst/>
                        </a:rPr>
                        <a:t>Brief Description: Admin can Download the</a:t>
                      </a:r>
                      <a:endParaRPr lang="en-IN" sz="1050" kern="100">
                        <a:effectLst/>
                      </a:endParaRPr>
                    </a:p>
                    <a:p>
                      <a:pPr marL="65405" algn="ctr">
                        <a:lnSpc>
                          <a:spcPct val="113000"/>
                        </a:lnSpc>
                        <a:spcAft>
                          <a:spcPts val="600"/>
                        </a:spcAft>
                      </a:pPr>
                      <a:r>
                        <a:rPr lang="en-GB" sz="1300" kern="100">
                          <a:effectLst/>
                        </a:rPr>
                        <a:t>Invoice.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2865" algn="ctr">
                        <a:lnSpc>
                          <a:spcPct val="121000"/>
                        </a:lnSpc>
                        <a:spcAft>
                          <a:spcPts val="600"/>
                        </a:spcAft>
                      </a:pPr>
                      <a:r>
                        <a:rPr lang="en-GB" sz="1300" kern="100">
                          <a:effectLst/>
                        </a:rPr>
                        <a:t>Test Priority (Low/Medium/High) : High</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951094990"/>
                  </a:ext>
                </a:extLst>
              </a:tr>
              <a:tr h="184785">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L="65405" algn="ctr">
                        <a:lnSpc>
                          <a:spcPct val="112000"/>
                        </a:lnSpc>
                        <a:spcAft>
                          <a:spcPts val="600"/>
                        </a:spcAft>
                      </a:pPr>
                      <a:r>
                        <a:rPr lang="en-GB" sz="1300" kern="100">
                          <a:effectLst/>
                        </a:rPr>
                        <a:t>Pre-conditions : Admin must be Logged in.</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IN"/>
                    </a:p>
                  </a:txBody>
                  <a:tcPr/>
                </a:tc>
                <a:extLst>
                  <a:ext uri="{0D108BD9-81ED-4DB2-BD59-A6C34878D82A}">
                    <a16:rowId xmlns:a16="http://schemas.microsoft.com/office/drawing/2014/main" val="894693139"/>
                  </a:ext>
                </a:extLst>
              </a:tr>
              <a:tr h="185420">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L="65405" algn="ctr">
                        <a:lnSpc>
                          <a:spcPct val="113000"/>
                        </a:lnSpc>
                        <a:spcAft>
                          <a:spcPts val="600"/>
                        </a:spcAft>
                      </a:pPr>
                      <a:r>
                        <a:rPr lang="en-GB" sz="1300" kern="100" dirty="0">
                          <a:effectLst/>
                        </a:rPr>
                        <a:t>Dependencies : None</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IN"/>
                    </a:p>
                  </a:txBody>
                  <a:tcPr/>
                </a:tc>
                <a:extLst>
                  <a:ext uri="{0D108BD9-81ED-4DB2-BD59-A6C34878D82A}">
                    <a16:rowId xmlns:a16="http://schemas.microsoft.com/office/drawing/2014/main" val="2620926958"/>
                  </a:ext>
                </a:extLst>
              </a:tr>
            </a:tbl>
          </a:graphicData>
        </a:graphic>
      </p:graphicFrame>
      <p:graphicFrame>
        <p:nvGraphicFramePr>
          <p:cNvPr id="5" name="Table 4">
            <a:extLst>
              <a:ext uri="{FF2B5EF4-FFF2-40B4-BE49-F238E27FC236}">
                <a16:creationId xmlns:a16="http://schemas.microsoft.com/office/drawing/2014/main" id="{454BDAF5-54CA-AFED-91A1-6E70683598E2}"/>
              </a:ext>
            </a:extLst>
          </p:cNvPr>
          <p:cNvGraphicFramePr>
            <a:graphicFrameLocks noGrp="1"/>
          </p:cNvGraphicFramePr>
          <p:nvPr>
            <p:extLst>
              <p:ext uri="{D42A27DB-BD31-4B8C-83A1-F6EECF244321}">
                <p14:modId xmlns:p14="http://schemas.microsoft.com/office/powerpoint/2010/main" val="2410463951"/>
              </p:ext>
            </p:extLst>
          </p:nvPr>
        </p:nvGraphicFramePr>
        <p:xfrm>
          <a:off x="5220182" y="1490788"/>
          <a:ext cx="6852212" cy="4678517"/>
        </p:xfrm>
        <a:graphic>
          <a:graphicData uri="http://schemas.openxmlformats.org/drawingml/2006/table">
            <a:tbl>
              <a:tblPr>
                <a:tableStyleId>{5C22544A-7EE6-4342-B048-85BDC9FD1C3A}</a:tableStyleId>
              </a:tblPr>
              <a:tblGrid>
                <a:gridCol w="965432">
                  <a:extLst>
                    <a:ext uri="{9D8B030D-6E8A-4147-A177-3AD203B41FA5}">
                      <a16:colId xmlns:a16="http://schemas.microsoft.com/office/drawing/2014/main" val="2281802506"/>
                    </a:ext>
                  </a:extLst>
                </a:gridCol>
                <a:gridCol w="1118488">
                  <a:extLst>
                    <a:ext uri="{9D8B030D-6E8A-4147-A177-3AD203B41FA5}">
                      <a16:colId xmlns:a16="http://schemas.microsoft.com/office/drawing/2014/main" val="2708869116"/>
                    </a:ext>
                  </a:extLst>
                </a:gridCol>
                <a:gridCol w="1238014">
                  <a:extLst>
                    <a:ext uri="{9D8B030D-6E8A-4147-A177-3AD203B41FA5}">
                      <a16:colId xmlns:a16="http://schemas.microsoft.com/office/drawing/2014/main" val="35491658"/>
                    </a:ext>
                  </a:extLst>
                </a:gridCol>
                <a:gridCol w="1093150">
                  <a:extLst>
                    <a:ext uri="{9D8B030D-6E8A-4147-A177-3AD203B41FA5}">
                      <a16:colId xmlns:a16="http://schemas.microsoft.com/office/drawing/2014/main" val="2609109091"/>
                    </a:ext>
                  </a:extLst>
                </a:gridCol>
                <a:gridCol w="1165583">
                  <a:extLst>
                    <a:ext uri="{9D8B030D-6E8A-4147-A177-3AD203B41FA5}">
                      <a16:colId xmlns:a16="http://schemas.microsoft.com/office/drawing/2014/main" val="2047086655"/>
                    </a:ext>
                  </a:extLst>
                </a:gridCol>
                <a:gridCol w="1271545">
                  <a:extLst>
                    <a:ext uri="{9D8B030D-6E8A-4147-A177-3AD203B41FA5}">
                      <a16:colId xmlns:a16="http://schemas.microsoft.com/office/drawing/2014/main" val="802766273"/>
                    </a:ext>
                  </a:extLst>
                </a:gridCol>
              </a:tblGrid>
              <a:tr h="952550">
                <a:tc>
                  <a:txBody>
                    <a:bodyPr/>
                    <a:lstStyle/>
                    <a:p>
                      <a:pPr marL="50165" marR="37465" algn="ctr">
                        <a:lnSpc>
                          <a:spcPct val="114000"/>
                        </a:lnSpc>
                        <a:spcAft>
                          <a:spcPts val="600"/>
                        </a:spcAft>
                      </a:pPr>
                      <a:r>
                        <a:rPr lang="en-GB" sz="1300" kern="100">
                          <a:effectLst/>
                        </a:rPr>
                        <a:t>Test</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99060" marR="120650" algn="ctr">
                        <a:lnSpc>
                          <a:spcPct val="114000"/>
                        </a:lnSpc>
                        <a:spcAft>
                          <a:spcPts val="600"/>
                        </a:spcAft>
                      </a:pPr>
                      <a:r>
                        <a:rPr lang="en-GB" sz="1300" kern="100" dirty="0">
                          <a:effectLst/>
                        </a:rPr>
                        <a:t>Test Step</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246380">
                        <a:lnSpc>
                          <a:spcPct val="114000"/>
                        </a:lnSpc>
                        <a:spcAft>
                          <a:spcPts val="600"/>
                        </a:spcAft>
                      </a:pPr>
                      <a:r>
                        <a:rPr lang="en-GB" sz="1300" kern="100" dirty="0">
                          <a:effectLst/>
                        </a:rPr>
                        <a:t>Action</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423545" marR="76200" indent="-104140">
                        <a:lnSpc>
                          <a:spcPct val="114000"/>
                        </a:lnSpc>
                        <a:spcAft>
                          <a:spcPts val="600"/>
                        </a:spcAft>
                      </a:pPr>
                      <a:r>
                        <a:rPr lang="en-GB" sz="1300" kern="100">
                          <a:effectLst/>
                        </a:rPr>
                        <a:t>Expected Result</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109220">
                        <a:lnSpc>
                          <a:spcPct val="114000"/>
                        </a:lnSpc>
                        <a:spcAft>
                          <a:spcPts val="600"/>
                        </a:spcAft>
                      </a:pPr>
                      <a:r>
                        <a:rPr lang="en-GB" sz="1300" kern="100">
                          <a:effectLst/>
                        </a:rPr>
                        <a:t>Actual Result</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106680" indent="186690">
                        <a:lnSpc>
                          <a:spcPct val="114000"/>
                        </a:lnSpc>
                        <a:spcAft>
                          <a:spcPts val="600"/>
                        </a:spcAft>
                      </a:pPr>
                      <a:r>
                        <a:rPr lang="en-GB" sz="1300" kern="100">
                          <a:effectLst/>
                        </a:rPr>
                        <a:t>Status (Pass/Fail)</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extLst>
                  <a:ext uri="{0D108BD9-81ED-4DB2-BD59-A6C34878D82A}">
                    <a16:rowId xmlns:a16="http://schemas.microsoft.com/office/drawing/2014/main" val="2320520950"/>
                  </a:ext>
                </a:extLst>
              </a:tr>
              <a:tr h="912476">
                <a:tc>
                  <a:txBody>
                    <a:bodyPr/>
                    <a:lstStyle/>
                    <a:p>
                      <a:pPr marL="11430" algn="ctr">
                        <a:lnSpc>
                          <a:spcPct val="112000"/>
                        </a:lnSpc>
                        <a:spcAft>
                          <a:spcPts val="600"/>
                        </a:spcAft>
                      </a:pPr>
                      <a:r>
                        <a:rPr lang="en-GB" sz="1300" kern="100">
                          <a:effectLst/>
                        </a:rPr>
                        <a:t>1</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97790" marR="106680" algn="ctr">
                        <a:lnSpc>
                          <a:spcPct val="112000"/>
                        </a:lnSpc>
                        <a:spcAft>
                          <a:spcPts val="600"/>
                        </a:spcAft>
                      </a:pPr>
                      <a:r>
                        <a:rPr lang="en-GB" sz="1300" kern="100" dirty="0">
                          <a:effectLst/>
                        </a:rPr>
                        <a:t>Click on Invoice </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55880" marR="300355" algn="ctr">
                        <a:lnSpc>
                          <a:spcPct val="112000"/>
                        </a:lnSpc>
                        <a:spcAft>
                          <a:spcPts val="600"/>
                        </a:spcAft>
                      </a:pPr>
                      <a:r>
                        <a:rPr lang="en-GB" sz="1300" kern="100" dirty="0">
                          <a:effectLst/>
                        </a:rPr>
                        <a:t>Open Invoice Page</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213995" algn="ctr">
                        <a:lnSpc>
                          <a:spcPct val="112000"/>
                        </a:lnSpc>
                        <a:spcAft>
                          <a:spcPts val="600"/>
                        </a:spcAft>
                      </a:pPr>
                      <a:r>
                        <a:rPr lang="en-GB" sz="1300" kern="100">
                          <a:effectLst/>
                        </a:rPr>
                        <a:t>Show Invoice</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124460" algn="ctr">
                        <a:lnSpc>
                          <a:spcPct val="114000"/>
                        </a:lnSpc>
                        <a:spcAft>
                          <a:spcPts val="600"/>
                        </a:spcAft>
                      </a:pPr>
                      <a:r>
                        <a:rPr lang="en-GB" sz="1300" kern="100">
                          <a:effectLst/>
                        </a:rPr>
                        <a:t>Show Invoice</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372745" marR="361950" algn="ctr">
                        <a:lnSpc>
                          <a:spcPct val="112000"/>
                        </a:lnSpc>
                        <a:spcAft>
                          <a:spcPts val="600"/>
                        </a:spcAft>
                      </a:pPr>
                      <a:r>
                        <a:rPr lang="en-GB" sz="1300" kern="100">
                          <a:effectLst/>
                        </a:rPr>
                        <a:t>Pass</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extLst>
                  <a:ext uri="{0D108BD9-81ED-4DB2-BD59-A6C34878D82A}">
                    <a16:rowId xmlns:a16="http://schemas.microsoft.com/office/drawing/2014/main" val="3082645631"/>
                  </a:ext>
                </a:extLst>
              </a:tr>
              <a:tr h="2813491">
                <a:tc>
                  <a:txBody>
                    <a:bodyPr/>
                    <a:lstStyle/>
                    <a:p>
                      <a:pPr marL="11430" algn="ctr">
                        <a:lnSpc>
                          <a:spcPct val="121000"/>
                        </a:lnSpc>
                        <a:spcAft>
                          <a:spcPts val="600"/>
                        </a:spcAft>
                      </a:pPr>
                      <a:r>
                        <a:rPr lang="en-GB" sz="1300" kern="100" dirty="0">
                          <a:effectLst/>
                        </a:rPr>
                        <a:t>2</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259080" marR="146685" indent="-117475" algn="ctr">
                        <a:lnSpc>
                          <a:spcPct val="114000"/>
                        </a:lnSpc>
                        <a:spcAft>
                          <a:spcPts val="600"/>
                        </a:spcAft>
                      </a:pPr>
                      <a:r>
                        <a:rPr lang="en-GB" sz="1300" kern="100">
                          <a:effectLst/>
                        </a:rPr>
                        <a:t>Click on download Invoice</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116840" marR="117475" algn="ctr">
                        <a:lnSpc>
                          <a:spcPct val="114000"/>
                        </a:lnSpc>
                        <a:spcAft>
                          <a:spcPts val="600"/>
                        </a:spcAft>
                      </a:pPr>
                      <a:r>
                        <a:rPr lang="en-GB" sz="1300" kern="100">
                          <a:effectLst/>
                        </a:rPr>
                        <a:t>Taking Valid detail from database</a:t>
                      </a:r>
                      <a:endParaRPr lang="en-IN" sz="1000" kern="100">
                        <a:effectLst/>
                      </a:endParaRPr>
                    </a:p>
                    <a:p>
                      <a:pPr marL="116840" marR="117475" algn="ctr">
                        <a:lnSpc>
                          <a:spcPct val="114000"/>
                        </a:lnSpc>
                        <a:spcAft>
                          <a:spcPts val="600"/>
                        </a:spcAft>
                      </a:pPr>
                      <a:r>
                        <a:rPr lang="en-GB" sz="1300" kern="100">
                          <a:effectLst/>
                        </a:rPr>
                        <a:t>And download</a:t>
                      </a:r>
                      <a:endParaRPr lang="en-IN" sz="1000" kern="100">
                        <a:effectLst/>
                      </a:endParaRPr>
                    </a:p>
                    <a:p>
                      <a:pPr marL="116840" marR="116205" algn="ctr">
                        <a:lnSpc>
                          <a:spcPct val="112000"/>
                        </a:lnSpc>
                        <a:spcAft>
                          <a:spcPts val="600"/>
                        </a:spcAft>
                      </a:pPr>
                      <a:r>
                        <a:rPr lang="en-GB" sz="1300" kern="100">
                          <a:effectLst/>
                        </a:rPr>
                        <a:t> </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527050" marR="76200" indent="-438150" algn="ctr">
                        <a:lnSpc>
                          <a:spcPct val="114000"/>
                        </a:lnSpc>
                        <a:spcAft>
                          <a:spcPts val="600"/>
                        </a:spcAft>
                      </a:pPr>
                      <a:r>
                        <a:rPr lang="en-GB" sz="1300" kern="100">
                          <a:effectLst/>
                        </a:rPr>
                        <a:t>Validation of all data</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290830" marR="201295" indent="-76200" algn="ctr">
                        <a:lnSpc>
                          <a:spcPct val="114000"/>
                        </a:lnSpc>
                        <a:spcAft>
                          <a:spcPts val="600"/>
                        </a:spcAft>
                      </a:pPr>
                      <a:r>
                        <a:rPr lang="en-GB" sz="1300" kern="100">
                          <a:effectLst/>
                        </a:rPr>
                        <a:t>Validation of all data</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379095" marR="365125" algn="ctr">
                        <a:lnSpc>
                          <a:spcPct val="121000"/>
                        </a:lnSpc>
                        <a:spcAft>
                          <a:spcPts val="600"/>
                        </a:spcAft>
                      </a:pPr>
                      <a:r>
                        <a:rPr lang="en-GB" sz="1300" kern="100" dirty="0">
                          <a:effectLst/>
                        </a:rPr>
                        <a:t>Pass</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extLst>
                  <a:ext uri="{0D108BD9-81ED-4DB2-BD59-A6C34878D82A}">
                    <a16:rowId xmlns:a16="http://schemas.microsoft.com/office/drawing/2014/main" val="531593815"/>
                  </a:ext>
                </a:extLst>
              </a:tr>
            </a:tbl>
          </a:graphicData>
        </a:graphic>
      </p:graphicFrame>
      <p:sp>
        <p:nvSpPr>
          <p:cNvPr id="6" name="Rectangle 1">
            <a:extLst>
              <a:ext uri="{FF2B5EF4-FFF2-40B4-BE49-F238E27FC236}">
                <a16:creationId xmlns:a16="http://schemas.microsoft.com/office/drawing/2014/main" id="{7A0B9168-73A8-5AF4-F798-0BE6CDD23E6D}"/>
              </a:ext>
            </a:extLst>
          </p:cNvPr>
          <p:cNvSpPr>
            <a:spLocks noChangeArrowheads="1"/>
          </p:cNvSpPr>
          <p:nvPr/>
        </p:nvSpPr>
        <p:spPr bwMode="auto">
          <a:xfrm>
            <a:off x="6506359" y="149047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9403387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6EFAE-7ACE-1A34-19D9-8D078BF20C55}"/>
              </a:ext>
            </a:extLst>
          </p:cNvPr>
          <p:cNvSpPr>
            <a:spLocks noGrp="1"/>
          </p:cNvSpPr>
          <p:nvPr>
            <p:ph type="title"/>
          </p:nvPr>
        </p:nvSpPr>
        <p:spPr/>
        <p:txBody>
          <a:bodyPr/>
          <a:lstStyle/>
          <a:p>
            <a:r>
              <a:rPr lang="en-IN" dirty="0"/>
              <a:t>5.8 Earned-Value Burned Chart:</a:t>
            </a:r>
          </a:p>
        </p:txBody>
      </p:sp>
      <p:pic>
        <p:nvPicPr>
          <p:cNvPr id="4" name="Content Placeholder 3">
            <a:extLst>
              <a:ext uri="{FF2B5EF4-FFF2-40B4-BE49-F238E27FC236}">
                <a16:creationId xmlns:a16="http://schemas.microsoft.com/office/drawing/2014/main" id="{472CF9CA-68FD-120F-083B-94CC3AE4A36B}"/>
              </a:ext>
            </a:extLst>
          </p:cNvPr>
          <p:cNvPicPr>
            <a:picLocks noGrp="1" noChangeAspect="1"/>
          </p:cNvPicPr>
          <p:nvPr>
            <p:ph idx="1"/>
          </p:nvPr>
        </p:nvPicPr>
        <p:blipFill>
          <a:blip r:embed="rId2"/>
          <a:stretch>
            <a:fillRect/>
          </a:stretch>
        </p:blipFill>
        <p:spPr>
          <a:xfrm>
            <a:off x="2986146" y="1825625"/>
            <a:ext cx="6219708" cy="4351338"/>
          </a:xfrm>
          <a:prstGeom prst="rect">
            <a:avLst/>
          </a:prstGeom>
        </p:spPr>
      </p:pic>
    </p:spTree>
    <p:extLst>
      <p:ext uri="{BB962C8B-B14F-4D97-AF65-F5344CB8AC3E}">
        <p14:creationId xmlns:p14="http://schemas.microsoft.com/office/powerpoint/2010/main" val="31197684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A7444-BF4E-6BBA-F4C1-11E2AF22062A}"/>
              </a:ext>
            </a:extLst>
          </p:cNvPr>
          <p:cNvSpPr>
            <a:spLocks noGrp="1"/>
          </p:cNvSpPr>
          <p:nvPr>
            <p:ph type="title"/>
          </p:nvPr>
        </p:nvSpPr>
        <p:spPr/>
        <p:txBody>
          <a:bodyPr/>
          <a:lstStyle/>
          <a:p>
            <a:r>
              <a:rPr lang="en-IN" dirty="0"/>
              <a:t>6. Proposed Enhancement:</a:t>
            </a:r>
          </a:p>
        </p:txBody>
      </p:sp>
      <p:sp>
        <p:nvSpPr>
          <p:cNvPr id="3" name="Content Placeholder 2">
            <a:extLst>
              <a:ext uri="{FF2B5EF4-FFF2-40B4-BE49-F238E27FC236}">
                <a16:creationId xmlns:a16="http://schemas.microsoft.com/office/drawing/2014/main" id="{A6AF6170-7E59-0D33-B68D-686152BA5FDA}"/>
              </a:ext>
            </a:extLst>
          </p:cNvPr>
          <p:cNvSpPr>
            <a:spLocks noGrp="1"/>
          </p:cNvSpPr>
          <p:nvPr>
            <p:ph idx="1"/>
          </p:nvPr>
        </p:nvSpPr>
        <p:spPr/>
        <p:txBody>
          <a:bodyPr/>
          <a:lstStyle/>
          <a:p>
            <a:pPr marL="342900" lvl="0" indent="-342900" algn="just">
              <a:lnSpc>
                <a:spcPct val="110000"/>
              </a:lnSpc>
              <a:spcAft>
                <a:spcPts val="800"/>
              </a:spcAft>
              <a:buFont typeface="Arial" panose="020B0604020202020204" pitchFamily="34" charset="0"/>
              <a:buChar char="⮚"/>
            </a:pPr>
            <a:r>
              <a:rPr lang="en-GB" sz="1800" dirty="0">
                <a:solidFill>
                  <a:srgbClr val="000000"/>
                </a:solidFill>
                <a:effectLst/>
                <a:latin typeface="Times New Roman" panose="02020603050405020304" pitchFamily="18" charset="0"/>
                <a:ea typeface="Times New Roman" panose="02020603050405020304" pitchFamily="18" charset="0"/>
                <a:cs typeface="Noto Sans Symbols"/>
              </a:rPr>
              <a:t>We will try to implement SMS functionality in our system when the stock is less and need to buy.</a:t>
            </a:r>
            <a:endParaRPr lang="en-IN" sz="1800" dirty="0">
              <a:effectLst/>
              <a:latin typeface="Noto Sans Symbols"/>
              <a:ea typeface="Noto Sans Symbols"/>
              <a:cs typeface="Noto Sans Symbols"/>
            </a:endParaRPr>
          </a:p>
          <a:p>
            <a:pPr marL="342900" lvl="0" indent="-342900" algn="just">
              <a:lnSpc>
                <a:spcPct val="110000"/>
              </a:lnSpc>
              <a:spcAft>
                <a:spcPts val="800"/>
              </a:spcAft>
              <a:buFont typeface="Arial" panose="020B0604020202020204" pitchFamily="34" charset="0"/>
              <a:buChar char="⮚"/>
            </a:pPr>
            <a:r>
              <a:rPr lang="en-GB" sz="1800" dirty="0">
                <a:solidFill>
                  <a:srgbClr val="000000"/>
                </a:solidFill>
                <a:effectLst/>
                <a:latin typeface="Times New Roman" panose="02020603050405020304" pitchFamily="18" charset="0"/>
                <a:ea typeface="Times New Roman" panose="02020603050405020304" pitchFamily="18" charset="0"/>
                <a:cs typeface="Noto Sans Symbols"/>
              </a:rPr>
              <a:t>Try to implement online so the other branch also gets info.</a:t>
            </a:r>
            <a:endParaRPr lang="en-IN" sz="1800" dirty="0">
              <a:effectLst/>
              <a:latin typeface="Noto Sans Symbols"/>
              <a:ea typeface="Noto Sans Symbols"/>
              <a:cs typeface="Noto Sans Symbols"/>
            </a:endParaRPr>
          </a:p>
          <a:p>
            <a:pPr marL="342900" lvl="0" indent="-342900" algn="just">
              <a:lnSpc>
                <a:spcPct val="110000"/>
              </a:lnSpc>
              <a:spcAft>
                <a:spcPts val="800"/>
              </a:spcAft>
              <a:buFont typeface="Arial" panose="020B0604020202020204" pitchFamily="34" charset="0"/>
              <a:buChar char="⮚"/>
            </a:pPr>
            <a:r>
              <a:rPr lang="en-GB" sz="1800" dirty="0">
                <a:solidFill>
                  <a:srgbClr val="000000"/>
                </a:solidFill>
                <a:effectLst/>
                <a:latin typeface="Times New Roman" panose="02020603050405020304" pitchFamily="18" charset="0"/>
                <a:ea typeface="Times New Roman" panose="02020603050405020304" pitchFamily="18" charset="0"/>
                <a:cs typeface="Noto Sans Symbols"/>
              </a:rPr>
              <a:t>Try to connect with automated product scanner machine so no need to type all information.</a:t>
            </a:r>
            <a:endParaRPr lang="en-IN" sz="1800" dirty="0">
              <a:effectLst/>
              <a:latin typeface="Noto Sans Symbols"/>
              <a:ea typeface="Noto Sans Symbols"/>
              <a:cs typeface="Noto Sans Symbols"/>
            </a:endParaRPr>
          </a:p>
          <a:p>
            <a:pPr marL="342900" lvl="0" indent="-342900" algn="just">
              <a:lnSpc>
                <a:spcPct val="110000"/>
              </a:lnSpc>
              <a:spcAft>
                <a:spcPts val="600"/>
              </a:spcAft>
              <a:buFont typeface="Arial" panose="020B0604020202020204" pitchFamily="34" charset="0"/>
              <a:buChar char="⮚"/>
            </a:pPr>
            <a:r>
              <a:rPr lang="en-GB" sz="1800" dirty="0">
                <a:solidFill>
                  <a:srgbClr val="000000"/>
                </a:solidFill>
                <a:effectLst/>
                <a:latin typeface="Times New Roman" panose="02020603050405020304" pitchFamily="18" charset="0"/>
                <a:ea typeface="Times New Roman" panose="02020603050405020304" pitchFamily="18" charset="0"/>
                <a:cs typeface="Noto Sans Symbols"/>
              </a:rPr>
              <a:t>Make a flexible website so all shop owner can set by own product and no need for a person to write all entry.</a:t>
            </a:r>
            <a:endParaRPr lang="en-IN" sz="1800" dirty="0">
              <a:effectLst/>
              <a:latin typeface="Noto Sans Symbols"/>
              <a:ea typeface="Noto Sans Symbols"/>
              <a:cs typeface="Noto Sans Symbols"/>
            </a:endParaRPr>
          </a:p>
          <a:p>
            <a:endParaRPr lang="en-IN" dirty="0"/>
          </a:p>
        </p:txBody>
      </p:sp>
    </p:spTree>
    <p:extLst>
      <p:ext uri="{BB962C8B-B14F-4D97-AF65-F5344CB8AC3E}">
        <p14:creationId xmlns:p14="http://schemas.microsoft.com/office/powerpoint/2010/main" val="28310194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4F1A0-E4B2-C39E-1E89-C00EF42B98AD}"/>
              </a:ext>
            </a:extLst>
          </p:cNvPr>
          <p:cNvSpPr>
            <a:spLocks noGrp="1"/>
          </p:cNvSpPr>
          <p:nvPr>
            <p:ph type="title"/>
          </p:nvPr>
        </p:nvSpPr>
        <p:spPr/>
        <p:txBody>
          <a:bodyPr/>
          <a:lstStyle/>
          <a:p>
            <a:r>
              <a:rPr lang="en-IN" dirty="0"/>
              <a:t>7. Conclusion:</a:t>
            </a:r>
          </a:p>
        </p:txBody>
      </p:sp>
      <p:sp>
        <p:nvSpPr>
          <p:cNvPr id="3" name="Content Placeholder 2">
            <a:extLst>
              <a:ext uri="{FF2B5EF4-FFF2-40B4-BE49-F238E27FC236}">
                <a16:creationId xmlns:a16="http://schemas.microsoft.com/office/drawing/2014/main" id="{5CDDD541-70AA-D02D-C9FD-F23E000C2FD2}"/>
              </a:ext>
            </a:extLst>
          </p:cNvPr>
          <p:cNvSpPr>
            <a:spLocks noGrp="1"/>
          </p:cNvSpPr>
          <p:nvPr>
            <p:ph idx="1"/>
          </p:nvPr>
        </p:nvSpPr>
        <p:spPr/>
        <p:txBody>
          <a:bodyPr>
            <a:normAutofit/>
          </a:bodyPr>
          <a:lstStyle/>
          <a:p>
            <a:r>
              <a:rPr lang="en-US" sz="2000" dirty="0"/>
              <a:t>As we wrap up this project, we have learned a lot about how inventory systems work and why they are so important for businesses. Our main goal was to create a system that is easy to use, grows with the business, and helps save time and money. </a:t>
            </a:r>
          </a:p>
          <a:p>
            <a:r>
              <a:rPr lang="en-US" sz="2000" dirty="0"/>
              <a:t>We focused on using simple tools like </a:t>
            </a:r>
            <a:r>
              <a:rPr lang="en-US" sz="2000" dirty="0" err="1"/>
              <a:t>Php</a:t>
            </a:r>
            <a:r>
              <a:rPr lang="en-US" sz="2000" dirty="0"/>
              <a:t> to build it. </a:t>
            </a:r>
          </a:p>
          <a:p>
            <a:endParaRPr lang="en-IN" sz="2000" dirty="0"/>
          </a:p>
        </p:txBody>
      </p:sp>
    </p:spTree>
    <p:extLst>
      <p:ext uri="{BB962C8B-B14F-4D97-AF65-F5344CB8AC3E}">
        <p14:creationId xmlns:p14="http://schemas.microsoft.com/office/powerpoint/2010/main" val="41928304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F1F24-A256-C733-6CBB-EF2C6E425594}"/>
              </a:ext>
            </a:extLst>
          </p:cNvPr>
          <p:cNvSpPr>
            <a:spLocks noGrp="1"/>
          </p:cNvSpPr>
          <p:nvPr>
            <p:ph type="title"/>
          </p:nvPr>
        </p:nvSpPr>
        <p:spPr/>
        <p:txBody>
          <a:bodyPr/>
          <a:lstStyle/>
          <a:p>
            <a:r>
              <a:rPr lang="en-IN" dirty="0"/>
              <a:t>8. Bibliography:</a:t>
            </a:r>
          </a:p>
        </p:txBody>
      </p:sp>
      <p:sp>
        <p:nvSpPr>
          <p:cNvPr id="3" name="Content Placeholder 2">
            <a:extLst>
              <a:ext uri="{FF2B5EF4-FFF2-40B4-BE49-F238E27FC236}">
                <a16:creationId xmlns:a16="http://schemas.microsoft.com/office/drawing/2014/main" id="{14E6D488-0360-DFF2-2AA1-936ABA616749}"/>
              </a:ext>
            </a:extLst>
          </p:cNvPr>
          <p:cNvSpPr>
            <a:spLocks noGrp="1"/>
          </p:cNvSpPr>
          <p:nvPr>
            <p:ph idx="1"/>
          </p:nvPr>
        </p:nvSpPr>
        <p:spPr/>
        <p:txBody>
          <a:bodyPr/>
          <a:lstStyle/>
          <a:p>
            <a:pPr marL="0" indent="0">
              <a:buNone/>
            </a:pPr>
            <a:r>
              <a:rPr lang="en-IN" dirty="0"/>
              <a:t>✵	www.google.com</a:t>
            </a:r>
          </a:p>
          <a:p>
            <a:pPr marL="0" indent="0">
              <a:buNone/>
            </a:pPr>
            <a:r>
              <a:rPr lang="en-IN" dirty="0"/>
              <a:t>✵	www.geeksforgeeks.org</a:t>
            </a:r>
          </a:p>
          <a:p>
            <a:pPr marL="0" indent="0">
              <a:buNone/>
            </a:pPr>
            <a:r>
              <a:rPr lang="en-IN" dirty="0"/>
              <a:t>✵	www.tutorialspoint.com</a:t>
            </a:r>
          </a:p>
          <a:p>
            <a:pPr marL="0" indent="0">
              <a:buNone/>
            </a:pPr>
            <a:r>
              <a:rPr lang="en-IN" dirty="0"/>
              <a:t>✵	www.w3school.com</a:t>
            </a:r>
          </a:p>
          <a:p>
            <a:pPr marL="0" indent="0">
              <a:buNone/>
            </a:pPr>
            <a:endParaRPr lang="en-IN" dirty="0"/>
          </a:p>
        </p:txBody>
      </p:sp>
    </p:spTree>
    <p:extLst>
      <p:ext uri="{BB962C8B-B14F-4D97-AF65-F5344CB8AC3E}">
        <p14:creationId xmlns:p14="http://schemas.microsoft.com/office/powerpoint/2010/main" val="29572129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874</TotalTime>
  <Words>3129</Words>
  <Application>Microsoft Office PowerPoint</Application>
  <PresentationFormat>Widescreen</PresentationFormat>
  <Paragraphs>798</Paragraphs>
  <Slides>62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62</vt:i4>
      </vt:variant>
    </vt:vector>
  </HeadingPairs>
  <TitlesOfParts>
    <vt:vector size="70" baseType="lpstr">
      <vt:lpstr>Arial</vt:lpstr>
      <vt:lpstr>Calibri</vt:lpstr>
      <vt:lpstr>Calibri Light</vt:lpstr>
      <vt:lpstr>Noto Sans Symbols</vt:lpstr>
      <vt:lpstr>Söhne</vt:lpstr>
      <vt:lpstr>Symbol</vt:lpstr>
      <vt:lpstr>Times New Roman</vt:lpstr>
      <vt:lpstr>Office Theme</vt:lpstr>
      <vt:lpstr>PowerPoint Presentation</vt:lpstr>
      <vt:lpstr>PowerPoint Presentation</vt:lpstr>
      <vt:lpstr>1. INTRODUCTION</vt:lpstr>
      <vt:lpstr>1.1. EXISTING SYSTEM</vt:lpstr>
      <vt:lpstr>1.2. NEED FOR THE NEW SYSTEM</vt:lpstr>
      <vt:lpstr>1.3. OBJECTIVE OF THE NEW SYSTEM</vt:lpstr>
      <vt:lpstr>1.4. PROBLEM DEFINITION</vt:lpstr>
      <vt:lpstr>1.5. CORE COMPONENTS</vt:lpstr>
      <vt:lpstr>1.6. PROJECT PROFILE</vt:lpstr>
      <vt:lpstr>1.7. ASSUMPTIONS AND CONSTRAINTS</vt:lpstr>
      <vt:lpstr>1.8. ADVANTAGES AND LIMITATIONS OF THE PROPOSED SYSTEM</vt:lpstr>
      <vt:lpstr>2. REQUIREMENT DETERMINATION &amp; ANALYSIS</vt:lpstr>
      <vt:lpstr>2.2. TARGETED USERS:</vt:lpstr>
      <vt:lpstr>2.3. Proposed Timeline Chart:</vt:lpstr>
      <vt:lpstr>3. System Design:</vt:lpstr>
      <vt:lpstr>3.2. Class Diagram:</vt:lpstr>
      <vt:lpstr>3.3.  Interaction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3.4.  Activity Diagram</vt:lpstr>
      <vt:lpstr>PowerPoint Presentation</vt:lpstr>
      <vt:lpstr>PowerPoint Presentation</vt:lpstr>
      <vt:lpstr>PowerPoint Presentation</vt:lpstr>
      <vt:lpstr>PowerPoint Presentation</vt:lpstr>
      <vt:lpstr>3.5. Data Dictionary:</vt:lpstr>
      <vt:lpstr>PowerPoint Presentation</vt:lpstr>
      <vt:lpstr>4.   Development:</vt:lpstr>
      <vt:lpstr>PowerPoint Presentation</vt:lpstr>
      <vt:lpstr>PowerPoint Presentation</vt:lpstr>
      <vt:lpstr>4.2.   Screen shots: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 Agile Documentation:</vt:lpstr>
      <vt:lpstr>5.2 Agile Roadmap / Schedule:</vt:lpstr>
      <vt:lpstr>5.3 Agile Project Plan:</vt:lpstr>
      <vt:lpstr>5.4 Agile User Story:</vt:lpstr>
      <vt:lpstr>5.5 Agile Release Plan: </vt:lpstr>
      <vt:lpstr>5.6 Agile Sprint Backlog:</vt:lpstr>
      <vt:lpstr>5.7 Agile Test Plan:</vt:lpstr>
      <vt:lpstr>PowerPoint Presentation</vt:lpstr>
      <vt:lpstr>PowerPoint Presentation</vt:lpstr>
      <vt:lpstr>5.8 Earned-Value Burned Chart:</vt:lpstr>
      <vt:lpstr>6. Proposed Enhancement:</vt:lpstr>
      <vt:lpstr>7. Conclusion:</vt:lpstr>
      <vt:lpstr>8. 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Bansil Pabari</dc:creator>
  <cp:lastModifiedBy>Bansil Pabari</cp:lastModifiedBy>
  <cp:revision>3</cp:revision>
  <dcterms:created xsi:type="dcterms:W3CDTF">2024-04-03T10:41:06Z</dcterms:created>
  <dcterms:modified xsi:type="dcterms:W3CDTF">2024-04-06T21:49:03Z</dcterms:modified>
</cp:coreProperties>
</file>